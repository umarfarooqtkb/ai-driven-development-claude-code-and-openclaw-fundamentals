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2" Type="http://schemas.openxmlformats.org/officeDocument/2006/relationships/slide" Target="slides/slide38.xml"/><Relationship Id="rId41" Type="http://schemas.openxmlformats.org/officeDocument/2006/relationships/slide" Target="slides/slide37.xml"/><Relationship Id="rId22" Type="http://schemas.openxmlformats.org/officeDocument/2006/relationships/slide" Target="slides/slide18.xml"/><Relationship Id="rId44" Type="http://schemas.openxmlformats.org/officeDocument/2006/relationships/slide" Target="slides/slide40.xml"/><Relationship Id="rId21" Type="http://schemas.openxmlformats.org/officeDocument/2006/relationships/slide" Target="slides/slide17.xml"/><Relationship Id="rId43" Type="http://schemas.openxmlformats.org/officeDocument/2006/relationships/slide" Target="slides/slide39.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 name="Google Shape;7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 name="Google Shape;7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e9b5477ec9_2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3" name="Google Shape;83;g3e9b5477ec9_2_3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35000"/>
              </a:lnSpc>
              <a:spcBef>
                <a:spcPts val="0"/>
              </a:spcBef>
              <a:spcAft>
                <a:spcPts val="0"/>
              </a:spcAft>
              <a:buClr>
                <a:srgbClr val="1E293B"/>
              </a:buClr>
              <a:buSzPts val="1500"/>
              <a:buFont typeface="Calibri"/>
              <a:buNone/>
            </a:pPr>
            <a:r>
              <a:rPr lang="en-US">
                <a:solidFill>
                  <a:srgbClr val="1E293B"/>
                </a:solidFill>
              </a:rPr>
              <a:t>Think about a microwave oven. You put food inside, press some buttons, and it heats the food. The microwave doesn't "understand" food — it just follows rules.</a:t>
            </a:r>
            <a:endParaRPr/>
          </a:p>
          <a:p>
            <a:pPr indent="0" lvl="0" marL="0" rtl="0" algn="l">
              <a:lnSpc>
                <a:spcPct val="135000"/>
              </a:lnSpc>
              <a:spcBef>
                <a:spcPts val="0"/>
              </a:spcBef>
              <a:spcAft>
                <a:spcPts val="0"/>
              </a:spcAft>
              <a:buClr>
                <a:schemeClr val="dk1"/>
              </a:buClr>
              <a:buSzPts val="1500"/>
              <a:buFont typeface="Calibri"/>
              <a:buNone/>
            </a:pPr>
            <a:r>
              <a:t/>
            </a:r>
            <a:endParaRPr/>
          </a:p>
          <a:p>
            <a:pPr indent="0" lvl="0" marL="0" rtl="0" algn="l">
              <a:lnSpc>
                <a:spcPct val="135000"/>
              </a:lnSpc>
              <a:spcBef>
                <a:spcPts val="0"/>
              </a:spcBef>
              <a:spcAft>
                <a:spcPts val="0"/>
              </a:spcAft>
              <a:buClr>
                <a:srgbClr val="1E293B"/>
              </a:buClr>
              <a:buSzPts val="1500"/>
              <a:buFont typeface="Calibri"/>
              <a:buNone/>
            </a:pPr>
            <a:r>
              <a:rPr lang="en-US">
                <a:solidFill>
                  <a:srgbClr val="1E293B"/>
                </a:solidFill>
              </a:rPr>
              <a:t>Now imagine a microwave that could LOOK at the food, figure out what it is (frozen biryani vs. leftover dal), and AUTOMATICALLY choose the right time and temperature.</a:t>
            </a:r>
            <a:endParaRPr/>
          </a:p>
          <a:p>
            <a:pPr indent="0" lvl="0" marL="0" rtl="0" algn="l">
              <a:lnSpc>
                <a:spcPct val="135000"/>
              </a:lnSpc>
              <a:spcBef>
                <a:spcPts val="0"/>
              </a:spcBef>
              <a:spcAft>
                <a:spcPts val="0"/>
              </a:spcAft>
              <a:buClr>
                <a:schemeClr val="dk1"/>
              </a:buClr>
              <a:buSzPts val="1500"/>
              <a:buFont typeface="Calibri"/>
              <a:buNone/>
            </a:pPr>
            <a:r>
              <a:t/>
            </a:r>
            <a:endParaRPr/>
          </a:p>
          <a:p>
            <a:pPr indent="0" lvl="0" marL="0" rtl="0" algn="l">
              <a:lnSpc>
                <a:spcPct val="135000"/>
              </a:lnSpc>
              <a:spcBef>
                <a:spcPts val="0"/>
              </a:spcBef>
              <a:spcAft>
                <a:spcPts val="0"/>
              </a:spcAft>
              <a:buNone/>
            </a:pPr>
            <a:r>
              <a:rPr lang="en-US">
                <a:solidFill>
                  <a:srgbClr val="1E293B"/>
                </a:solidFill>
              </a:rPr>
              <a:t>That "figuring it out" part is what AI does. AI is software that can look at information, find patterns, and make decisions — without a human telling it every single step.</a:t>
            </a:r>
            <a:endParaRPr/>
          </a:p>
        </p:txBody>
      </p:sp>
      <p:sp>
        <p:nvSpPr>
          <p:cNvPr id="84" name="Google Shape;84;g3e9b5477ec9_2_3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e9b5477ec9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e9b5477ec9_2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35000"/>
              </a:lnSpc>
              <a:spcBef>
                <a:spcPts val="0"/>
              </a:spcBef>
              <a:spcAft>
                <a:spcPts val="0"/>
              </a:spcAft>
              <a:buClr>
                <a:srgbClr val="1E293B"/>
              </a:buClr>
              <a:buSzPts val="1500"/>
              <a:buFont typeface="Calibri"/>
              <a:buNone/>
            </a:pPr>
            <a:r>
              <a:rPr lang="en-US">
                <a:solidFill>
                  <a:srgbClr val="1E293B"/>
                </a:solidFill>
              </a:rPr>
              <a:t>REGULAR AI is like a waiter who only takes your order. You say "I want biryani." The waiter brings it. If the biryani is cold, the waiter just stands there. You have to say "heat this up." Every step needs a new instruction.</a:t>
            </a:r>
            <a:endParaRPr/>
          </a:p>
          <a:p>
            <a:pPr indent="0" lvl="0" marL="0" rtl="0" algn="l">
              <a:lnSpc>
                <a:spcPct val="135000"/>
              </a:lnSpc>
              <a:spcBef>
                <a:spcPts val="0"/>
              </a:spcBef>
              <a:spcAft>
                <a:spcPts val="0"/>
              </a:spcAft>
              <a:buClr>
                <a:schemeClr val="dk1"/>
              </a:buClr>
              <a:buSzPts val="1500"/>
              <a:buFont typeface="Calibri"/>
              <a:buNone/>
            </a:pPr>
            <a:r>
              <a:t/>
            </a:r>
            <a:endParaRPr/>
          </a:p>
          <a:p>
            <a:pPr indent="0" lvl="0" marL="0" rtl="0" algn="l">
              <a:lnSpc>
                <a:spcPct val="135000"/>
              </a:lnSpc>
              <a:spcBef>
                <a:spcPts val="0"/>
              </a:spcBef>
              <a:spcAft>
                <a:spcPts val="0"/>
              </a:spcAft>
              <a:buNone/>
            </a:pPr>
            <a:r>
              <a:rPr lang="en-US">
                <a:solidFill>
                  <a:srgbClr val="1E293B"/>
                </a:solidFill>
              </a:rPr>
              <a:t>AGENTIC AI is like a personal chef. You say "I'm having 10 guests tonight. Pakistani food. Budget 15,000 rupees." The chef plans the menu, shops for ingredients, cooks everything, sets the table, and serves. If something runs out, the chef finds a substitute. No hand-holding needed.</a:t>
            </a:r>
            <a:endParaRPr/>
          </a:p>
        </p:txBody>
      </p:sp>
      <p:sp>
        <p:nvSpPr>
          <p:cNvPr id="143" name="Google Shape;143;g3e9b5477ec9_2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e9b5477ec9_2_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e9b5477ec9_2_6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g3e9b5477ec9_2_6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9b5477ec9_2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e9b5477ec9_2_6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g3e9b5477ec9_2_6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e406795d42_11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g3e406795d42_11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g3e406795d42_11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e406795d42_11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e406795d42_11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35000"/>
              </a:lnSpc>
              <a:spcBef>
                <a:spcPts val="0"/>
              </a:spcBef>
              <a:spcAft>
                <a:spcPts val="0"/>
              </a:spcAft>
              <a:buClr>
                <a:srgbClr val="1E293B"/>
              </a:buClr>
              <a:buSzPts val="1500"/>
              <a:buFont typeface="Calibri"/>
              <a:buNone/>
            </a:pPr>
            <a:r>
              <a:rPr b="1" lang="en-US">
                <a:solidFill>
                  <a:schemeClr val="accent1"/>
                </a:solidFill>
              </a:rPr>
              <a:t>OLD WAY</a:t>
            </a:r>
            <a:r>
              <a:rPr lang="en-US">
                <a:solidFill>
                  <a:srgbClr val="1E293B"/>
                </a:solidFill>
              </a:rPr>
              <a:t> — You buy an electric drill. It's powerful, but YOU still hold it. YOU decide where to drill. YOU do all the work. The drill just makes one part faster. That's AI as a TOOL.</a:t>
            </a:r>
            <a:endParaRPr/>
          </a:p>
          <a:p>
            <a:pPr indent="0" lvl="0" marL="0" rtl="0" algn="l">
              <a:lnSpc>
                <a:spcPct val="135000"/>
              </a:lnSpc>
              <a:spcBef>
                <a:spcPts val="0"/>
              </a:spcBef>
              <a:spcAft>
                <a:spcPts val="0"/>
              </a:spcAft>
              <a:buClr>
                <a:schemeClr val="dk1"/>
              </a:buClr>
              <a:buSzPts val="1500"/>
              <a:buFont typeface="Calibri"/>
              <a:buNone/>
            </a:pPr>
            <a:r>
              <a:t/>
            </a:r>
            <a:endParaRPr/>
          </a:p>
          <a:p>
            <a:pPr indent="0" lvl="0" marL="0" rtl="0" algn="l">
              <a:lnSpc>
                <a:spcPct val="135000"/>
              </a:lnSpc>
              <a:spcBef>
                <a:spcPts val="0"/>
              </a:spcBef>
              <a:spcAft>
                <a:spcPts val="0"/>
              </a:spcAft>
              <a:buClr>
                <a:srgbClr val="1E293B"/>
              </a:buClr>
              <a:buSzPts val="1500"/>
              <a:buFont typeface="Calibri"/>
              <a:buNone/>
            </a:pPr>
            <a:r>
              <a:rPr b="1" lang="en-US">
                <a:solidFill>
                  <a:schemeClr val="accent1"/>
                </a:solidFill>
              </a:rPr>
              <a:t>NEW WAY</a:t>
            </a:r>
            <a:r>
              <a:rPr lang="en-US">
                <a:solidFill>
                  <a:srgbClr val="1E293B"/>
                </a:solidFill>
              </a:rPr>
              <a:t> — You hire a contractor. You say: "Build me a bookshelf. Here's the size. Budget is 5000 rupees." Then you go do something else. The contractor does the work. You come back and check.</a:t>
            </a:r>
            <a:endParaRPr/>
          </a:p>
          <a:p>
            <a:pPr indent="0" lvl="0" marL="0" rtl="0" algn="l">
              <a:lnSpc>
                <a:spcPct val="135000"/>
              </a:lnSpc>
              <a:spcBef>
                <a:spcPts val="0"/>
              </a:spcBef>
              <a:spcAft>
                <a:spcPts val="0"/>
              </a:spcAft>
              <a:buClr>
                <a:schemeClr val="dk1"/>
              </a:buClr>
              <a:buSzPts val="1500"/>
              <a:buFont typeface="Calibri"/>
              <a:buNone/>
            </a:pPr>
            <a:r>
              <a:t/>
            </a:r>
            <a:endParaRPr/>
          </a:p>
          <a:p>
            <a:pPr indent="0" lvl="0" marL="0" rtl="0" algn="l">
              <a:lnSpc>
                <a:spcPct val="135000"/>
              </a:lnSpc>
              <a:spcBef>
                <a:spcPts val="0"/>
              </a:spcBef>
              <a:spcAft>
                <a:spcPts val="0"/>
              </a:spcAft>
              <a:buNone/>
            </a:pPr>
            <a:r>
              <a:rPr lang="en-US">
                <a:solidFill>
                  <a:srgbClr val="1E293B"/>
                </a:solidFill>
              </a:rPr>
              <a:t>That's </a:t>
            </a:r>
            <a:r>
              <a:rPr b="1" lang="en-US">
                <a:solidFill>
                  <a:srgbClr val="1E293B"/>
                </a:solidFill>
              </a:rPr>
              <a:t>AI as a WORKER</a:t>
            </a:r>
            <a:r>
              <a:rPr lang="en-US">
                <a:solidFill>
                  <a:srgbClr val="1E293B"/>
                </a:solidFill>
              </a:rPr>
              <a:t>. You give it the job. It does the work. You check the result.</a:t>
            </a:r>
            <a:endParaRPr/>
          </a:p>
        </p:txBody>
      </p:sp>
      <p:sp>
        <p:nvSpPr>
          <p:cNvPr id="199" name="Google Shape;199;g3e406795d42_11_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e406795d42_11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g3e406795d42_11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g3e406795d42_11_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e9b5477ec9_2_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e9b5477ec9_2_7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35000"/>
              </a:lnSpc>
              <a:spcBef>
                <a:spcPts val="0"/>
              </a:spcBef>
              <a:spcAft>
                <a:spcPts val="0"/>
              </a:spcAft>
              <a:buClr>
                <a:schemeClr val="dk1"/>
              </a:buClr>
              <a:buSzPts val="1100"/>
              <a:buFont typeface="Arial"/>
              <a:buNone/>
            </a:pPr>
            <a:r>
              <a:rPr lang="en-US">
                <a:solidFill>
                  <a:srgbClr val="1E293B"/>
                </a:solidFill>
              </a:rPr>
              <a:t>A garment factory doesn't make one shirt by accident. It has a SYSTEM: cutting station, stitching station, quality check, packing.</a:t>
            </a:r>
            <a:endParaRPr/>
          </a:p>
          <a:p>
            <a:pPr indent="0" lvl="0" marL="0" rtl="0" algn="l">
              <a:lnSpc>
                <a:spcPct val="135000"/>
              </a:lnSpc>
              <a:spcBef>
                <a:spcPts val="0"/>
              </a:spcBef>
              <a:spcAft>
                <a:spcPts val="0"/>
              </a:spcAft>
              <a:buClr>
                <a:schemeClr val="dk1"/>
              </a:buClr>
              <a:buSzPts val="1100"/>
              <a:buFont typeface="Arial"/>
              <a:buNone/>
            </a:pPr>
            <a:r>
              <a:t/>
            </a:r>
            <a:endParaRPr/>
          </a:p>
          <a:p>
            <a:pPr indent="0" lvl="0" marL="0" rtl="0" algn="l">
              <a:lnSpc>
                <a:spcPct val="135000"/>
              </a:lnSpc>
              <a:spcBef>
                <a:spcPts val="0"/>
              </a:spcBef>
              <a:spcAft>
                <a:spcPts val="0"/>
              </a:spcAft>
              <a:buClr>
                <a:schemeClr val="dk1"/>
              </a:buClr>
              <a:buSzPts val="1100"/>
              <a:buFont typeface="Arial"/>
              <a:buNone/>
            </a:pPr>
            <a:r>
              <a:rPr lang="en-US">
                <a:solidFill>
                  <a:srgbClr val="1E293B"/>
                </a:solidFill>
              </a:rPr>
              <a:t>The Agent Factory is the same idea — but for AI workers. It's a repeatable process to design AI workers, train them, put them to work, and make sure they do the job correctly.</a:t>
            </a:r>
            <a:endParaRPr/>
          </a:p>
          <a:p>
            <a:pPr indent="0" lvl="0" marL="0" rtl="0" algn="l">
              <a:lnSpc>
                <a:spcPct val="135000"/>
              </a:lnSpc>
              <a:spcBef>
                <a:spcPts val="0"/>
              </a:spcBef>
              <a:spcAft>
                <a:spcPts val="0"/>
              </a:spcAft>
              <a:buClr>
                <a:schemeClr val="dk1"/>
              </a:buClr>
              <a:buSzPts val="1100"/>
              <a:buFont typeface="Arial"/>
              <a:buNone/>
            </a:pPr>
            <a:r>
              <a:t/>
            </a:r>
            <a:endParaRPr/>
          </a:p>
          <a:p>
            <a:pPr indent="0" lvl="0" marL="0" rtl="0" algn="l">
              <a:lnSpc>
                <a:spcPct val="135000"/>
              </a:lnSpc>
              <a:spcBef>
                <a:spcPts val="0"/>
              </a:spcBef>
              <a:spcAft>
                <a:spcPts val="0"/>
              </a:spcAft>
              <a:buClr>
                <a:schemeClr val="dk1"/>
              </a:buClr>
              <a:buSzPts val="1100"/>
              <a:buFont typeface="Arial"/>
              <a:buNone/>
            </a:pPr>
            <a:r>
              <a:rPr lang="en-US">
                <a:solidFill>
                  <a:srgbClr val="1E293B"/>
                </a:solidFill>
              </a:rPr>
              <a:t>The Agent Factory is NOT a product you buy.</a:t>
            </a:r>
            <a:endParaRPr/>
          </a:p>
          <a:p>
            <a:pPr indent="0" lvl="0" marL="0" rtl="0" algn="l">
              <a:lnSpc>
                <a:spcPct val="135000"/>
              </a:lnSpc>
              <a:spcBef>
                <a:spcPts val="0"/>
              </a:spcBef>
              <a:spcAft>
                <a:spcPts val="0"/>
              </a:spcAft>
              <a:buClr>
                <a:schemeClr val="dk1"/>
              </a:buClr>
              <a:buSzPts val="1100"/>
              <a:buFont typeface="Arial"/>
              <a:buNone/>
            </a:pPr>
            <a:r>
              <a:rPr lang="en-US">
                <a:solidFill>
                  <a:srgbClr val="1E293B"/>
                </a:solidFill>
              </a:rPr>
              <a:t>It's a PRACTICE you learn.</a:t>
            </a:r>
            <a:endParaRPr/>
          </a:p>
          <a:p>
            <a:pPr indent="0" lvl="0" marL="0" rtl="0" algn="l">
              <a:lnSpc>
                <a:spcPct val="135000"/>
              </a:lnSpc>
              <a:spcBef>
                <a:spcPts val="0"/>
              </a:spcBef>
              <a:spcAft>
                <a:spcPts val="0"/>
              </a:spcAft>
              <a:buClr>
                <a:schemeClr val="dk1"/>
              </a:buClr>
              <a:buSzPts val="1100"/>
              <a:buFont typeface="Arial"/>
              <a:buNone/>
            </a:pPr>
            <a:r>
              <a:t/>
            </a:r>
            <a:endParaRPr/>
          </a:p>
          <a:p>
            <a:pPr indent="0" lvl="0" marL="0" rtl="0" algn="l">
              <a:lnSpc>
                <a:spcPct val="135000"/>
              </a:lnSpc>
              <a:spcBef>
                <a:spcPts val="0"/>
              </a:spcBef>
              <a:spcAft>
                <a:spcPts val="0"/>
              </a:spcAft>
              <a:buClr>
                <a:schemeClr val="dk1"/>
              </a:buClr>
              <a:buSzPts val="1100"/>
              <a:buFont typeface="Arial"/>
              <a:buNone/>
            </a:pPr>
            <a:r>
              <a:rPr lang="en-US">
                <a:solidFill>
                  <a:srgbClr val="1E293B"/>
                </a:solidFill>
              </a:rPr>
              <a:t>And the company you build with it — where most workers are AI — is called an AI-Native Company.</a:t>
            </a:r>
            <a:endParaRPr/>
          </a:p>
          <a:p>
            <a:pPr indent="0" lvl="0" marL="0" rtl="0" algn="l">
              <a:lnSpc>
                <a:spcPct val="135000"/>
              </a:lnSpc>
              <a:spcBef>
                <a:spcPts val="0"/>
              </a:spcBef>
              <a:spcAft>
                <a:spcPts val="0"/>
              </a:spcAft>
              <a:buClr>
                <a:schemeClr val="dk1"/>
              </a:buClr>
              <a:buSzPts val="1100"/>
              <a:buFont typeface="Arial"/>
              <a:buNone/>
            </a:pPr>
            <a:r>
              <a:rPr lang="en-US">
                <a:solidFill>
                  <a:srgbClr val="1E293B"/>
                </a:solidFill>
              </a:rPr>
              <a:t>A garment factory doesn't make one shirt by accident. It has a SYSTEM: cutting station, stitching station, quality check, packing.</a:t>
            </a:r>
            <a:endParaRPr/>
          </a:p>
          <a:p>
            <a:pPr indent="0" lvl="0" marL="0" rtl="0" algn="l">
              <a:lnSpc>
                <a:spcPct val="135000"/>
              </a:lnSpc>
              <a:spcBef>
                <a:spcPts val="0"/>
              </a:spcBef>
              <a:spcAft>
                <a:spcPts val="0"/>
              </a:spcAft>
              <a:buClr>
                <a:schemeClr val="dk1"/>
              </a:buClr>
              <a:buSzPts val="1100"/>
              <a:buFont typeface="Arial"/>
              <a:buNone/>
            </a:pPr>
            <a:r>
              <a:t/>
            </a:r>
            <a:endParaRPr/>
          </a:p>
          <a:p>
            <a:pPr indent="0" lvl="0" marL="0" rtl="0" algn="l">
              <a:lnSpc>
                <a:spcPct val="135000"/>
              </a:lnSpc>
              <a:spcBef>
                <a:spcPts val="0"/>
              </a:spcBef>
              <a:spcAft>
                <a:spcPts val="0"/>
              </a:spcAft>
              <a:buClr>
                <a:schemeClr val="dk1"/>
              </a:buClr>
              <a:buSzPts val="1100"/>
              <a:buFont typeface="Arial"/>
              <a:buNone/>
            </a:pPr>
            <a:r>
              <a:rPr lang="en-US">
                <a:solidFill>
                  <a:srgbClr val="1E293B"/>
                </a:solidFill>
              </a:rPr>
              <a:t>The Agent Factory is the same idea — but for AI workers. It's a repeatable process to design AI workers, train them, put them to work, and make sure they do the job correctly.</a:t>
            </a:r>
            <a:endParaRPr/>
          </a:p>
          <a:p>
            <a:pPr indent="0" lvl="0" marL="0" rtl="0" algn="l">
              <a:lnSpc>
                <a:spcPct val="135000"/>
              </a:lnSpc>
              <a:spcBef>
                <a:spcPts val="0"/>
              </a:spcBef>
              <a:spcAft>
                <a:spcPts val="0"/>
              </a:spcAft>
              <a:buClr>
                <a:schemeClr val="dk1"/>
              </a:buClr>
              <a:buSzPts val="1100"/>
              <a:buFont typeface="Arial"/>
              <a:buNone/>
            </a:pPr>
            <a:r>
              <a:t/>
            </a:r>
            <a:endParaRPr/>
          </a:p>
          <a:p>
            <a:pPr indent="0" lvl="0" marL="0" rtl="0" algn="l">
              <a:lnSpc>
                <a:spcPct val="135000"/>
              </a:lnSpc>
              <a:spcBef>
                <a:spcPts val="0"/>
              </a:spcBef>
              <a:spcAft>
                <a:spcPts val="0"/>
              </a:spcAft>
              <a:buClr>
                <a:schemeClr val="dk1"/>
              </a:buClr>
              <a:buSzPts val="1100"/>
              <a:buFont typeface="Arial"/>
              <a:buNone/>
            </a:pPr>
            <a:r>
              <a:rPr lang="en-US">
                <a:solidFill>
                  <a:srgbClr val="1E293B"/>
                </a:solidFill>
              </a:rPr>
              <a:t>The Agent Factory is NOT a product you buy.</a:t>
            </a:r>
            <a:endParaRPr/>
          </a:p>
          <a:p>
            <a:pPr indent="0" lvl="0" marL="0" rtl="0" algn="l">
              <a:lnSpc>
                <a:spcPct val="135000"/>
              </a:lnSpc>
              <a:spcBef>
                <a:spcPts val="0"/>
              </a:spcBef>
              <a:spcAft>
                <a:spcPts val="0"/>
              </a:spcAft>
              <a:buClr>
                <a:schemeClr val="dk1"/>
              </a:buClr>
              <a:buSzPts val="1100"/>
              <a:buFont typeface="Arial"/>
              <a:buNone/>
            </a:pPr>
            <a:r>
              <a:rPr lang="en-US">
                <a:solidFill>
                  <a:srgbClr val="1E293B"/>
                </a:solidFill>
              </a:rPr>
              <a:t>It's a PRACTICE you learn.</a:t>
            </a:r>
            <a:endParaRPr/>
          </a:p>
          <a:p>
            <a:pPr indent="0" lvl="0" marL="0" rtl="0" algn="l">
              <a:lnSpc>
                <a:spcPct val="135000"/>
              </a:lnSpc>
              <a:spcBef>
                <a:spcPts val="0"/>
              </a:spcBef>
              <a:spcAft>
                <a:spcPts val="0"/>
              </a:spcAft>
              <a:buClr>
                <a:schemeClr val="dk1"/>
              </a:buClr>
              <a:buSzPts val="1100"/>
              <a:buFont typeface="Arial"/>
              <a:buNone/>
            </a:pPr>
            <a:r>
              <a:t/>
            </a:r>
            <a:endParaRPr/>
          </a:p>
          <a:p>
            <a:pPr indent="0" lvl="0" marL="0" rtl="0" algn="l">
              <a:lnSpc>
                <a:spcPct val="135000"/>
              </a:lnSpc>
              <a:spcBef>
                <a:spcPts val="0"/>
              </a:spcBef>
              <a:spcAft>
                <a:spcPts val="0"/>
              </a:spcAft>
              <a:buClr>
                <a:schemeClr val="dk1"/>
              </a:buClr>
              <a:buSzPts val="1100"/>
              <a:buFont typeface="Arial"/>
              <a:buNone/>
            </a:pPr>
            <a:r>
              <a:rPr lang="en-US">
                <a:solidFill>
                  <a:srgbClr val="1E293B"/>
                </a:solidFill>
              </a:rPr>
              <a:t>And the company you build with it — where most workers are AI — is called an AI-Native Company.</a:t>
            </a:r>
            <a:endParaRPr/>
          </a:p>
          <a:p>
            <a:pPr indent="0" lvl="0" marL="0" rtl="0" algn="l">
              <a:spcBef>
                <a:spcPts val="0"/>
              </a:spcBef>
              <a:spcAft>
                <a:spcPts val="0"/>
              </a:spcAft>
              <a:buClr>
                <a:schemeClr val="dk1"/>
              </a:buClr>
              <a:buSzPts val="1100"/>
              <a:buFont typeface="Arial"/>
              <a:buNone/>
            </a:pPr>
            <a:r>
              <a:t/>
            </a:r>
            <a:endParaRPr/>
          </a:p>
          <a:p>
            <a:pPr indent="0" lvl="0" marL="0" rtl="0" algn="l">
              <a:lnSpc>
                <a:spcPct val="135000"/>
              </a:lnSpc>
              <a:spcBef>
                <a:spcPts val="0"/>
              </a:spcBef>
              <a:spcAft>
                <a:spcPts val="0"/>
              </a:spcAft>
              <a:buClr>
                <a:schemeClr val="dk1"/>
              </a:buClr>
              <a:buSzPts val="1100"/>
              <a:buFont typeface="Arial"/>
              <a:buNone/>
            </a:pPr>
            <a:r>
              <a:rPr lang="en-US">
                <a:solidFill>
                  <a:srgbClr val="1E293B"/>
                </a:solidFill>
              </a:rPr>
              <a:t>A garment factory doesn't make one shirt by accident. It has a SYSTEM: cutting station, stitching station, quality check, packing.</a:t>
            </a:r>
            <a:endParaRPr/>
          </a:p>
          <a:p>
            <a:pPr indent="0" lvl="0" marL="0" rtl="0" algn="l">
              <a:lnSpc>
                <a:spcPct val="135000"/>
              </a:lnSpc>
              <a:spcBef>
                <a:spcPts val="0"/>
              </a:spcBef>
              <a:spcAft>
                <a:spcPts val="0"/>
              </a:spcAft>
              <a:buClr>
                <a:schemeClr val="dk1"/>
              </a:buClr>
              <a:buSzPts val="1100"/>
              <a:buFont typeface="Arial"/>
              <a:buNone/>
            </a:pPr>
            <a:r>
              <a:t/>
            </a:r>
            <a:endParaRPr/>
          </a:p>
          <a:p>
            <a:pPr indent="0" lvl="0" marL="0" rtl="0" algn="l">
              <a:lnSpc>
                <a:spcPct val="135000"/>
              </a:lnSpc>
              <a:spcBef>
                <a:spcPts val="0"/>
              </a:spcBef>
              <a:spcAft>
                <a:spcPts val="0"/>
              </a:spcAft>
              <a:buClr>
                <a:schemeClr val="dk1"/>
              </a:buClr>
              <a:buSzPts val="1100"/>
              <a:buFont typeface="Arial"/>
              <a:buNone/>
            </a:pPr>
            <a:r>
              <a:rPr lang="en-US">
                <a:solidFill>
                  <a:srgbClr val="1E293B"/>
                </a:solidFill>
              </a:rPr>
              <a:t>The Agent Factory is the same idea — but for AI workers. It's a repeatable process to design AI workers, train them, put them to work, and make sure they do the job correctly.</a:t>
            </a:r>
            <a:endParaRPr/>
          </a:p>
          <a:p>
            <a:pPr indent="0" lvl="0" marL="0" rtl="0" algn="l">
              <a:lnSpc>
                <a:spcPct val="135000"/>
              </a:lnSpc>
              <a:spcBef>
                <a:spcPts val="0"/>
              </a:spcBef>
              <a:spcAft>
                <a:spcPts val="0"/>
              </a:spcAft>
              <a:buClr>
                <a:schemeClr val="dk1"/>
              </a:buClr>
              <a:buSzPts val="1100"/>
              <a:buFont typeface="Arial"/>
              <a:buNone/>
            </a:pPr>
            <a:r>
              <a:t/>
            </a:r>
            <a:endParaRPr/>
          </a:p>
          <a:p>
            <a:pPr indent="0" lvl="0" marL="0" rtl="0" algn="l">
              <a:lnSpc>
                <a:spcPct val="135000"/>
              </a:lnSpc>
              <a:spcBef>
                <a:spcPts val="0"/>
              </a:spcBef>
              <a:spcAft>
                <a:spcPts val="0"/>
              </a:spcAft>
              <a:buClr>
                <a:schemeClr val="dk1"/>
              </a:buClr>
              <a:buSzPts val="1100"/>
              <a:buFont typeface="Arial"/>
              <a:buNone/>
            </a:pPr>
            <a:r>
              <a:rPr lang="en-US">
                <a:solidFill>
                  <a:srgbClr val="1E293B"/>
                </a:solidFill>
              </a:rPr>
              <a:t>The Agent Factory is NOT a product you buy.</a:t>
            </a:r>
            <a:endParaRPr/>
          </a:p>
          <a:p>
            <a:pPr indent="0" lvl="0" marL="0" rtl="0" algn="l">
              <a:lnSpc>
                <a:spcPct val="135000"/>
              </a:lnSpc>
              <a:spcBef>
                <a:spcPts val="0"/>
              </a:spcBef>
              <a:spcAft>
                <a:spcPts val="0"/>
              </a:spcAft>
              <a:buClr>
                <a:schemeClr val="dk1"/>
              </a:buClr>
              <a:buSzPts val="1100"/>
              <a:buFont typeface="Arial"/>
              <a:buNone/>
            </a:pPr>
            <a:r>
              <a:rPr lang="en-US">
                <a:solidFill>
                  <a:srgbClr val="1E293B"/>
                </a:solidFill>
              </a:rPr>
              <a:t>It's a PRACTICE you learn.</a:t>
            </a:r>
            <a:endParaRPr/>
          </a:p>
          <a:p>
            <a:pPr indent="0" lvl="0" marL="0" rtl="0" algn="l">
              <a:lnSpc>
                <a:spcPct val="135000"/>
              </a:lnSpc>
              <a:spcBef>
                <a:spcPts val="0"/>
              </a:spcBef>
              <a:spcAft>
                <a:spcPts val="0"/>
              </a:spcAft>
              <a:buClr>
                <a:schemeClr val="dk1"/>
              </a:buClr>
              <a:buSzPts val="1100"/>
              <a:buFont typeface="Arial"/>
              <a:buNone/>
            </a:pPr>
            <a:r>
              <a:t/>
            </a:r>
            <a:endParaRPr/>
          </a:p>
          <a:p>
            <a:pPr indent="0" lvl="0" marL="0" rtl="0" algn="l">
              <a:lnSpc>
                <a:spcPct val="135000"/>
              </a:lnSpc>
              <a:spcBef>
                <a:spcPts val="0"/>
              </a:spcBef>
              <a:spcAft>
                <a:spcPts val="0"/>
              </a:spcAft>
              <a:buNone/>
            </a:pPr>
            <a:r>
              <a:rPr lang="en-US">
                <a:solidFill>
                  <a:srgbClr val="1E293B"/>
                </a:solidFill>
              </a:rPr>
              <a:t>And the company you build with it — where most workers are AI — is called an AI-Native Company.</a:t>
            </a:r>
            <a:endParaRPr/>
          </a:p>
        </p:txBody>
      </p:sp>
      <p:sp>
        <p:nvSpPr>
          <p:cNvPr id="227" name="Google Shape;227;g3e9b5477ec9_2_7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e9b5477ec9_2_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e9b5477ec9_2_7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35000"/>
              </a:lnSpc>
              <a:spcBef>
                <a:spcPts val="0"/>
              </a:spcBef>
              <a:spcAft>
                <a:spcPts val="0"/>
              </a:spcAft>
              <a:buClr>
                <a:schemeClr val="dk1"/>
              </a:buClr>
              <a:buSzPts val="1100"/>
              <a:buFont typeface="Arial"/>
              <a:buNone/>
            </a:pPr>
            <a:r>
              <a:rPr lang="en-US">
                <a:solidFill>
                  <a:srgbClr val="1E293B"/>
                </a:solidFill>
              </a:rPr>
              <a:t>Imagine a customer support company. In the old world, it has 200 human employees sitting in an office, answering phones and emails.</a:t>
            </a:r>
            <a:endParaRPr/>
          </a:p>
          <a:p>
            <a:pPr indent="0" lvl="0" marL="0" rtl="0" algn="l">
              <a:lnSpc>
                <a:spcPct val="135000"/>
              </a:lnSpc>
              <a:spcBef>
                <a:spcPts val="0"/>
              </a:spcBef>
              <a:spcAft>
                <a:spcPts val="0"/>
              </a:spcAft>
              <a:buClr>
                <a:schemeClr val="dk1"/>
              </a:buClr>
              <a:buSzPts val="1100"/>
              <a:buFont typeface="Arial"/>
              <a:buNone/>
            </a:pPr>
            <a:r>
              <a:t/>
            </a:r>
            <a:endParaRPr/>
          </a:p>
          <a:p>
            <a:pPr indent="0" lvl="0" marL="0" rtl="0" algn="l">
              <a:lnSpc>
                <a:spcPct val="135000"/>
              </a:lnSpc>
              <a:spcBef>
                <a:spcPts val="0"/>
              </a:spcBef>
              <a:spcAft>
                <a:spcPts val="0"/>
              </a:spcAft>
              <a:buClr>
                <a:schemeClr val="dk1"/>
              </a:buClr>
              <a:buSzPts val="1100"/>
              <a:buFont typeface="Arial"/>
              <a:buNone/>
            </a:pPr>
            <a:r>
              <a:rPr lang="en-US">
                <a:solidFill>
                  <a:srgbClr val="1E293B"/>
                </a:solidFill>
              </a:rPr>
              <a:t>In the new world, the same company might have 10 humans and 190 AI workers. The AI workers handle the routine questions. The humans handle the tricky cases and make sure everything runs well.</a:t>
            </a:r>
            <a:endParaRPr/>
          </a:p>
          <a:p>
            <a:pPr indent="0" lvl="0" marL="0" rtl="0" algn="l">
              <a:lnSpc>
                <a:spcPct val="135000"/>
              </a:lnSpc>
              <a:spcBef>
                <a:spcPts val="0"/>
              </a:spcBef>
              <a:spcAft>
                <a:spcPts val="0"/>
              </a:spcAft>
              <a:buClr>
                <a:schemeClr val="dk1"/>
              </a:buClr>
              <a:buSzPts val="1100"/>
              <a:buFont typeface="Arial"/>
              <a:buNone/>
            </a:pPr>
            <a:r>
              <a:t/>
            </a:r>
            <a:endParaRPr/>
          </a:p>
          <a:p>
            <a:pPr indent="0" lvl="0" marL="0" rtl="0" algn="l">
              <a:lnSpc>
                <a:spcPct val="135000"/>
              </a:lnSpc>
              <a:spcBef>
                <a:spcPts val="0"/>
              </a:spcBef>
              <a:spcAft>
                <a:spcPts val="0"/>
              </a:spcAft>
              <a:buClr>
                <a:schemeClr val="dk1"/>
              </a:buClr>
              <a:buSzPts val="1100"/>
              <a:buFont typeface="Arial"/>
              <a:buNone/>
            </a:pPr>
            <a:r>
              <a:rPr lang="en-US">
                <a:solidFill>
                  <a:srgbClr val="1E293B"/>
                </a:solidFill>
              </a:rPr>
              <a:t>The customers don't even notice the difference — they just get fast, good service. But the company's cost is much lower, and it works 24 hours a day.</a:t>
            </a:r>
            <a:endParaRPr>
              <a:solidFill>
                <a:srgbClr val="1E293B"/>
              </a:solidFill>
            </a:endParaRPr>
          </a:p>
          <a:p>
            <a:pPr indent="0" lvl="0" marL="0" rtl="0" algn="l">
              <a:lnSpc>
                <a:spcPct val="135000"/>
              </a:lnSpc>
              <a:spcBef>
                <a:spcPts val="0"/>
              </a:spcBef>
              <a:spcAft>
                <a:spcPts val="0"/>
              </a:spcAft>
              <a:buClr>
                <a:schemeClr val="dk1"/>
              </a:buClr>
              <a:buSzPts val="1100"/>
              <a:buFont typeface="Arial"/>
              <a:buNone/>
            </a:pPr>
            <a:r>
              <a:t/>
            </a:r>
            <a:endParaRPr>
              <a:solidFill>
                <a:srgbClr val="1E293B"/>
              </a:solidFill>
            </a:endParaRPr>
          </a:p>
          <a:p>
            <a:pPr indent="0" lvl="0" marL="0" rtl="0" algn="l">
              <a:lnSpc>
                <a:spcPct val="135000"/>
              </a:lnSpc>
              <a:spcBef>
                <a:spcPts val="0"/>
              </a:spcBef>
              <a:spcAft>
                <a:spcPts val="0"/>
              </a:spcAft>
              <a:buNone/>
            </a:pPr>
            <a:r>
              <a:rPr b="1" lang="en-US">
                <a:solidFill>
                  <a:srgbClr val="1E293B"/>
                </a:solidFill>
              </a:rPr>
              <a:t>This is an AI-Native Company — a company where most of the workers are AI, not human. And what it sells is whatever its AI workers produce.</a:t>
            </a:r>
            <a:endParaRPr/>
          </a:p>
        </p:txBody>
      </p:sp>
      <p:sp>
        <p:nvSpPr>
          <p:cNvPr id="233" name="Google Shape;233;g3e9b5477ec9_2_7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e9b5477ec9_2_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e9b5477ec9_2_8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g3e9b5477ec9_2_8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e9b5477ec9_2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e9b5477ec9_2_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35000"/>
              </a:lnSpc>
              <a:spcBef>
                <a:spcPts val="0"/>
              </a:spcBef>
              <a:spcAft>
                <a:spcPts val="0"/>
              </a:spcAft>
              <a:buClr>
                <a:srgbClr val="1E293B"/>
              </a:buClr>
              <a:buSzPts val="1500"/>
              <a:buFont typeface="Calibri"/>
              <a:buNone/>
            </a:pPr>
            <a:r>
              <a:rPr lang="en-US">
                <a:solidFill>
                  <a:srgbClr val="1E293B"/>
                </a:solidFill>
              </a:rPr>
              <a:t>A film director doesn't hold the camera, paint the sets, do the makeup, or edit the footage. The director does three things:</a:t>
            </a:r>
            <a:endParaRPr/>
          </a:p>
          <a:p>
            <a:pPr indent="0" lvl="0" marL="0" rtl="0" algn="l">
              <a:lnSpc>
                <a:spcPct val="135000"/>
              </a:lnSpc>
              <a:spcBef>
                <a:spcPts val="0"/>
              </a:spcBef>
              <a:spcAft>
                <a:spcPts val="0"/>
              </a:spcAft>
              <a:buClr>
                <a:schemeClr val="dk1"/>
              </a:buClr>
              <a:buSzPts val="1500"/>
              <a:buFont typeface="Calibri"/>
              <a:buNone/>
            </a:pPr>
            <a:r>
              <a:t/>
            </a:r>
            <a:endParaRPr/>
          </a:p>
          <a:p>
            <a:pPr indent="0" lvl="0" marL="0" rtl="0" algn="l">
              <a:lnSpc>
                <a:spcPct val="135000"/>
              </a:lnSpc>
              <a:spcBef>
                <a:spcPts val="0"/>
              </a:spcBef>
              <a:spcAft>
                <a:spcPts val="0"/>
              </a:spcAft>
              <a:buClr>
                <a:srgbClr val="1E293B"/>
              </a:buClr>
              <a:buSzPts val="1500"/>
              <a:buFont typeface="Calibri"/>
              <a:buNone/>
            </a:pPr>
            <a:r>
              <a:rPr lang="en-US">
                <a:solidFill>
                  <a:srgbClr val="1E293B"/>
                </a:solidFill>
              </a:rPr>
              <a:t>1. Tells everyone WHAT the film should look like (at the start)</a:t>
            </a:r>
            <a:endParaRPr/>
          </a:p>
          <a:p>
            <a:pPr indent="0" lvl="0" marL="0" rtl="0" algn="l">
              <a:lnSpc>
                <a:spcPct val="135000"/>
              </a:lnSpc>
              <a:spcBef>
                <a:spcPts val="0"/>
              </a:spcBef>
              <a:spcAft>
                <a:spcPts val="0"/>
              </a:spcAft>
              <a:buClr>
                <a:srgbClr val="1E293B"/>
              </a:buClr>
              <a:buSzPts val="1500"/>
              <a:buFont typeface="Calibri"/>
              <a:buNone/>
            </a:pPr>
            <a:r>
              <a:rPr lang="en-US">
                <a:solidFill>
                  <a:srgbClr val="1E293B"/>
                </a:solidFill>
              </a:rPr>
              <a:t>2. Lets the team DO THE WORK (in the middle)</a:t>
            </a:r>
            <a:endParaRPr/>
          </a:p>
          <a:p>
            <a:pPr indent="0" lvl="0" marL="0" rtl="0" algn="l">
              <a:lnSpc>
                <a:spcPct val="135000"/>
              </a:lnSpc>
              <a:spcBef>
                <a:spcPts val="0"/>
              </a:spcBef>
              <a:spcAft>
                <a:spcPts val="0"/>
              </a:spcAft>
              <a:buClr>
                <a:srgbClr val="1E293B"/>
              </a:buClr>
              <a:buSzPts val="1500"/>
              <a:buFont typeface="Calibri"/>
              <a:buNone/>
            </a:pPr>
            <a:r>
              <a:rPr lang="en-US">
                <a:solidFill>
                  <a:srgbClr val="1E293B"/>
                </a:solidFill>
              </a:rPr>
              <a:t>3. REVIEWS the final cut (at the end)</a:t>
            </a:r>
            <a:endParaRPr/>
          </a:p>
          <a:p>
            <a:pPr indent="0" lvl="0" marL="0" rtl="0" algn="l">
              <a:lnSpc>
                <a:spcPct val="135000"/>
              </a:lnSpc>
              <a:spcBef>
                <a:spcPts val="0"/>
              </a:spcBef>
              <a:spcAft>
                <a:spcPts val="0"/>
              </a:spcAft>
              <a:buClr>
                <a:schemeClr val="dk1"/>
              </a:buClr>
              <a:buSzPts val="1500"/>
              <a:buFont typeface="Calibri"/>
              <a:buNone/>
            </a:pPr>
            <a:r>
              <a:t/>
            </a:r>
            <a:endParaRPr/>
          </a:p>
          <a:p>
            <a:pPr indent="0" lvl="0" marL="0" rtl="0" algn="l">
              <a:lnSpc>
                <a:spcPct val="135000"/>
              </a:lnSpc>
              <a:spcBef>
                <a:spcPts val="0"/>
              </a:spcBef>
              <a:spcAft>
                <a:spcPts val="0"/>
              </a:spcAft>
              <a:buClr>
                <a:srgbClr val="1E293B"/>
              </a:buClr>
              <a:buSzPts val="1500"/>
              <a:buFont typeface="Calibri"/>
              <a:buNone/>
            </a:pPr>
            <a:r>
              <a:rPr lang="en-US">
                <a:solidFill>
                  <a:srgbClr val="1E293B"/>
                </a:solidFill>
              </a:rPr>
              <a:t>That's exactly how you'll work with AI.</a:t>
            </a:r>
            <a:endParaRPr/>
          </a:p>
          <a:p>
            <a:pPr indent="0" lvl="0" marL="0" rtl="0" algn="l">
              <a:lnSpc>
                <a:spcPct val="135000"/>
              </a:lnSpc>
              <a:spcBef>
                <a:spcPts val="0"/>
              </a:spcBef>
              <a:spcAft>
                <a:spcPts val="0"/>
              </a:spcAft>
              <a:buClr>
                <a:srgbClr val="1E293B"/>
              </a:buClr>
              <a:buSzPts val="1500"/>
              <a:buFont typeface="Calibri"/>
              <a:buNone/>
            </a:pPr>
            <a:r>
              <a:rPr lang="en-US">
                <a:solidFill>
                  <a:srgbClr val="1E293B"/>
                </a:solidFill>
              </a:rPr>
              <a:t>First 10% = You set direction.</a:t>
            </a:r>
            <a:endParaRPr/>
          </a:p>
          <a:p>
            <a:pPr indent="0" lvl="0" marL="0" rtl="0" algn="l">
              <a:lnSpc>
                <a:spcPct val="135000"/>
              </a:lnSpc>
              <a:spcBef>
                <a:spcPts val="0"/>
              </a:spcBef>
              <a:spcAft>
                <a:spcPts val="0"/>
              </a:spcAft>
              <a:buClr>
                <a:srgbClr val="1E293B"/>
              </a:buClr>
              <a:buSzPts val="1500"/>
              <a:buFont typeface="Calibri"/>
              <a:buNone/>
            </a:pPr>
            <a:r>
              <a:rPr lang="en-US">
                <a:solidFill>
                  <a:srgbClr val="1E293B"/>
                </a:solidFill>
              </a:rPr>
              <a:t>Middle 80% = AI does the work.</a:t>
            </a:r>
            <a:endParaRPr/>
          </a:p>
          <a:p>
            <a:pPr indent="0" lvl="0" marL="0" rtl="0" algn="l">
              <a:lnSpc>
                <a:spcPct val="135000"/>
              </a:lnSpc>
              <a:spcBef>
                <a:spcPts val="0"/>
              </a:spcBef>
              <a:spcAft>
                <a:spcPts val="0"/>
              </a:spcAft>
              <a:buClr>
                <a:srgbClr val="1E293B"/>
              </a:buClr>
              <a:buSzPts val="1500"/>
              <a:buFont typeface="Calibri"/>
              <a:buNone/>
            </a:pPr>
            <a:r>
              <a:rPr lang="en-US">
                <a:solidFill>
                  <a:srgbClr val="1E293B"/>
                </a:solidFill>
              </a:rPr>
              <a:t>Last 10% = You check and approve.</a:t>
            </a:r>
            <a:endParaRPr/>
          </a:p>
          <a:p>
            <a:pPr indent="0" lvl="0" marL="0" rtl="0" algn="l">
              <a:spcBef>
                <a:spcPts val="0"/>
              </a:spcBef>
              <a:spcAft>
                <a:spcPts val="0"/>
              </a:spcAft>
              <a:buNone/>
            </a:pPr>
            <a:r>
              <a:t/>
            </a:r>
            <a:endParaRPr/>
          </a:p>
        </p:txBody>
      </p:sp>
      <p:sp>
        <p:nvSpPr>
          <p:cNvPr id="256" name="Google Shape;256;g3e9b5477ec9_2_2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e9b5477ec9_2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e9b5477ec9_2_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35000"/>
              </a:lnSpc>
              <a:spcBef>
                <a:spcPts val="0"/>
              </a:spcBef>
              <a:spcAft>
                <a:spcPts val="0"/>
              </a:spcAft>
              <a:buClr>
                <a:srgbClr val="1E293B"/>
              </a:buClr>
              <a:buSzPts val="1500"/>
              <a:buFont typeface="Calibri"/>
              <a:buNone/>
            </a:pPr>
            <a:r>
              <a:rPr lang="en-US">
                <a:solidFill>
                  <a:srgbClr val="1E293B"/>
                </a:solidFill>
              </a:rPr>
              <a:t>Think of a busy CEO. The CEO doesn't personally answer every email, schedule every meeting, or follow up with every department. They have an executive assistant (EA) who knows how the CEO thinks.</a:t>
            </a:r>
            <a:endParaRPr/>
          </a:p>
          <a:p>
            <a:pPr indent="0" lvl="0" marL="0" rtl="0" algn="l">
              <a:lnSpc>
                <a:spcPct val="135000"/>
              </a:lnSpc>
              <a:spcBef>
                <a:spcPts val="0"/>
              </a:spcBef>
              <a:spcAft>
                <a:spcPts val="0"/>
              </a:spcAft>
              <a:buClr>
                <a:schemeClr val="dk1"/>
              </a:buClr>
              <a:buSzPts val="1500"/>
              <a:buFont typeface="Calibri"/>
              <a:buNone/>
            </a:pPr>
            <a:r>
              <a:t/>
            </a:r>
            <a:endParaRPr/>
          </a:p>
          <a:p>
            <a:pPr indent="0" lvl="0" marL="0" rtl="0" algn="l">
              <a:lnSpc>
                <a:spcPct val="135000"/>
              </a:lnSpc>
              <a:spcBef>
                <a:spcPts val="0"/>
              </a:spcBef>
              <a:spcAft>
                <a:spcPts val="0"/>
              </a:spcAft>
              <a:buClr>
                <a:srgbClr val="1E293B"/>
              </a:buClr>
              <a:buSzPts val="1500"/>
              <a:buFont typeface="Calibri"/>
              <a:buNone/>
            </a:pPr>
            <a:r>
              <a:rPr lang="en-US">
                <a:solidFill>
                  <a:srgbClr val="1E293B"/>
                </a:solidFill>
              </a:rPr>
              <a:t>The CEO says: "I want the quarterly report reviewed by Friday. Marketing budget under 5 lakh. No meetings before 10am."</a:t>
            </a:r>
            <a:endParaRPr/>
          </a:p>
          <a:p>
            <a:pPr indent="0" lvl="0" marL="0" rtl="0" algn="l">
              <a:lnSpc>
                <a:spcPct val="135000"/>
              </a:lnSpc>
              <a:spcBef>
                <a:spcPts val="0"/>
              </a:spcBef>
              <a:spcAft>
                <a:spcPts val="0"/>
              </a:spcAft>
              <a:buClr>
                <a:schemeClr val="dk1"/>
              </a:buClr>
              <a:buSzPts val="1500"/>
              <a:buFont typeface="Calibri"/>
              <a:buNone/>
            </a:pPr>
            <a:r>
              <a:t/>
            </a:r>
            <a:endParaRPr/>
          </a:p>
          <a:p>
            <a:pPr indent="0" lvl="0" marL="0" rtl="0" algn="l">
              <a:lnSpc>
                <a:spcPct val="135000"/>
              </a:lnSpc>
              <a:spcBef>
                <a:spcPts val="0"/>
              </a:spcBef>
              <a:spcAft>
                <a:spcPts val="0"/>
              </a:spcAft>
              <a:buClr>
                <a:srgbClr val="1E293B"/>
              </a:buClr>
              <a:buSzPts val="1500"/>
              <a:buFont typeface="Calibri"/>
              <a:buNone/>
            </a:pPr>
            <a:r>
              <a:rPr lang="en-US">
                <a:solidFill>
                  <a:srgbClr val="1E293B"/>
                </a:solidFill>
              </a:rPr>
              <a:t>The EA handles everything else — based on knowing the CEO's preferences.</a:t>
            </a:r>
            <a:endParaRPr/>
          </a:p>
          <a:p>
            <a:pPr indent="0" lvl="0" marL="0" rtl="0" algn="l">
              <a:lnSpc>
                <a:spcPct val="135000"/>
              </a:lnSpc>
              <a:spcBef>
                <a:spcPts val="0"/>
              </a:spcBef>
              <a:spcAft>
                <a:spcPts val="0"/>
              </a:spcAft>
              <a:buClr>
                <a:schemeClr val="dk1"/>
              </a:buClr>
              <a:buSzPts val="1500"/>
              <a:buFont typeface="Calibri"/>
              <a:buNone/>
            </a:pPr>
            <a:r>
              <a:t/>
            </a:r>
            <a:endParaRPr/>
          </a:p>
          <a:p>
            <a:pPr indent="0" lvl="0" marL="0" rtl="0" algn="l">
              <a:lnSpc>
                <a:spcPct val="135000"/>
              </a:lnSpc>
              <a:spcBef>
                <a:spcPts val="0"/>
              </a:spcBef>
              <a:spcAft>
                <a:spcPts val="0"/>
              </a:spcAft>
              <a:buClr>
                <a:srgbClr val="1E293B"/>
              </a:buClr>
              <a:buSzPts val="1500"/>
              <a:buFont typeface="Calibri"/>
              <a:buNone/>
            </a:pPr>
            <a:r>
              <a:rPr lang="en-US">
                <a:solidFill>
                  <a:srgbClr val="1E293B"/>
                </a:solidFill>
              </a:rPr>
              <a:t>Your AI delegate is your digital executive assistant. It knows your preferences, carries your authority, and manages the AI workforce on your behalf.</a:t>
            </a:r>
            <a:endParaRPr/>
          </a:p>
          <a:p>
            <a:pPr indent="0" lvl="0" marL="0" rtl="0" algn="l">
              <a:lnSpc>
                <a:spcPct val="135000"/>
              </a:lnSpc>
              <a:spcBef>
                <a:spcPts val="0"/>
              </a:spcBef>
              <a:spcAft>
                <a:spcPts val="0"/>
              </a:spcAft>
              <a:buClr>
                <a:schemeClr val="dk1"/>
              </a:buClr>
              <a:buSzPts val="1500"/>
              <a:buFont typeface="Calibri"/>
              <a:buNone/>
            </a:pPr>
            <a:r>
              <a:t/>
            </a:r>
            <a:endParaRPr/>
          </a:p>
          <a:p>
            <a:pPr indent="0" lvl="0" marL="0" rtl="0" algn="l">
              <a:lnSpc>
                <a:spcPct val="135000"/>
              </a:lnSpc>
              <a:spcBef>
                <a:spcPts val="0"/>
              </a:spcBef>
              <a:spcAft>
                <a:spcPts val="0"/>
              </a:spcAft>
              <a:buClr>
                <a:srgbClr val="1E293B"/>
              </a:buClr>
              <a:buSzPts val="1500"/>
              <a:buFont typeface="Calibri"/>
              <a:buNone/>
            </a:pPr>
            <a:r>
              <a:rPr lang="en-US">
                <a:solidFill>
                  <a:srgbClr val="1E293B"/>
                </a:solidFill>
              </a:rPr>
              <a:t>You don't talk to 20 AI workers. You talk to your ONE delegate.</a:t>
            </a:r>
            <a:endParaRPr/>
          </a:p>
          <a:p>
            <a:pPr indent="0" lvl="0" marL="0" rtl="0" algn="l">
              <a:spcBef>
                <a:spcPts val="0"/>
              </a:spcBef>
              <a:spcAft>
                <a:spcPts val="0"/>
              </a:spcAft>
              <a:buNone/>
            </a:pPr>
            <a:r>
              <a:t/>
            </a:r>
            <a:endParaRPr/>
          </a:p>
        </p:txBody>
      </p:sp>
      <p:sp>
        <p:nvSpPr>
          <p:cNvPr id="322" name="Google Shape;322;g3e9b5477ec9_2_3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7" name="Google Shape;327;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8" name="Google Shape;328;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 name="Google Shape;358;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e9b5477ec9_2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e9b5477ec9_2_4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35000"/>
              </a:lnSpc>
              <a:spcBef>
                <a:spcPts val="0"/>
              </a:spcBef>
              <a:spcAft>
                <a:spcPts val="0"/>
              </a:spcAft>
              <a:buClr>
                <a:srgbClr val="1E293B"/>
              </a:buClr>
              <a:buSzPts val="1500"/>
              <a:buFont typeface="Calibri"/>
              <a:buNone/>
            </a:pPr>
            <a:r>
              <a:rPr b="1" lang="en-US">
                <a:solidFill>
                  <a:srgbClr val="1E293B"/>
                </a:solidFill>
              </a:rPr>
              <a:t>MODE 1 — PROBLEM-SOLVING</a:t>
            </a:r>
            <a:endParaRPr b="1"/>
          </a:p>
          <a:p>
            <a:pPr indent="0" lvl="0" marL="0" rtl="0" algn="l">
              <a:lnSpc>
                <a:spcPct val="135000"/>
              </a:lnSpc>
              <a:spcBef>
                <a:spcPts val="0"/>
              </a:spcBef>
              <a:spcAft>
                <a:spcPts val="0"/>
              </a:spcAft>
              <a:buClr>
                <a:srgbClr val="1E293B"/>
              </a:buClr>
              <a:buSzPts val="1500"/>
              <a:buFont typeface="Calibri"/>
              <a:buNone/>
            </a:pPr>
            <a:r>
              <a:rPr lang="en-US">
                <a:solidFill>
                  <a:srgbClr val="1E293B"/>
                </a:solidFill>
              </a:rPr>
              <a:t>Like catching a fish. You're hungry now, you catch one fish, you eat it. Problem solved. The session ends.</a:t>
            </a:r>
            <a:endParaRPr/>
          </a:p>
          <a:p>
            <a:pPr indent="0" lvl="0" marL="0" rtl="0" algn="l">
              <a:lnSpc>
                <a:spcPct val="135000"/>
              </a:lnSpc>
              <a:spcBef>
                <a:spcPts val="0"/>
              </a:spcBef>
              <a:spcAft>
                <a:spcPts val="0"/>
              </a:spcAft>
              <a:buClr>
                <a:schemeClr val="dk1"/>
              </a:buClr>
              <a:buSzPts val="1500"/>
              <a:buFont typeface="Calibri"/>
              <a:buNone/>
            </a:pPr>
            <a:r>
              <a:t/>
            </a:r>
            <a:endParaRPr/>
          </a:p>
          <a:p>
            <a:pPr indent="0" lvl="0" marL="0" rtl="0" algn="l">
              <a:lnSpc>
                <a:spcPct val="135000"/>
              </a:lnSpc>
              <a:spcBef>
                <a:spcPts val="0"/>
              </a:spcBef>
              <a:spcAft>
                <a:spcPts val="0"/>
              </a:spcAft>
              <a:buClr>
                <a:srgbClr val="1E293B"/>
              </a:buClr>
              <a:buSzPts val="1500"/>
              <a:buFont typeface="Calibri"/>
              <a:buNone/>
            </a:pPr>
            <a:r>
              <a:rPr b="1" lang="en-US">
                <a:solidFill>
                  <a:srgbClr val="1E293B"/>
                </a:solidFill>
              </a:rPr>
              <a:t>MODE 2 — MANUFACTURING</a:t>
            </a:r>
            <a:endParaRPr b="1"/>
          </a:p>
          <a:p>
            <a:pPr indent="0" lvl="0" marL="0" rtl="0" algn="l">
              <a:lnSpc>
                <a:spcPct val="135000"/>
              </a:lnSpc>
              <a:spcBef>
                <a:spcPts val="0"/>
              </a:spcBef>
              <a:spcAft>
                <a:spcPts val="0"/>
              </a:spcAft>
              <a:buClr>
                <a:srgbClr val="1E293B"/>
              </a:buClr>
              <a:buSzPts val="1500"/>
              <a:buFont typeface="Calibri"/>
              <a:buNone/>
            </a:pPr>
            <a:r>
              <a:rPr lang="en-US">
                <a:solidFill>
                  <a:srgbClr val="1E293B"/>
                </a:solidFill>
              </a:rPr>
              <a:t>Like building a fishing net. You spend time building something that will catch fish for you every day — without you standing at the river.</a:t>
            </a:r>
            <a:endParaRPr/>
          </a:p>
          <a:p>
            <a:pPr indent="0" lvl="0" marL="0" rtl="0" algn="l">
              <a:lnSpc>
                <a:spcPct val="135000"/>
              </a:lnSpc>
              <a:spcBef>
                <a:spcPts val="0"/>
              </a:spcBef>
              <a:spcAft>
                <a:spcPts val="0"/>
              </a:spcAft>
              <a:buClr>
                <a:schemeClr val="dk1"/>
              </a:buClr>
              <a:buSzPts val="1500"/>
              <a:buFont typeface="Calibri"/>
              <a:buNone/>
            </a:pPr>
            <a:r>
              <a:t/>
            </a:r>
            <a:endParaRPr/>
          </a:p>
          <a:p>
            <a:pPr indent="0" lvl="0" marL="0" rtl="0" algn="l">
              <a:lnSpc>
                <a:spcPct val="135000"/>
              </a:lnSpc>
              <a:spcBef>
                <a:spcPts val="0"/>
              </a:spcBef>
              <a:spcAft>
                <a:spcPts val="0"/>
              </a:spcAft>
              <a:buClr>
                <a:srgbClr val="1E293B"/>
              </a:buClr>
              <a:buSzPts val="1500"/>
              <a:buFont typeface="Calibri"/>
              <a:buNone/>
            </a:pPr>
            <a:r>
              <a:rPr lang="en-US">
                <a:solidFill>
                  <a:srgbClr val="1E293B"/>
                </a:solidFill>
              </a:rPr>
              <a:t>Mode 1 solves today's problem.</a:t>
            </a:r>
            <a:endParaRPr/>
          </a:p>
          <a:p>
            <a:pPr indent="0" lvl="0" marL="0" rtl="0" algn="l">
              <a:lnSpc>
                <a:spcPct val="135000"/>
              </a:lnSpc>
              <a:spcBef>
                <a:spcPts val="0"/>
              </a:spcBef>
              <a:spcAft>
                <a:spcPts val="0"/>
              </a:spcAft>
              <a:buClr>
                <a:srgbClr val="1E293B"/>
              </a:buClr>
              <a:buSzPts val="1500"/>
              <a:buFont typeface="Calibri"/>
              <a:buNone/>
            </a:pPr>
            <a:r>
              <a:rPr lang="en-US">
                <a:solidFill>
                  <a:srgbClr val="1E293B"/>
                </a:solidFill>
              </a:rPr>
              <a:t>Mode 2 builds tomorrow's solution.</a:t>
            </a:r>
            <a:endParaRPr/>
          </a:p>
          <a:p>
            <a:pPr indent="0" lvl="0" marL="0" rtl="0" algn="l">
              <a:lnSpc>
                <a:spcPct val="135000"/>
              </a:lnSpc>
              <a:spcBef>
                <a:spcPts val="0"/>
              </a:spcBef>
              <a:spcAft>
                <a:spcPts val="0"/>
              </a:spcAft>
              <a:buClr>
                <a:schemeClr val="dk1"/>
              </a:buClr>
              <a:buSzPts val="1500"/>
              <a:buFont typeface="Calibri"/>
              <a:buNone/>
            </a:pPr>
            <a:r>
              <a:t/>
            </a:r>
            <a:endParaRPr/>
          </a:p>
          <a:p>
            <a:pPr indent="0" lvl="0" marL="0" rtl="0" algn="l">
              <a:lnSpc>
                <a:spcPct val="135000"/>
              </a:lnSpc>
              <a:spcBef>
                <a:spcPts val="0"/>
              </a:spcBef>
              <a:spcAft>
                <a:spcPts val="0"/>
              </a:spcAft>
              <a:buNone/>
            </a:pPr>
            <a:r>
              <a:rPr lang="en-US">
                <a:solidFill>
                  <a:srgbClr val="1E293B"/>
                </a:solidFill>
              </a:rPr>
              <a:t>Both are valuable. Most people start with Mode 1. The real power comes when you move to Mode 2. This program teaches you both.</a:t>
            </a:r>
            <a:endParaRPr/>
          </a:p>
        </p:txBody>
      </p:sp>
      <p:sp>
        <p:nvSpPr>
          <p:cNvPr id="369" name="Google Shape;369;g3e9b5477ec9_2_4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4" name="Google Shape;374;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0" name="Google Shape;390;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 name="Google Shape;391;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e9b5477ec9_2_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3e9b5477ec9_2_5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35000"/>
              </a:lnSpc>
              <a:spcBef>
                <a:spcPts val="0"/>
              </a:spcBef>
              <a:spcAft>
                <a:spcPts val="0"/>
              </a:spcAft>
              <a:buClr>
                <a:srgbClr val="1E293B"/>
              </a:buClr>
              <a:buSzPts val="1500"/>
              <a:buFont typeface="Calibri"/>
              <a:buNone/>
            </a:pPr>
            <a:r>
              <a:rPr lang="en-US">
                <a:solidFill>
                  <a:srgbClr val="1E293B"/>
                </a:solidFill>
              </a:rPr>
              <a:t>When you build a house, some rules never change: it needs a strong foundation, it needs a roof, and it needs walls.</a:t>
            </a:r>
            <a:endParaRPr/>
          </a:p>
          <a:p>
            <a:pPr indent="0" lvl="0" marL="0" rtl="0" algn="l">
              <a:lnSpc>
                <a:spcPct val="135000"/>
              </a:lnSpc>
              <a:spcBef>
                <a:spcPts val="0"/>
              </a:spcBef>
              <a:spcAft>
                <a:spcPts val="0"/>
              </a:spcAft>
              <a:buClr>
                <a:schemeClr val="dk1"/>
              </a:buClr>
              <a:buSzPts val="1500"/>
              <a:buFont typeface="Calibri"/>
              <a:buNone/>
            </a:pPr>
            <a:r>
              <a:t/>
            </a:r>
            <a:endParaRPr/>
          </a:p>
          <a:p>
            <a:pPr indent="0" lvl="0" marL="0" rtl="0" algn="l">
              <a:lnSpc>
                <a:spcPct val="135000"/>
              </a:lnSpc>
              <a:spcBef>
                <a:spcPts val="0"/>
              </a:spcBef>
              <a:spcAft>
                <a:spcPts val="0"/>
              </a:spcAft>
              <a:buClr>
                <a:srgbClr val="1E293B"/>
              </a:buClr>
              <a:buSzPts val="1500"/>
              <a:buFont typeface="Calibri"/>
              <a:buNone/>
            </a:pPr>
            <a:r>
              <a:rPr lang="en-US">
                <a:solidFill>
                  <a:srgbClr val="1E293B"/>
                </a:solidFill>
              </a:rPr>
              <a:t>Whether you use bricks or concrete, whether the roof is flat or sloped — those are choices. But "the house must have a foundation" is a rule that never changes.</a:t>
            </a:r>
            <a:endParaRPr/>
          </a:p>
          <a:p>
            <a:pPr indent="0" lvl="0" marL="0" rtl="0" algn="l">
              <a:lnSpc>
                <a:spcPct val="135000"/>
              </a:lnSpc>
              <a:spcBef>
                <a:spcPts val="0"/>
              </a:spcBef>
              <a:spcAft>
                <a:spcPts val="0"/>
              </a:spcAft>
              <a:buClr>
                <a:schemeClr val="dk1"/>
              </a:buClr>
              <a:buSzPts val="1500"/>
              <a:buFont typeface="Calibri"/>
              <a:buNone/>
            </a:pPr>
            <a:r>
              <a:t/>
            </a:r>
            <a:endParaRPr/>
          </a:p>
          <a:p>
            <a:pPr indent="0" lvl="0" marL="0" rtl="0" algn="l">
              <a:lnSpc>
                <a:spcPct val="135000"/>
              </a:lnSpc>
              <a:spcBef>
                <a:spcPts val="0"/>
              </a:spcBef>
              <a:spcAft>
                <a:spcPts val="0"/>
              </a:spcAft>
              <a:buNone/>
            </a:pPr>
            <a:r>
              <a:rPr lang="en-US">
                <a:solidFill>
                  <a:srgbClr val="1E293B"/>
                </a:solidFill>
              </a:rPr>
              <a:t>These 7 rules are the "building code" for AI companies. The specific tools and software will change every year. But these structural rules stay the same — just like the rules of good construction stay the same even when building materials change.</a:t>
            </a:r>
            <a:endParaRPr/>
          </a:p>
        </p:txBody>
      </p:sp>
      <p:sp>
        <p:nvSpPr>
          <p:cNvPr id="402" name="Google Shape;402;g3e9b5477ec9_2_5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7" name="Google Shape;407;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8" name="Google Shape;408;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3" name="Google Shape;433;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4" name="Google Shape;434;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6" name="Google Shape;456;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7" name="Google Shape;457;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 name="Google Shape;467;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8" name="Google Shape;468;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8" name="Google Shape;488;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9" name="Google Shape;489;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8" name="Google Shape;508;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9" name="Google Shape;509;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9" name="Google Shape;519;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0" name="Google Shape;520;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0" name="Google Shape;540;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1" name="Google Shape;541;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8" name="Google Shape;558;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9" name="Google Shape;559;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8" name="Google Shape;568;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9" name="Google Shape;569;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image" Target="../media/image4.png"/><Relationship Id="rId6"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7.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6.png"/><Relationship Id="rId4" Type="http://schemas.openxmlformats.org/officeDocument/2006/relationships/image" Target="../media/image23.png"/><Relationship Id="rId5"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4.png"/><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15" name="Shape 15"/>
        <p:cNvGrpSpPr/>
        <p:nvPr/>
      </p:nvGrpSpPr>
      <p:grpSpPr>
        <a:xfrm>
          <a:off x="0" y="0"/>
          <a:ext cx="0" cy="0"/>
          <a:chOff x="0" y="0"/>
          <a:chExt cx="0" cy="0"/>
        </a:xfrm>
      </p:grpSpPr>
      <p:sp>
        <p:nvSpPr>
          <p:cNvPr id="16" name="Google Shape;16;p3"/>
          <p:cNvSpPr/>
          <p:nvPr/>
        </p:nvSpPr>
        <p:spPr>
          <a:xfrm>
            <a:off x="6400800" y="-1828800"/>
            <a:ext cx="5486400" cy="5486400"/>
          </a:xfrm>
          <a:prstGeom prst="ellipse">
            <a:avLst/>
          </a:prstGeom>
          <a:solidFill>
            <a:srgbClr val="3341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1828800" y="3200400"/>
            <a:ext cx="4572000" cy="4572000"/>
          </a:xfrm>
          <a:prstGeom prst="ellipse">
            <a:avLst/>
          </a:prstGeom>
          <a:solidFill>
            <a:srgbClr val="475569">
              <a:alpha val="3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731520" y="1005840"/>
            <a:ext cx="2377440" cy="384048"/>
          </a:xfrm>
          <a:prstGeom prst="roundRect">
            <a:avLst>
              <a:gd fmla="val 35714" name="adj"/>
            </a:avLst>
          </a:prstGeom>
          <a:solidFill>
            <a:srgbClr val="0F7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731520" y="1005840"/>
            <a:ext cx="237744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onsolas"/>
              <a:buNone/>
            </a:pPr>
            <a:r>
              <a:rPr b="0" i="0" lang="en-US" sz="1000" u="none" cap="none" strike="noStrike">
                <a:solidFill>
                  <a:srgbClr val="FFFFFF"/>
                </a:solidFill>
                <a:latin typeface="Consolas"/>
                <a:ea typeface="Consolas"/>
                <a:cs typeface="Consolas"/>
                <a:sym typeface="Consolas"/>
              </a:rPr>
              <a:t>ORIENTATION</a:t>
            </a:r>
            <a:endParaRPr b="0" i="0" sz="1000" u="none" cap="none" strike="noStrike">
              <a:solidFill>
                <a:schemeClr val="dk1"/>
              </a:solidFill>
              <a:latin typeface="Calibri"/>
              <a:ea typeface="Calibri"/>
              <a:cs typeface="Calibri"/>
              <a:sym typeface="Calibri"/>
            </a:endParaRPr>
          </a:p>
        </p:txBody>
      </p:sp>
      <p:sp>
        <p:nvSpPr>
          <p:cNvPr id="20" name="Google Shape;20;p3"/>
          <p:cNvSpPr/>
          <p:nvPr/>
        </p:nvSpPr>
        <p:spPr>
          <a:xfrm>
            <a:off x="731520" y="1645920"/>
            <a:ext cx="7315200" cy="1828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5000"/>
              <a:buFont typeface="Georgia"/>
              <a:buNone/>
            </a:pPr>
            <a:r>
              <a:rPr lang="en-US" sz="5000">
                <a:solidFill>
                  <a:srgbClr val="FFFFFF"/>
                </a:solidFill>
                <a:latin typeface="Georgia"/>
                <a:ea typeface="Georgia"/>
                <a:cs typeface="Georgia"/>
                <a:sym typeface="Georgia"/>
              </a:rPr>
              <a:t>The AI Revolution </a:t>
            </a:r>
            <a:br>
              <a:rPr b="0" i="0" lang="en-US" sz="5000" u="none" cap="none" strike="noStrike">
                <a:solidFill>
                  <a:srgbClr val="FFFFFF"/>
                </a:solidFill>
                <a:latin typeface="Georgia"/>
                <a:ea typeface="Georgia"/>
                <a:cs typeface="Georgia"/>
                <a:sym typeface="Georgia"/>
              </a:rPr>
            </a:br>
            <a:r>
              <a:rPr i="1" lang="en-US" sz="5000">
                <a:solidFill>
                  <a:srgbClr val="5EEAD4"/>
                </a:solidFill>
                <a:latin typeface="Georgia"/>
                <a:ea typeface="Georgia"/>
                <a:cs typeface="Georgia"/>
                <a:sym typeface="Georgia"/>
              </a:rPr>
              <a:t>Starts Here</a:t>
            </a:r>
            <a:endParaRPr b="0" i="0" sz="5000" u="none" cap="none" strike="noStrike">
              <a:solidFill>
                <a:schemeClr val="dk1"/>
              </a:solidFill>
              <a:latin typeface="Calibri"/>
              <a:ea typeface="Calibri"/>
              <a:cs typeface="Calibri"/>
              <a:sym typeface="Calibri"/>
            </a:endParaRPr>
          </a:p>
        </p:txBody>
      </p:sp>
      <p:sp>
        <p:nvSpPr>
          <p:cNvPr id="21" name="Google Shape;21;p3"/>
          <p:cNvSpPr/>
          <p:nvPr/>
        </p:nvSpPr>
        <p:spPr>
          <a:xfrm>
            <a:off x="731520" y="3566160"/>
            <a:ext cx="5486400" cy="822960"/>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94A3B8"/>
              </a:buClr>
              <a:buSzPts val="1600"/>
              <a:buFont typeface="Calibri"/>
              <a:buNone/>
            </a:pPr>
            <a:r>
              <a:rPr b="0" i="0" lang="en-US" sz="1600" u="none" cap="none" strike="noStrike">
                <a:solidFill>
                  <a:srgbClr val="94A3B8"/>
                </a:solidFill>
                <a:latin typeface="Calibri"/>
                <a:ea typeface="Calibri"/>
                <a:cs typeface="Calibri"/>
                <a:sym typeface="Calibri"/>
              </a:rPr>
              <a:t>A beginner-friendly guide with real-world analogies.</a:t>
            </a:r>
            <a:endParaRPr b="0" i="0" sz="16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94A3B8"/>
              </a:buClr>
              <a:buSzPts val="1600"/>
              <a:buFont typeface="Calibri"/>
              <a:buNone/>
            </a:pPr>
            <a:r>
              <a:rPr b="0" i="0" lang="en-US" sz="1600" u="none" cap="none" strike="noStrike">
                <a:solidFill>
                  <a:srgbClr val="94A3B8"/>
                </a:solidFill>
                <a:latin typeface="Calibri"/>
                <a:ea typeface="Calibri"/>
                <a:cs typeface="Calibri"/>
                <a:sym typeface="Calibri"/>
              </a:rPr>
              <a:t>No tech background needed — just curiosity.</a:t>
            </a:r>
            <a:endParaRPr b="0" i="0" sz="1600" u="none" cap="none" strike="noStrike">
              <a:solidFill>
                <a:schemeClr val="dk1"/>
              </a:solidFill>
              <a:latin typeface="Calibri"/>
              <a:ea typeface="Calibri"/>
              <a:cs typeface="Calibri"/>
              <a:sym typeface="Calibri"/>
            </a:endParaRPr>
          </a:p>
        </p:txBody>
      </p:sp>
      <p:pic>
        <p:nvPicPr>
          <p:cNvPr descr="preencoded.png" id="22" name="Google Shape;22;p3"/>
          <p:cNvPicPr preferRelativeResize="0"/>
          <p:nvPr/>
        </p:nvPicPr>
        <p:blipFill rotWithShape="1">
          <a:blip r:embed="rId3">
            <a:alphaModFix/>
          </a:blip>
          <a:srcRect b="0" l="0" r="0" t="0"/>
          <a:stretch/>
        </p:blipFill>
        <p:spPr>
          <a:xfrm>
            <a:off x="8229600" y="4206240"/>
            <a:ext cx="548640" cy="54864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 name="Shape 27"/>
        <p:cNvGrpSpPr/>
        <p:nvPr/>
      </p:nvGrpSpPr>
      <p:grpSpPr>
        <a:xfrm>
          <a:off x="0" y="0"/>
          <a:ext cx="0" cy="0"/>
          <a:chOff x="0" y="0"/>
          <a:chExt cx="0" cy="0"/>
        </a:xfrm>
      </p:grpSpPr>
      <p:sp>
        <p:nvSpPr>
          <p:cNvPr id="28" name="Google Shape;28;p4"/>
          <p:cNvSpPr/>
          <p:nvPr/>
        </p:nvSpPr>
        <p:spPr>
          <a:xfrm>
            <a:off x="731520" y="320040"/>
            <a:ext cx="768096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3200"/>
              <a:buFont typeface="Georgia"/>
              <a:buNone/>
            </a:pPr>
            <a:r>
              <a:rPr b="0" i="0" lang="en-US" sz="3200" u="none" cap="none" strike="noStrike">
                <a:solidFill>
                  <a:srgbClr val="1E293B"/>
                </a:solidFill>
                <a:latin typeface="Georgia"/>
                <a:ea typeface="Georgia"/>
                <a:cs typeface="Georgia"/>
                <a:sym typeface="Georgia"/>
              </a:rPr>
              <a:t>What We'll Cover Today</a:t>
            </a:r>
            <a:endParaRPr b="0" i="0" sz="3200" u="none" cap="none" strike="noStrike">
              <a:solidFill>
                <a:schemeClr val="dk1"/>
              </a:solidFill>
              <a:latin typeface="Calibri"/>
              <a:ea typeface="Calibri"/>
              <a:cs typeface="Calibri"/>
              <a:sym typeface="Calibri"/>
            </a:endParaRPr>
          </a:p>
        </p:txBody>
      </p:sp>
      <p:sp>
        <p:nvSpPr>
          <p:cNvPr id="29" name="Google Shape;29;p4"/>
          <p:cNvSpPr/>
          <p:nvPr/>
        </p:nvSpPr>
        <p:spPr>
          <a:xfrm>
            <a:off x="731520" y="914400"/>
            <a:ext cx="914400" cy="36576"/>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4"/>
          <p:cNvSpPr/>
          <p:nvPr/>
        </p:nvSpPr>
        <p:spPr>
          <a:xfrm>
            <a:off x="731520" y="1234440"/>
            <a:ext cx="3931920" cy="566928"/>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a:off x="731520" y="1234440"/>
            <a:ext cx="45720" cy="566928"/>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914400" y="1234440"/>
            <a:ext cx="45720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9488"/>
              </a:buClr>
              <a:buSzPts val="1300"/>
              <a:buFont typeface="Consolas"/>
              <a:buNone/>
            </a:pPr>
            <a:r>
              <a:rPr b="1" i="0" lang="en-US" sz="1300" u="none" cap="none" strike="noStrike">
                <a:solidFill>
                  <a:srgbClr val="0D9488"/>
                </a:solidFill>
                <a:latin typeface="Consolas"/>
                <a:ea typeface="Consolas"/>
                <a:cs typeface="Consolas"/>
                <a:sym typeface="Consolas"/>
              </a:rPr>
              <a:t>01</a:t>
            </a:r>
            <a:endParaRPr b="0" i="0" sz="1300" u="none" cap="none" strike="noStrike">
              <a:solidFill>
                <a:schemeClr val="dk1"/>
              </a:solidFill>
              <a:latin typeface="Calibri"/>
              <a:ea typeface="Calibri"/>
              <a:cs typeface="Calibri"/>
              <a:sym typeface="Calibri"/>
            </a:endParaRPr>
          </a:p>
        </p:txBody>
      </p:sp>
      <p:sp>
        <p:nvSpPr>
          <p:cNvPr id="33" name="Google Shape;33;p4"/>
          <p:cNvSpPr/>
          <p:nvPr/>
        </p:nvSpPr>
        <p:spPr>
          <a:xfrm>
            <a:off x="1371600" y="1234440"/>
            <a:ext cx="310896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400"/>
              <a:buFont typeface="Calibri"/>
              <a:buNone/>
            </a:pPr>
            <a:r>
              <a:rPr b="0" i="0" lang="en-US" sz="1600" u="none" cap="none" strike="noStrike">
                <a:solidFill>
                  <a:srgbClr val="1E293B"/>
                </a:solidFill>
                <a:latin typeface="Calibri"/>
                <a:ea typeface="Calibri"/>
                <a:cs typeface="Calibri"/>
                <a:sym typeface="Calibri"/>
              </a:rPr>
              <a:t>What is AI, Really?</a:t>
            </a:r>
            <a:endParaRPr b="0" i="0" sz="1600" u="none" cap="none" strike="noStrike">
              <a:solidFill>
                <a:schemeClr val="dk1"/>
              </a:solidFill>
              <a:latin typeface="Calibri"/>
              <a:ea typeface="Calibri"/>
              <a:cs typeface="Calibri"/>
              <a:sym typeface="Calibri"/>
            </a:endParaRPr>
          </a:p>
        </p:txBody>
      </p:sp>
      <p:sp>
        <p:nvSpPr>
          <p:cNvPr id="34" name="Google Shape;34;p4"/>
          <p:cNvSpPr/>
          <p:nvPr/>
        </p:nvSpPr>
        <p:spPr>
          <a:xfrm>
            <a:off x="731520" y="1965960"/>
            <a:ext cx="3931920" cy="566928"/>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a:off x="731520" y="1965960"/>
            <a:ext cx="45720" cy="566928"/>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a:off x="914400" y="1965960"/>
            <a:ext cx="45720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7316"/>
              </a:buClr>
              <a:buSzPts val="1300"/>
              <a:buFont typeface="Consolas"/>
              <a:buNone/>
            </a:pPr>
            <a:r>
              <a:rPr b="1" i="0" lang="en-US" sz="1300" u="none" cap="none" strike="noStrike">
                <a:solidFill>
                  <a:srgbClr val="F97316"/>
                </a:solidFill>
                <a:latin typeface="Consolas"/>
                <a:ea typeface="Consolas"/>
                <a:cs typeface="Consolas"/>
                <a:sym typeface="Consolas"/>
              </a:rPr>
              <a:t>02</a:t>
            </a:r>
            <a:endParaRPr b="0" i="0" sz="1300" u="none" cap="none" strike="noStrike">
              <a:solidFill>
                <a:schemeClr val="dk1"/>
              </a:solidFill>
              <a:latin typeface="Calibri"/>
              <a:ea typeface="Calibri"/>
              <a:cs typeface="Calibri"/>
              <a:sym typeface="Calibri"/>
            </a:endParaRPr>
          </a:p>
        </p:txBody>
      </p:sp>
      <p:sp>
        <p:nvSpPr>
          <p:cNvPr id="37" name="Google Shape;37;p4"/>
          <p:cNvSpPr/>
          <p:nvPr/>
        </p:nvSpPr>
        <p:spPr>
          <a:xfrm>
            <a:off x="1371600" y="1965960"/>
            <a:ext cx="310896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400"/>
              <a:buFont typeface="Calibri"/>
              <a:buNone/>
            </a:pPr>
            <a:r>
              <a:rPr b="0" i="0" lang="en-US" sz="1600" u="none" cap="none" strike="noStrike">
                <a:solidFill>
                  <a:srgbClr val="1E293B"/>
                </a:solidFill>
                <a:latin typeface="Calibri"/>
                <a:ea typeface="Calibri"/>
                <a:cs typeface="Calibri"/>
                <a:sym typeface="Calibri"/>
              </a:rPr>
              <a:t>From 'Smart Tool' to 'Smart Worker'</a:t>
            </a:r>
            <a:endParaRPr b="0" i="0" sz="1600" u="none" cap="none" strike="noStrike">
              <a:solidFill>
                <a:schemeClr val="dk1"/>
              </a:solidFill>
              <a:latin typeface="Calibri"/>
              <a:ea typeface="Calibri"/>
              <a:cs typeface="Calibri"/>
              <a:sym typeface="Calibri"/>
            </a:endParaRPr>
          </a:p>
        </p:txBody>
      </p:sp>
      <p:sp>
        <p:nvSpPr>
          <p:cNvPr id="38" name="Google Shape;38;p4"/>
          <p:cNvSpPr/>
          <p:nvPr/>
        </p:nvSpPr>
        <p:spPr>
          <a:xfrm>
            <a:off x="731520" y="2697480"/>
            <a:ext cx="3931920" cy="566928"/>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a:off x="731520" y="2697480"/>
            <a:ext cx="45720" cy="566928"/>
          </a:xfrm>
          <a:prstGeom prst="rect">
            <a:avLst/>
          </a:prstGeom>
          <a:solidFill>
            <a:srgbClr val="4F46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a:off x="914400" y="2697480"/>
            <a:ext cx="45720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F46E5"/>
              </a:buClr>
              <a:buSzPts val="1300"/>
              <a:buFont typeface="Consolas"/>
              <a:buNone/>
            </a:pPr>
            <a:r>
              <a:rPr b="1" i="0" lang="en-US" sz="1300" u="none" cap="none" strike="noStrike">
                <a:solidFill>
                  <a:srgbClr val="4F46E5"/>
                </a:solidFill>
                <a:latin typeface="Consolas"/>
                <a:ea typeface="Consolas"/>
                <a:cs typeface="Consolas"/>
                <a:sym typeface="Consolas"/>
              </a:rPr>
              <a:t>03</a:t>
            </a:r>
            <a:endParaRPr b="0" i="0" sz="1300" u="none" cap="none" strike="noStrike">
              <a:solidFill>
                <a:schemeClr val="dk1"/>
              </a:solidFill>
              <a:latin typeface="Calibri"/>
              <a:ea typeface="Calibri"/>
              <a:cs typeface="Calibri"/>
              <a:sym typeface="Calibri"/>
            </a:endParaRPr>
          </a:p>
        </p:txBody>
      </p:sp>
      <p:sp>
        <p:nvSpPr>
          <p:cNvPr id="41" name="Google Shape;41;p4"/>
          <p:cNvSpPr/>
          <p:nvPr/>
        </p:nvSpPr>
        <p:spPr>
          <a:xfrm>
            <a:off x="1371600" y="2697480"/>
            <a:ext cx="310896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400"/>
              <a:buFont typeface="Calibri"/>
              <a:buNone/>
            </a:pPr>
            <a:r>
              <a:rPr b="0" i="0" lang="en-US" sz="1600" u="none" cap="none" strike="noStrike">
                <a:solidFill>
                  <a:srgbClr val="1E293B"/>
                </a:solidFill>
                <a:latin typeface="Calibri"/>
                <a:ea typeface="Calibri"/>
                <a:cs typeface="Calibri"/>
                <a:sym typeface="Calibri"/>
              </a:rPr>
              <a:t>What is Agentic AI?</a:t>
            </a:r>
            <a:endParaRPr b="0" i="0" sz="1600" u="none" cap="none" strike="noStrike">
              <a:solidFill>
                <a:schemeClr val="dk1"/>
              </a:solidFill>
              <a:latin typeface="Calibri"/>
              <a:ea typeface="Calibri"/>
              <a:cs typeface="Calibri"/>
              <a:sym typeface="Calibri"/>
            </a:endParaRPr>
          </a:p>
        </p:txBody>
      </p:sp>
      <p:sp>
        <p:nvSpPr>
          <p:cNvPr id="42" name="Google Shape;42;p4"/>
          <p:cNvSpPr/>
          <p:nvPr/>
        </p:nvSpPr>
        <p:spPr>
          <a:xfrm>
            <a:off x="731520" y="3429000"/>
            <a:ext cx="3931920" cy="566928"/>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a:off x="731520" y="3429000"/>
            <a:ext cx="45720" cy="566928"/>
          </a:xfrm>
          <a:prstGeom prst="rect">
            <a:avLst/>
          </a:prstGeom>
          <a:solidFill>
            <a:srgbClr val="0F7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a:off x="914400" y="3429000"/>
            <a:ext cx="45720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766E"/>
              </a:buClr>
              <a:buSzPts val="1300"/>
              <a:buFont typeface="Consolas"/>
              <a:buNone/>
            </a:pPr>
            <a:r>
              <a:rPr b="1" i="0" lang="en-US" sz="1300" u="none" cap="none" strike="noStrike">
                <a:solidFill>
                  <a:srgbClr val="0F766E"/>
                </a:solidFill>
                <a:latin typeface="Consolas"/>
                <a:ea typeface="Consolas"/>
                <a:cs typeface="Consolas"/>
                <a:sym typeface="Consolas"/>
              </a:rPr>
              <a:t>04</a:t>
            </a:r>
            <a:endParaRPr b="0" i="0" sz="1300" u="none" cap="none" strike="noStrike">
              <a:solidFill>
                <a:schemeClr val="dk1"/>
              </a:solidFill>
              <a:latin typeface="Calibri"/>
              <a:ea typeface="Calibri"/>
              <a:cs typeface="Calibri"/>
              <a:sym typeface="Calibri"/>
            </a:endParaRPr>
          </a:p>
        </p:txBody>
      </p:sp>
      <p:sp>
        <p:nvSpPr>
          <p:cNvPr id="45" name="Google Shape;45;p4"/>
          <p:cNvSpPr/>
          <p:nvPr/>
        </p:nvSpPr>
        <p:spPr>
          <a:xfrm>
            <a:off x="1371600" y="3429000"/>
            <a:ext cx="310896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400"/>
              <a:buFont typeface="Calibri"/>
              <a:buNone/>
            </a:pPr>
            <a:r>
              <a:rPr b="0" i="0" lang="en-US" sz="1600" u="none" cap="none" strike="noStrike">
                <a:solidFill>
                  <a:srgbClr val="1E293B"/>
                </a:solidFill>
                <a:latin typeface="Calibri"/>
                <a:ea typeface="Calibri"/>
                <a:cs typeface="Calibri"/>
                <a:sym typeface="Calibri"/>
              </a:rPr>
              <a:t>The Agent Factory Idea</a:t>
            </a:r>
            <a:endParaRPr b="0" i="0" sz="1600" u="none" cap="none" strike="noStrike">
              <a:solidFill>
                <a:schemeClr val="dk1"/>
              </a:solidFill>
              <a:latin typeface="Calibri"/>
              <a:ea typeface="Calibri"/>
              <a:cs typeface="Calibri"/>
              <a:sym typeface="Calibri"/>
            </a:endParaRPr>
          </a:p>
        </p:txBody>
      </p:sp>
      <p:sp>
        <p:nvSpPr>
          <p:cNvPr id="46" name="Google Shape;46;p4"/>
          <p:cNvSpPr/>
          <p:nvPr/>
        </p:nvSpPr>
        <p:spPr>
          <a:xfrm>
            <a:off x="731520" y="4160520"/>
            <a:ext cx="3931920" cy="566928"/>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a:off x="731520" y="4160520"/>
            <a:ext cx="45720" cy="566928"/>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a:off x="914400" y="4160520"/>
            <a:ext cx="45720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7316"/>
              </a:buClr>
              <a:buSzPts val="1300"/>
              <a:buFont typeface="Consolas"/>
              <a:buNone/>
            </a:pPr>
            <a:r>
              <a:rPr b="1" i="0" lang="en-US" sz="1300" u="none" cap="none" strike="noStrike">
                <a:solidFill>
                  <a:srgbClr val="F97316"/>
                </a:solidFill>
                <a:latin typeface="Consolas"/>
                <a:ea typeface="Consolas"/>
                <a:cs typeface="Consolas"/>
                <a:sym typeface="Consolas"/>
              </a:rPr>
              <a:t>05</a:t>
            </a:r>
            <a:endParaRPr b="0" i="0" sz="1300" u="none" cap="none" strike="noStrike">
              <a:solidFill>
                <a:schemeClr val="dk1"/>
              </a:solidFill>
              <a:latin typeface="Calibri"/>
              <a:ea typeface="Calibri"/>
              <a:cs typeface="Calibri"/>
              <a:sym typeface="Calibri"/>
            </a:endParaRPr>
          </a:p>
        </p:txBody>
      </p:sp>
      <p:sp>
        <p:nvSpPr>
          <p:cNvPr id="49" name="Google Shape;49;p4"/>
          <p:cNvSpPr/>
          <p:nvPr/>
        </p:nvSpPr>
        <p:spPr>
          <a:xfrm>
            <a:off x="1371600" y="4160520"/>
            <a:ext cx="310896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400"/>
              <a:buFont typeface="Calibri"/>
              <a:buNone/>
            </a:pPr>
            <a:r>
              <a:rPr b="0" i="0" lang="en-US" sz="1600" u="none" cap="none" strike="noStrike">
                <a:solidFill>
                  <a:srgbClr val="1E293B"/>
                </a:solidFill>
                <a:latin typeface="Calibri"/>
                <a:ea typeface="Calibri"/>
                <a:cs typeface="Calibri"/>
                <a:sym typeface="Calibri"/>
              </a:rPr>
              <a:t>The 10-80-10 Rhythm</a:t>
            </a:r>
            <a:endParaRPr b="0" i="0" sz="1600" u="none" cap="none" strike="noStrike">
              <a:solidFill>
                <a:schemeClr val="dk1"/>
              </a:solidFill>
              <a:latin typeface="Calibri"/>
              <a:ea typeface="Calibri"/>
              <a:cs typeface="Calibri"/>
              <a:sym typeface="Calibri"/>
            </a:endParaRPr>
          </a:p>
        </p:txBody>
      </p:sp>
      <p:sp>
        <p:nvSpPr>
          <p:cNvPr id="50" name="Google Shape;50;p4"/>
          <p:cNvSpPr/>
          <p:nvPr/>
        </p:nvSpPr>
        <p:spPr>
          <a:xfrm>
            <a:off x="4937760" y="1234440"/>
            <a:ext cx="3931920" cy="566928"/>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4937760" y="1234440"/>
            <a:ext cx="45720" cy="566928"/>
          </a:xfrm>
          <a:prstGeom prst="rect">
            <a:avLst/>
          </a:prstGeom>
          <a:solidFill>
            <a:srgbClr val="4F46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5120640" y="1234440"/>
            <a:ext cx="45720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F46E5"/>
              </a:buClr>
              <a:buSzPts val="1300"/>
              <a:buFont typeface="Consolas"/>
              <a:buNone/>
            </a:pPr>
            <a:r>
              <a:rPr b="1" i="0" lang="en-US" sz="1300" u="none" cap="none" strike="noStrike">
                <a:solidFill>
                  <a:srgbClr val="4F46E5"/>
                </a:solidFill>
                <a:latin typeface="Consolas"/>
                <a:ea typeface="Consolas"/>
                <a:cs typeface="Consolas"/>
                <a:sym typeface="Consolas"/>
              </a:rPr>
              <a:t>06</a:t>
            </a:r>
            <a:endParaRPr b="0" i="0" sz="1300" u="none" cap="none" strike="noStrike">
              <a:solidFill>
                <a:schemeClr val="dk1"/>
              </a:solidFill>
              <a:latin typeface="Calibri"/>
              <a:ea typeface="Calibri"/>
              <a:cs typeface="Calibri"/>
              <a:sym typeface="Calibri"/>
            </a:endParaRPr>
          </a:p>
        </p:txBody>
      </p:sp>
      <p:sp>
        <p:nvSpPr>
          <p:cNvPr id="53" name="Google Shape;53;p4"/>
          <p:cNvSpPr/>
          <p:nvPr/>
        </p:nvSpPr>
        <p:spPr>
          <a:xfrm>
            <a:off x="5577840" y="1234440"/>
            <a:ext cx="310896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400"/>
              <a:buFont typeface="Calibri"/>
              <a:buNone/>
            </a:pPr>
            <a:r>
              <a:rPr b="0" i="0" lang="en-US" sz="1600" u="none" cap="none" strike="noStrike">
                <a:solidFill>
                  <a:srgbClr val="1E293B"/>
                </a:solidFill>
                <a:latin typeface="Calibri"/>
                <a:ea typeface="Calibri"/>
                <a:cs typeface="Calibri"/>
                <a:sym typeface="Calibri"/>
              </a:rPr>
              <a:t>Your Personal AI Delegate</a:t>
            </a:r>
            <a:endParaRPr b="0" i="0" sz="1600" u="none" cap="none" strike="noStrike">
              <a:solidFill>
                <a:schemeClr val="dk1"/>
              </a:solidFill>
              <a:latin typeface="Calibri"/>
              <a:ea typeface="Calibri"/>
              <a:cs typeface="Calibri"/>
              <a:sym typeface="Calibri"/>
            </a:endParaRPr>
          </a:p>
        </p:txBody>
      </p:sp>
      <p:sp>
        <p:nvSpPr>
          <p:cNvPr id="54" name="Google Shape;54;p4"/>
          <p:cNvSpPr/>
          <p:nvPr/>
        </p:nvSpPr>
        <p:spPr>
          <a:xfrm>
            <a:off x="4937760" y="1965960"/>
            <a:ext cx="3931920" cy="566928"/>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4"/>
          <p:cNvSpPr/>
          <p:nvPr/>
        </p:nvSpPr>
        <p:spPr>
          <a:xfrm>
            <a:off x="4937760" y="1965960"/>
            <a:ext cx="45720" cy="566928"/>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4"/>
          <p:cNvSpPr/>
          <p:nvPr/>
        </p:nvSpPr>
        <p:spPr>
          <a:xfrm>
            <a:off x="5120640" y="1965960"/>
            <a:ext cx="45720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9488"/>
              </a:buClr>
              <a:buSzPts val="1300"/>
              <a:buFont typeface="Consolas"/>
              <a:buNone/>
            </a:pPr>
            <a:r>
              <a:rPr b="1" i="0" lang="en-US" sz="1300" u="none" cap="none" strike="noStrike">
                <a:solidFill>
                  <a:srgbClr val="0D9488"/>
                </a:solidFill>
                <a:latin typeface="Consolas"/>
                <a:ea typeface="Consolas"/>
                <a:cs typeface="Consolas"/>
                <a:sym typeface="Consolas"/>
              </a:rPr>
              <a:t>07</a:t>
            </a:r>
            <a:endParaRPr b="0" i="0" sz="1300" u="none" cap="none" strike="noStrike">
              <a:solidFill>
                <a:schemeClr val="dk1"/>
              </a:solidFill>
              <a:latin typeface="Calibri"/>
              <a:ea typeface="Calibri"/>
              <a:cs typeface="Calibri"/>
              <a:sym typeface="Calibri"/>
            </a:endParaRPr>
          </a:p>
        </p:txBody>
      </p:sp>
      <p:sp>
        <p:nvSpPr>
          <p:cNvPr id="57" name="Google Shape;57;p4"/>
          <p:cNvSpPr/>
          <p:nvPr/>
        </p:nvSpPr>
        <p:spPr>
          <a:xfrm>
            <a:off x="5577840" y="1965960"/>
            <a:ext cx="310896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400"/>
              <a:buFont typeface="Calibri"/>
              <a:buNone/>
            </a:pPr>
            <a:r>
              <a:rPr b="0" i="0" lang="en-US" sz="1600" u="none" cap="none" strike="noStrike">
                <a:solidFill>
                  <a:srgbClr val="1E293B"/>
                </a:solidFill>
                <a:latin typeface="Calibri"/>
                <a:ea typeface="Calibri"/>
                <a:cs typeface="Calibri"/>
                <a:sym typeface="Calibri"/>
              </a:rPr>
              <a:t>Two Ways to Use AI</a:t>
            </a:r>
            <a:endParaRPr b="0" i="0" sz="1600" u="none" cap="none" strike="noStrike">
              <a:solidFill>
                <a:schemeClr val="dk1"/>
              </a:solidFill>
              <a:latin typeface="Calibri"/>
              <a:ea typeface="Calibri"/>
              <a:cs typeface="Calibri"/>
              <a:sym typeface="Calibri"/>
            </a:endParaRPr>
          </a:p>
        </p:txBody>
      </p:sp>
      <p:sp>
        <p:nvSpPr>
          <p:cNvPr id="58" name="Google Shape;58;p4"/>
          <p:cNvSpPr/>
          <p:nvPr/>
        </p:nvSpPr>
        <p:spPr>
          <a:xfrm>
            <a:off x="4937760" y="2697480"/>
            <a:ext cx="3931920" cy="566928"/>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4"/>
          <p:cNvSpPr/>
          <p:nvPr/>
        </p:nvSpPr>
        <p:spPr>
          <a:xfrm>
            <a:off x="4937760" y="2697480"/>
            <a:ext cx="45720" cy="566928"/>
          </a:xfrm>
          <a:prstGeom prst="rect">
            <a:avLst/>
          </a:prstGeom>
          <a:solidFill>
            <a:srgbClr val="E11D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4"/>
          <p:cNvSpPr/>
          <p:nvPr/>
        </p:nvSpPr>
        <p:spPr>
          <a:xfrm>
            <a:off x="5120640" y="2697480"/>
            <a:ext cx="45720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11D48"/>
              </a:buClr>
              <a:buSzPts val="1300"/>
              <a:buFont typeface="Consolas"/>
              <a:buNone/>
            </a:pPr>
            <a:r>
              <a:rPr b="1" i="0" lang="en-US" sz="1300" u="none" cap="none" strike="noStrike">
                <a:solidFill>
                  <a:srgbClr val="E11D48"/>
                </a:solidFill>
                <a:latin typeface="Consolas"/>
                <a:ea typeface="Consolas"/>
                <a:cs typeface="Consolas"/>
                <a:sym typeface="Consolas"/>
              </a:rPr>
              <a:t>08</a:t>
            </a:r>
            <a:endParaRPr b="0" i="0" sz="1300" u="none" cap="none" strike="noStrike">
              <a:solidFill>
                <a:schemeClr val="dk1"/>
              </a:solidFill>
              <a:latin typeface="Calibri"/>
              <a:ea typeface="Calibri"/>
              <a:cs typeface="Calibri"/>
              <a:sym typeface="Calibri"/>
            </a:endParaRPr>
          </a:p>
        </p:txBody>
      </p:sp>
      <p:sp>
        <p:nvSpPr>
          <p:cNvPr id="61" name="Google Shape;61;p4"/>
          <p:cNvSpPr/>
          <p:nvPr/>
        </p:nvSpPr>
        <p:spPr>
          <a:xfrm>
            <a:off x="5577840" y="2697480"/>
            <a:ext cx="310896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400"/>
              <a:buFont typeface="Calibri"/>
              <a:buNone/>
            </a:pPr>
            <a:r>
              <a:rPr b="0" i="0" lang="en-US" sz="1600" u="none" cap="none" strike="noStrike">
                <a:solidFill>
                  <a:srgbClr val="1E293B"/>
                </a:solidFill>
                <a:latin typeface="Calibri"/>
                <a:ea typeface="Calibri"/>
                <a:cs typeface="Calibri"/>
                <a:sym typeface="Calibri"/>
              </a:rPr>
              <a:t>The 7 Golden Rules</a:t>
            </a:r>
            <a:endParaRPr b="0" i="0" sz="1600" u="none" cap="none" strike="noStrike">
              <a:solidFill>
                <a:schemeClr val="dk1"/>
              </a:solidFill>
              <a:latin typeface="Calibri"/>
              <a:ea typeface="Calibri"/>
              <a:cs typeface="Calibri"/>
              <a:sym typeface="Calibri"/>
            </a:endParaRPr>
          </a:p>
        </p:txBody>
      </p:sp>
      <p:sp>
        <p:nvSpPr>
          <p:cNvPr id="62" name="Google Shape;62;p4"/>
          <p:cNvSpPr/>
          <p:nvPr/>
        </p:nvSpPr>
        <p:spPr>
          <a:xfrm>
            <a:off x="4937760" y="3429000"/>
            <a:ext cx="3931920" cy="566928"/>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
          <p:cNvSpPr/>
          <p:nvPr/>
        </p:nvSpPr>
        <p:spPr>
          <a:xfrm>
            <a:off x="4937760" y="3429000"/>
            <a:ext cx="45720" cy="566928"/>
          </a:xfrm>
          <a:prstGeom prst="rect">
            <a:avLst/>
          </a:prstGeom>
          <a:solidFill>
            <a:srgbClr val="16A3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4"/>
          <p:cNvSpPr/>
          <p:nvPr/>
        </p:nvSpPr>
        <p:spPr>
          <a:xfrm>
            <a:off x="5120640" y="3429000"/>
            <a:ext cx="45720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A34A"/>
              </a:buClr>
              <a:buSzPts val="1300"/>
              <a:buFont typeface="Consolas"/>
              <a:buNone/>
            </a:pPr>
            <a:r>
              <a:rPr b="1" i="0" lang="en-US" sz="1300" u="none" cap="none" strike="noStrike">
                <a:solidFill>
                  <a:srgbClr val="16A34A"/>
                </a:solidFill>
                <a:latin typeface="Consolas"/>
                <a:ea typeface="Consolas"/>
                <a:cs typeface="Consolas"/>
                <a:sym typeface="Consolas"/>
              </a:rPr>
              <a:t>09</a:t>
            </a:r>
            <a:endParaRPr b="0" i="0" sz="1300" u="none" cap="none" strike="noStrike">
              <a:solidFill>
                <a:schemeClr val="dk1"/>
              </a:solidFill>
              <a:latin typeface="Calibri"/>
              <a:ea typeface="Calibri"/>
              <a:cs typeface="Calibri"/>
              <a:sym typeface="Calibri"/>
            </a:endParaRPr>
          </a:p>
        </p:txBody>
      </p:sp>
      <p:sp>
        <p:nvSpPr>
          <p:cNvPr id="65" name="Google Shape;65;p4"/>
          <p:cNvSpPr/>
          <p:nvPr/>
        </p:nvSpPr>
        <p:spPr>
          <a:xfrm>
            <a:off x="5577840" y="3429000"/>
            <a:ext cx="310896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400"/>
              <a:buFont typeface="Calibri"/>
              <a:buNone/>
            </a:pPr>
            <a:r>
              <a:rPr b="0" i="0" lang="en-US" sz="1600" u="none" cap="none" strike="noStrike">
                <a:solidFill>
                  <a:srgbClr val="1E293B"/>
                </a:solidFill>
                <a:latin typeface="Calibri"/>
                <a:ea typeface="Calibri"/>
                <a:cs typeface="Calibri"/>
                <a:sym typeface="Calibri"/>
              </a:rPr>
              <a:t>A Real Example: </a:t>
            </a:r>
            <a:r>
              <a:rPr lang="en-US" sz="1600">
                <a:solidFill>
                  <a:srgbClr val="1E293B"/>
                </a:solidFill>
                <a:latin typeface="Calibri"/>
                <a:ea typeface="Calibri"/>
                <a:cs typeface="Calibri"/>
                <a:sym typeface="Calibri"/>
              </a:rPr>
              <a:t>Ecomm</a:t>
            </a:r>
            <a:r>
              <a:rPr b="0" i="0" lang="en-US" sz="1600" u="none" cap="none" strike="noStrike">
                <a:solidFill>
                  <a:srgbClr val="1E293B"/>
                </a:solidFill>
                <a:latin typeface="Calibri"/>
                <a:ea typeface="Calibri"/>
                <a:cs typeface="Calibri"/>
                <a:sym typeface="Calibri"/>
              </a:rPr>
              <a:t> Mart</a:t>
            </a:r>
            <a:endParaRPr b="0" i="0" sz="1600" u="none" cap="none" strike="noStrike">
              <a:solidFill>
                <a:schemeClr val="dk1"/>
              </a:solidFill>
              <a:latin typeface="Calibri"/>
              <a:ea typeface="Calibri"/>
              <a:cs typeface="Calibri"/>
              <a:sym typeface="Calibri"/>
            </a:endParaRPr>
          </a:p>
        </p:txBody>
      </p:sp>
      <p:sp>
        <p:nvSpPr>
          <p:cNvPr id="66" name="Google Shape;66;p4"/>
          <p:cNvSpPr/>
          <p:nvPr/>
        </p:nvSpPr>
        <p:spPr>
          <a:xfrm>
            <a:off x="4937760" y="4160520"/>
            <a:ext cx="3931920" cy="566928"/>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4"/>
          <p:cNvSpPr/>
          <p:nvPr/>
        </p:nvSpPr>
        <p:spPr>
          <a:xfrm>
            <a:off x="4937760" y="4160520"/>
            <a:ext cx="45720" cy="566928"/>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4"/>
          <p:cNvSpPr/>
          <p:nvPr/>
        </p:nvSpPr>
        <p:spPr>
          <a:xfrm>
            <a:off x="5120640" y="4160520"/>
            <a:ext cx="45720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7316"/>
              </a:buClr>
              <a:buSzPts val="1300"/>
              <a:buFont typeface="Consolas"/>
              <a:buNone/>
            </a:pPr>
            <a:r>
              <a:rPr b="1" i="0" lang="en-US" sz="1300" u="none" cap="none" strike="noStrike">
                <a:solidFill>
                  <a:srgbClr val="F97316"/>
                </a:solidFill>
                <a:latin typeface="Consolas"/>
                <a:ea typeface="Consolas"/>
                <a:cs typeface="Consolas"/>
                <a:sym typeface="Consolas"/>
              </a:rPr>
              <a:t>10</a:t>
            </a:r>
            <a:endParaRPr b="0" i="0" sz="1300" u="none" cap="none" strike="noStrike">
              <a:solidFill>
                <a:schemeClr val="dk1"/>
              </a:solidFill>
              <a:latin typeface="Calibri"/>
              <a:ea typeface="Calibri"/>
              <a:cs typeface="Calibri"/>
              <a:sym typeface="Calibri"/>
            </a:endParaRPr>
          </a:p>
        </p:txBody>
      </p:sp>
      <p:sp>
        <p:nvSpPr>
          <p:cNvPr id="69" name="Google Shape;69;p4"/>
          <p:cNvSpPr/>
          <p:nvPr/>
        </p:nvSpPr>
        <p:spPr>
          <a:xfrm>
            <a:off x="5577840" y="4160520"/>
            <a:ext cx="310896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400"/>
              <a:buFont typeface="Calibri"/>
              <a:buNone/>
            </a:pPr>
            <a:r>
              <a:rPr b="0" i="0" lang="en-US" sz="1600" u="none" cap="none" strike="noStrike">
                <a:solidFill>
                  <a:srgbClr val="1E293B"/>
                </a:solidFill>
                <a:latin typeface="Calibri"/>
                <a:ea typeface="Calibri"/>
                <a:cs typeface="Calibri"/>
                <a:sym typeface="Calibri"/>
              </a:rPr>
              <a:t>Key Vocabulary &amp; What's Next</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74" name="Shape 74"/>
        <p:cNvGrpSpPr/>
        <p:nvPr/>
      </p:nvGrpSpPr>
      <p:grpSpPr>
        <a:xfrm>
          <a:off x="0" y="0"/>
          <a:ext cx="0" cy="0"/>
          <a:chOff x="0" y="0"/>
          <a:chExt cx="0" cy="0"/>
        </a:xfrm>
      </p:grpSpPr>
      <p:sp>
        <p:nvSpPr>
          <p:cNvPr id="75" name="Google Shape;75;p5"/>
          <p:cNvSpPr/>
          <p:nvPr/>
        </p:nvSpPr>
        <p:spPr>
          <a:xfrm>
            <a:off x="6858000" y="-1371600"/>
            <a:ext cx="4572000" cy="4572000"/>
          </a:xfrm>
          <a:prstGeom prst="ellipse">
            <a:avLst/>
          </a:prstGeom>
          <a:solidFill>
            <a:srgbClr val="3341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5"/>
          <p:cNvSpPr/>
          <p:nvPr/>
        </p:nvSpPr>
        <p:spPr>
          <a:xfrm>
            <a:off x="7315200" y="3200400"/>
            <a:ext cx="3657600" cy="3657600"/>
          </a:xfrm>
          <a:prstGeom prst="ellipse">
            <a:avLst/>
          </a:prstGeom>
          <a:solidFill>
            <a:srgbClr val="475569">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5"/>
          <p:cNvSpPr/>
          <p:nvPr/>
        </p:nvSpPr>
        <p:spPr>
          <a:xfrm>
            <a:off x="731520" y="1371600"/>
            <a:ext cx="7315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9488"/>
              </a:buClr>
              <a:buSzPts val="1300"/>
              <a:buFont typeface="Consolas"/>
              <a:buNone/>
            </a:pPr>
            <a:r>
              <a:rPr b="1" i="0" lang="en-US" sz="1300" u="none" cap="none" strike="noStrike">
                <a:solidFill>
                  <a:srgbClr val="0D9488"/>
                </a:solidFill>
                <a:latin typeface="Consolas"/>
                <a:ea typeface="Consolas"/>
                <a:cs typeface="Consolas"/>
                <a:sym typeface="Consolas"/>
              </a:rPr>
              <a:t>PART 01</a:t>
            </a:r>
            <a:endParaRPr b="0" i="0" sz="1300" u="none" cap="none" strike="noStrike">
              <a:solidFill>
                <a:schemeClr val="dk1"/>
              </a:solidFill>
              <a:latin typeface="Calibri"/>
              <a:ea typeface="Calibri"/>
              <a:cs typeface="Calibri"/>
              <a:sym typeface="Calibri"/>
            </a:endParaRPr>
          </a:p>
        </p:txBody>
      </p:sp>
      <p:sp>
        <p:nvSpPr>
          <p:cNvPr id="78" name="Google Shape;78;p5"/>
          <p:cNvSpPr/>
          <p:nvPr/>
        </p:nvSpPr>
        <p:spPr>
          <a:xfrm>
            <a:off x="731520" y="1920240"/>
            <a:ext cx="6858000" cy="1463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4000"/>
              <a:buFont typeface="Georgia"/>
              <a:buNone/>
            </a:pPr>
            <a:r>
              <a:rPr b="0" i="0" lang="en-US" sz="4000" u="none" cap="none" strike="noStrike">
                <a:solidFill>
                  <a:srgbClr val="FFFFFF"/>
                </a:solidFill>
                <a:latin typeface="Georgia"/>
                <a:ea typeface="Georgia"/>
                <a:cs typeface="Georgia"/>
                <a:sym typeface="Georgia"/>
              </a:rPr>
              <a:t>What is AI, Really?</a:t>
            </a:r>
            <a:endParaRPr b="0" i="0" sz="4000" u="none" cap="none" strike="noStrike">
              <a:solidFill>
                <a:schemeClr val="dk1"/>
              </a:solidFill>
              <a:latin typeface="Calibri"/>
              <a:ea typeface="Calibri"/>
              <a:cs typeface="Calibri"/>
              <a:sym typeface="Calibri"/>
            </a:endParaRPr>
          </a:p>
        </p:txBody>
      </p:sp>
      <p:sp>
        <p:nvSpPr>
          <p:cNvPr id="79" name="Google Shape;79;p5"/>
          <p:cNvSpPr/>
          <p:nvPr/>
        </p:nvSpPr>
        <p:spPr>
          <a:xfrm>
            <a:off x="731520" y="3840480"/>
            <a:ext cx="1097280" cy="54864"/>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0" name="Google Shape;80;p5"/>
          <p:cNvPicPr preferRelativeResize="0"/>
          <p:nvPr/>
        </p:nvPicPr>
        <p:blipFill rotWithShape="1">
          <a:blip r:embed="rId3">
            <a:alphaModFix/>
          </a:blip>
          <a:srcRect b="0" l="0" r="0" t="0"/>
          <a:stretch/>
        </p:blipFill>
        <p:spPr>
          <a:xfrm>
            <a:off x="7772400" y="3931920"/>
            <a:ext cx="640080" cy="64008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pic>
        <p:nvPicPr>
          <p:cNvPr id="86" name="Google Shape;86;p6" title="WhatsApp Image 2026-05-21 at 11.28.10 PM.jpeg"/>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 name="Shape 91"/>
        <p:cNvGrpSpPr/>
        <p:nvPr/>
      </p:nvGrpSpPr>
      <p:grpSpPr>
        <a:xfrm>
          <a:off x="0" y="0"/>
          <a:ext cx="0" cy="0"/>
          <a:chOff x="0" y="0"/>
          <a:chExt cx="0" cy="0"/>
        </a:xfrm>
      </p:grpSpPr>
      <p:sp>
        <p:nvSpPr>
          <p:cNvPr id="92" name="Google Shape;92;p7"/>
          <p:cNvSpPr/>
          <p:nvPr/>
        </p:nvSpPr>
        <p:spPr>
          <a:xfrm>
            <a:off x="731520" y="320040"/>
            <a:ext cx="768096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2800"/>
              <a:buFont typeface="Georgia"/>
              <a:buNone/>
            </a:pPr>
            <a:r>
              <a:rPr b="0" i="0" lang="en-US" sz="2800" u="none" cap="none" strike="noStrike">
                <a:solidFill>
                  <a:srgbClr val="1E293B"/>
                </a:solidFill>
                <a:latin typeface="Georgia"/>
                <a:ea typeface="Georgia"/>
                <a:cs typeface="Georgia"/>
                <a:sym typeface="Georgia"/>
              </a:rPr>
              <a:t>Breaking Down "Artificial Intelligence"</a:t>
            </a:r>
            <a:endParaRPr b="0" i="0" sz="2800" u="none" cap="none" strike="noStrike">
              <a:solidFill>
                <a:schemeClr val="dk1"/>
              </a:solidFill>
              <a:latin typeface="Calibri"/>
              <a:ea typeface="Calibri"/>
              <a:cs typeface="Calibri"/>
              <a:sym typeface="Calibri"/>
            </a:endParaRPr>
          </a:p>
        </p:txBody>
      </p:sp>
      <p:sp>
        <p:nvSpPr>
          <p:cNvPr id="93" name="Google Shape;93;p7"/>
          <p:cNvSpPr/>
          <p:nvPr/>
        </p:nvSpPr>
        <p:spPr>
          <a:xfrm>
            <a:off x="731520" y="1188720"/>
            <a:ext cx="3657600" cy="1371600"/>
          </a:xfrm>
          <a:prstGeom prst="rect">
            <a:avLst/>
          </a:prstGeom>
          <a:solidFill>
            <a:srgbClr val="F0F2F5"/>
          </a:solidFill>
          <a:ln>
            <a:noFill/>
          </a:ln>
          <a:effectLst>
            <a:outerShdw blurRad="76200" rotWithShape="0" algn="bl" dir="162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7"/>
          <p:cNvSpPr/>
          <p:nvPr/>
        </p:nvSpPr>
        <p:spPr>
          <a:xfrm>
            <a:off x="731520" y="1188720"/>
            <a:ext cx="3657600" cy="45720"/>
          </a:xfrm>
          <a:prstGeom prst="rect">
            <a:avLst/>
          </a:prstGeom>
          <a:solidFill>
            <a:srgbClr val="94A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7"/>
          <p:cNvSpPr/>
          <p:nvPr/>
        </p:nvSpPr>
        <p:spPr>
          <a:xfrm>
            <a:off x="960120" y="1325880"/>
            <a:ext cx="3200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75569"/>
              </a:buClr>
              <a:buSzPts val="1400"/>
              <a:buFont typeface="Consolas"/>
              <a:buNone/>
            </a:pPr>
            <a:r>
              <a:rPr b="1" i="0" lang="en-US" sz="1400" u="none" cap="none" strike="noStrike">
                <a:solidFill>
                  <a:srgbClr val="475569"/>
                </a:solidFill>
                <a:latin typeface="Consolas"/>
                <a:ea typeface="Consolas"/>
                <a:cs typeface="Consolas"/>
                <a:sym typeface="Consolas"/>
              </a:rPr>
              <a:t>Artificial</a:t>
            </a:r>
            <a:endParaRPr b="0" i="0" sz="1400" u="none" cap="none" strike="noStrike">
              <a:solidFill>
                <a:schemeClr val="dk1"/>
              </a:solidFill>
              <a:latin typeface="Calibri"/>
              <a:ea typeface="Calibri"/>
              <a:cs typeface="Calibri"/>
              <a:sym typeface="Calibri"/>
            </a:endParaRPr>
          </a:p>
        </p:txBody>
      </p:sp>
      <p:sp>
        <p:nvSpPr>
          <p:cNvPr id="96" name="Google Shape;96;p7"/>
          <p:cNvSpPr/>
          <p:nvPr/>
        </p:nvSpPr>
        <p:spPr>
          <a:xfrm>
            <a:off x="960120" y="1691640"/>
            <a:ext cx="320040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475569"/>
              </a:buClr>
              <a:buSzPts val="1300"/>
              <a:buFont typeface="Calibri"/>
              <a:buNone/>
            </a:pPr>
            <a:r>
              <a:rPr b="0" i="0" lang="en-US" u="none" cap="none" strike="noStrike">
                <a:solidFill>
                  <a:srgbClr val="475569"/>
                </a:solidFill>
                <a:latin typeface="Calibri"/>
                <a:ea typeface="Calibri"/>
                <a:cs typeface="Calibri"/>
                <a:sym typeface="Calibri"/>
              </a:rPr>
              <a:t>Made by humans, not by nature.</a:t>
            </a:r>
            <a:endParaRPr b="0" i="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475569"/>
              </a:buClr>
              <a:buSzPts val="1300"/>
              <a:buFont typeface="Calibri"/>
              <a:buNone/>
            </a:pPr>
            <a:r>
              <a:rPr b="0" i="0" lang="en-US" u="none" cap="none" strike="noStrike">
                <a:solidFill>
                  <a:srgbClr val="475569"/>
                </a:solidFill>
                <a:latin typeface="Calibri"/>
                <a:ea typeface="Calibri"/>
                <a:cs typeface="Calibri"/>
                <a:sym typeface="Calibri"/>
              </a:rPr>
              <a:t>A plastic flower is artificial.</a:t>
            </a:r>
            <a:endParaRPr b="0" i="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475569"/>
              </a:buClr>
              <a:buSzPts val="1300"/>
              <a:buFont typeface="Calibri"/>
              <a:buNone/>
            </a:pPr>
            <a:r>
              <a:rPr b="0" i="0" lang="en-US" u="none" cap="none" strike="noStrike">
                <a:solidFill>
                  <a:srgbClr val="475569"/>
                </a:solidFill>
                <a:latin typeface="Calibri"/>
                <a:ea typeface="Calibri"/>
                <a:cs typeface="Calibri"/>
                <a:sym typeface="Calibri"/>
              </a:rPr>
              <a:t>AI is intelligence built from software.</a:t>
            </a:r>
            <a:endParaRPr b="0" i="0" u="none" cap="none" strike="noStrike">
              <a:solidFill>
                <a:schemeClr val="dk1"/>
              </a:solidFill>
              <a:latin typeface="Calibri"/>
              <a:ea typeface="Calibri"/>
              <a:cs typeface="Calibri"/>
              <a:sym typeface="Calibri"/>
            </a:endParaRPr>
          </a:p>
        </p:txBody>
      </p:sp>
      <p:sp>
        <p:nvSpPr>
          <p:cNvPr id="97" name="Google Shape;97;p7"/>
          <p:cNvSpPr/>
          <p:nvPr/>
        </p:nvSpPr>
        <p:spPr>
          <a:xfrm>
            <a:off x="4754880" y="1188720"/>
            <a:ext cx="3657600" cy="1371600"/>
          </a:xfrm>
          <a:prstGeom prst="rect">
            <a:avLst/>
          </a:prstGeom>
          <a:solidFill>
            <a:srgbClr val="F0F2F5"/>
          </a:solidFill>
          <a:ln>
            <a:noFill/>
          </a:ln>
          <a:effectLst>
            <a:outerShdw blurRad="76200" rotWithShape="0" algn="bl" dir="162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7"/>
          <p:cNvSpPr/>
          <p:nvPr/>
        </p:nvSpPr>
        <p:spPr>
          <a:xfrm>
            <a:off x="4754880" y="1188720"/>
            <a:ext cx="3657600" cy="4572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7"/>
          <p:cNvSpPr/>
          <p:nvPr/>
        </p:nvSpPr>
        <p:spPr>
          <a:xfrm>
            <a:off x="4983480" y="1303030"/>
            <a:ext cx="32004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766E"/>
              </a:buClr>
              <a:buSzPts val="1400"/>
              <a:buFont typeface="Consolas"/>
              <a:buNone/>
            </a:pPr>
            <a:r>
              <a:rPr b="1" i="0" lang="en-US" sz="1400" u="none" cap="none" strike="noStrike">
                <a:solidFill>
                  <a:srgbClr val="0F766E"/>
                </a:solidFill>
                <a:latin typeface="Consolas"/>
                <a:ea typeface="Consolas"/>
                <a:cs typeface="Consolas"/>
                <a:sym typeface="Consolas"/>
              </a:rPr>
              <a:t>Intelligence</a:t>
            </a:r>
            <a:endParaRPr b="0" i="0" sz="1400" u="none" cap="none" strike="noStrike">
              <a:solidFill>
                <a:schemeClr val="dk1"/>
              </a:solidFill>
              <a:latin typeface="Calibri"/>
              <a:ea typeface="Calibri"/>
              <a:cs typeface="Calibri"/>
              <a:sym typeface="Calibri"/>
            </a:endParaRPr>
          </a:p>
        </p:txBody>
      </p:sp>
      <p:sp>
        <p:nvSpPr>
          <p:cNvPr id="100" name="Google Shape;100;p7"/>
          <p:cNvSpPr/>
          <p:nvPr/>
        </p:nvSpPr>
        <p:spPr>
          <a:xfrm>
            <a:off x="4983480" y="1691640"/>
            <a:ext cx="320040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475569"/>
              </a:buClr>
              <a:buSzPts val="1300"/>
              <a:buFont typeface="Calibri"/>
              <a:buNone/>
            </a:pPr>
            <a:r>
              <a:rPr b="0" i="0" lang="en-US" u="none" cap="none" strike="noStrike">
                <a:solidFill>
                  <a:srgbClr val="475569"/>
                </a:solidFill>
                <a:latin typeface="Calibri"/>
                <a:ea typeface="Calibri"/>
                <a:cs typeface="Calibri"/>
                <a:sym typeface="Calibri"/>
              </a:rPr>
              <a:t>The ability to learn, understand,</a:t>
            </a:r>
            <a:endParaRPr b="0" i="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475569"/>
              </a:buClr>
              <a:buSzPts val="1300"/>
              <a:buFont typeface="Calibri"/>
              <a:buNone/>
            </a:pPr>
            <a:r>
              <a:rPr b="0" i="0" lang="en-US" u="none" cap="none" strike="noStrike">
                <a:solidFill>
                  <a:srgbClr val="475569"/>
                </a:solidFill>
                <a:latin typeface="Calibri"/>
                <a:ea typeface="Calibri"/>
                <a:cs typeface="Calibri"/>
                <a:sym typeface="Calibri"/>
              </a:rPr>
              <a:t>and make decisions.</a:t>
            </a:r>
            <a:endParaRPr b="0" i="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475569"/>
              </a:buClr>
              <a:buSzPts val="1300"/>
              <a:buFont typeface="Calibri"/>
              <a:buNone/>
            </a:pPr>
            <a:r>
              <a:rPr b="0" i="0" lang="en-US" u="none" cap="none" strike="noStrike">
                <a:solidFill>
                  <a:srgbClr val="475569"/>
                </a:solidFill>
                <a:latin typeface="Calibri"/>
                <a:ea typeface="Calibri"/>
                <a:cs typeface="Calibri"/>
                <a:sym typeface="Calibri"/>
              </a:rPr>
              <a:t>Humans have natural intelligence.</a:t>
            </a:r>
            <a:endParaRPr b="0" i="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475569"/>
              </a:buClr>
              <a:buSzPts val="1300"/>
              <a:buFont typeface="Calibri"/>
              <a:buNone/>
            </a:pPr>
            <a:r>
              <a:rPr b="0" i="0" lang="en-US" u="none" cap="none" strike="noStrike">
                <a:solidFill>
                  <a:srgbClr val="475569"/>
                </a:solidFill>
                <a:latin typeface="Calibri"/>
                <a:ea typeface="Calibri"/>
                <a:cs typeface="Calibri"/>
                <a:sym typeface="Calibri"/>
              </a:rPr>
              <a:t>AI has a version built from data.</a:t>
            </a:r>
            <a:endParaRPr b="0" i="0" u="none" cap="none" strike="noStrike">
              <a:solidFill>
                <a:schemeClr val="dk1"/>
              </a:solidFill>
              <a:latin typeface="Calibri"/>
              <a:ea typeface="Calibri"/>
              <a:cs typeface="Calibri"/>
              <a:sym typeface="Calibri"/>
            </a:endParaRPr>
          </a:p>
        </p:txBody>
      </p:sp>
      <p:sp>
        <p:nvSpPr>
          <p:cNvPr id="101" name="Google Shape;101;p7"/>
          <p:cNvSpPr/>
          <p:nvPr/>
        </p:nvSpPr>
        <p:spPr>
          <a:xfrm>
            <a:off x="731520" y="2926080"/>
            <a:ext cx="73152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F46E5"/>
              </a:buClr>
              <a:buSzPts val="2000"/>
              <a:buFont typeface="Georgia"/>
              <a:buNone/>
            </a:pPr>
            <a:r>
              <a:rPr b="0" i="0" lang="en-US" sz="2000" u="none" cap="none" strike="noStrike">
                <a:solidFill>
                  <a:srgbClr val="4F46E5"/>
                </a:solidFill>
                <a:latin typeface="Georgia"/>
                <a:ea typeface="Georgia"/>
                <a:cs typeface="Georgia"/>
                <a:sym typeface="Georgia"/>
              </a:rPr>
              <a:t>Everyday Examples You Already Use</a:t>
            </a:r>
            <a:endParaRPr b="0" i="0" sz="2000" u="none" cap="none" strike="noStrike">
              <a:solidFill>
                <a:schemeClr val="dk1"/>
              </a:solidFill>
              <a:latin typeface="Calibri"/>
              <a:ea typeface="Calibri"/>
              <a:cs typeface="Calibri"/>
              <a:sym typeface="Calibri"/>
            </a:endParaRPr>
          </a:p>
        </p:txBody>
      </p:sp>
      <p:sp>
        <p:nvSpPr>
          <p:cNvPr id="102" name="Google Shape;102;p7"/>
          <p:cNvSpPr/>
          <p:nvPr/>
        </p:nvSpPr>
        <p:spPr>
          <a:xfrm>
            <a:off x="731520" y="3520440"/>
            <a:ext cx="1874520" cy="1188720"/>
          </a:xfrm>
          <a:prstGeom prst="rect">
            <a:avLst/>
          </a:prstGeom>
          <a:solidFill>
            <a:srgbClr val="FFFFFF"/>
          </a:solidFill>
          <a:ln>
            <a:noFill/>
          </a:ln>
          <a:effectLst>
            <a:outerShdw blurRad="76200" rotWithShape="0" algn="bl" dir="162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7"/>
          <p:cNvSpPr/>
          <p:nvPr/>
        </p:nvSpPr>
        <p:spPr>
          <a:xfrm>
            <a:off x="731520" y="3520440"/>
            <a:ext cx="1874520" cy="36576"/>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7"/>
          <p:cNvSpPr/>
          <p:nvPr/>
        </p:nvSpPr>
        <p:spPr>
          <a:xfrm>
            <a:off x="868680" y="3611880"/>
            <a:ext cx="1600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9488"/>
              </a:buClr>
              <a:buSzPts val="1200"/>
              <a:buFont typeface="Calibri"/>
              <a:buNone/>
            </a:pPr>
            <a:r>
              <a:rPr b="1" i="0" lang="en-US" sz="1200" u="none" cap="none" strike="noStrike">
                <a:solidFill>
                  <a:srgbClr val="0D9488"/>
                </a:solidFill>
                <a:latin typeface="Calibri"/>
                <a:ea typeface="Calibri"/>
                <a:cs typeface="Calibri"/>
                <a:sym typeface="Calibri"/>
              </a:rPr>
              <a:t>Google Translate</a:t>
            </a:r>
            <a:endParaRPr b="0" i="0" sz="1200" u="none" cap="none" strike="noStrike">
              <a:solidFill>
                <a:schemeClr val="dk1"/>
              </a:solidFill>
              <a:latin typeface="Calibri"/>
              <a:ea typeface="Calibri"/>
              <a:cs typeface="Calibri"/>
              <a:sym typeface="Calibri"/>
            </a:endParaRPr>
          </a:p>
        </p:txBody>
      </p:sp>
      <p:sp>
        <p:nvSpPr>
          <p:cNvPr id="105" name="Google Shape;105;p7"/>
          <p:cNvSpPr/>
          <p:nvPr/>
        </p:nvSpPr>
        <p:spPr>
          <a:xfrm>
            <a:off x="868680" y="3977640"/>
            <a:ext cx="16002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4A3B8"/>
              </a:buClr>
              <a:buSzPts val="1100"/>
              <a:buFont typeface="Calibri"/>
              <a:buNone/>
            </a:pPr>
            <a:r>
              <a:rPr b="0" i="0" lang="en-US" sz="1100" u="none" cap="none" strike="noStrike">
                <a:solidFill>
                  <a:srgbClr val="94A3B8"/>
                </a:solidFill>
                <a:latin typeface="Calibri"/>
                <a:ea typeface="Calibri"/>
                <a:cs typeface="Calibri"/>
                <a:sym typeface="Calibri"/>
              </a:rPr>
              <a:t>Reads Urdu, gives English</a:t>
            </a:r>
            <a:endParaRPr b="0" i="0" sz="1100" u="none" cap="none" strike="noStrike">
              <a:solidFill>
                <a:schemeClr val="dk1"/>
              </a:solidFill>
              <a:latin typeface="Calibri"/>
              <a:ea typeface="Calibri"/>
              <a:cs typeface="Calibri"/>
              <a:sym typeface="Calibri"/>
            </a:endParaRPr>
          </a:p>
        </p:txBody>
      </p:sp>
      <p:sp>
        <p:nvSpPr>
          <p:cNvPr id="106" name="Google Shape;106;p7"/>
          <p:cNvSpPr/>
          <p:nvPr/>
        </p:nvSpPr>
        <p:spPr>
          <a:xfrm>
            <a:off x="2788920" y="3520440"/>
            <a:ext cx="1874520" cy="1188720"/>
          </a:xfrm>
          <a:prstGeom prst="rect">
            <a:avLst/>
          </a:prstGeom>
          <a:solidFill>
            <a:srgbClr val="FFFFFF"/>
          </a:solidFill>
          <a:ln>
            <a:noFill/>
          </a:ln>
          <a:effectLst>
            <a:outerShdw blurRad="76200" rotWithShape="0" algn="bl" dir="162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7"/>
          <p:cNvSpPr/>
          <p:nvPr/>
        </p:nvSpPr>
        <p:spPr>
          <a:xfrm>
            <a:off x="2788920" y="3520440"/>
            <a:ext cx="1874520" cy="36576"/>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a:off x="2926080" y="3611880"/>
            <a:ext cx="1600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7316"/>
              </a:buClr>
              <a:buSzPts val="1200"/>
              <a:buFont typeface="Calibri"/>
              <a:buNone/>
            </a:pPr>
            <a:r>
              <a:rPr b="1" i="0" lang="en-US" sz="1200" u="none" cap="none" strike="noStrike">
                <a:solidFill>
                  <a:srgbClr val="F97316"/>
                </a:solidFill>
                <a:latin typeface="Calibri"/>
                <a:ea typeface="Calibri"/>
                <a:cs typeface="Calibri"/>
                <a:sym typeface="Calibri"/>
              </a:rPr>
              <a:t>YouTube Recs</a:t>
            </a:r>
            <a:endParaRPr b="0" i="0" sz="1200" u="none" cap="none" strike="noStrike">
              <a:solidFill>
                <a:schemeClr val="dk1"/>
              </a:solidFill>
              <a:latin typeface="Calibri"/>
              <a:ea typeface="Calibri"/>
              <a:cs typeface="Calibri"/>
              <a:sym typeface="Calibri"/>
            </a:endParaRPr>
          </a:p>
        </p:txBody>
      </p:sp>
      <p:sp>
        <p:nvSpPr>
          <p:cNvPr id="109" name="Google Shape;109;p7"/>
          <p:cNvSpPr/>
          <p:nvPr/>
        </p:nvSpPr>
        <p:spPr>
          <a:xfrm>
            <a:off x="2926080" y="3977640"/>
            <a:ext cx="16002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4A3B8"/>
              </a:buClr>
              <a:buSzPts val="1100"/>
              <a:buFont typeface="Calibri"/>
              <a:buNone/>
            </a:pPr>
            <a:r>
              <a:rPr b="0" i="0" lang="en-US" sz="1100" u="none" cap="none" strike="noStrike">
                <a:solidFill>
                  <a:srgbClr val="94A3B8"/>
                </a:solidFill>
                <a:latin typeface="Calibri"/>
                <a:ea typeface="Calibri"/>
                <a:cs typeface="Calibri"/>
                <a:sym typeface="Calibri"/>
              </a:rPr>
              <a:t>Spots patterns in what you like</a:t>
            </a:r>
            <a:endParaRPr b="0" i="0" sz="1100" u="none" cap="none" strike="noStrike">
              <a:solidFill>
                <a:schemeClr val="dk1"/>
              </a:solidFill>
              <a:latin typeface="Calibri"/>
              <a:ea typeface="Calibri"/>
              <a:cs typeface="Calibri"/>
              <a:sym typeface="Calibri"/>
            </a:endParaRPr>
          </a:p>
        </p:txBody>
      </p:sp>
      <p:sp>
        <p:nvSpPr>
          <p:cNvPr id="110" name="Google Shape;110;p7"/>
          <p:cNvSpPr/>
          <p:nvPr/>
        </p:nvSpPr>
        <p:spPr>
          <a:xfrm>
            <a:off x="4846320" y="3520440"/>
            <a:ext cx="1874520" cy="1188720"/>
          </a:xfrm>
          <a:prstGeom prst="rect">
            <a:avLst/>
          </a:prstGeom>
          <a:solidFill>
            <a:srgbClr val="FFFFFF"/>
          </a:solidFill>
          <a:ln>
            <a:noFill/>
          </a:ln>
          <a:effectLst>
            <a:outerShdw blurRad="76200" rotWithShape="0" algn="bl" dir="162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7"/>
          <p:cNvSpPr/>
          <p:nvPr/>
        </p:nvSpPr>
        <p:spPr>
          <a:xfrm>
            <a:off x="4846320" y="3520440"/>
            <a:ext cx="1874520" cy="36576"/>
          </a:xfrm>
          <a:prstGeom prst="rect">
            <a:avLst/>
          </a:prstGeom>
          <a:solidFill>
            <a:srgbClr val="4F46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7"/>
          <p:cNvSpPr/>
          <p:nvPr/>
        </p:nvSpPr>
        <p:spPr>
          <a:xfrm>
            <a:off x="4983480" y="3611880"/>
            <a:ext cx="1600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F46E5"/>
              </a:buClr>
              <a:buSzPts val="1200"/>
              <a:buFont typeface="Calibri"/>
              <a:buNone/>
            </a:pPr>
            <a:r>
              <a:rPr b="1" i="0" lang="en-US" sz="1200" u="none" cap="none" strike="noStrike">
                <a:solidFill>
                  <a:srgbClr val="4F46E5"/>
                </a:solidFill>
                <a:latin typeface="Calibri"/>
                <a:ea typeface="Calibri"/>
                <a:cs typeface="Calibri"/>
                <a:sym typeface="Calibri"/>
              </a:rPr>
              <a:t>Auto-correct</a:t>
            </a:r>
            <a:endParaRPr b="0" i="0" sz="1200" u="none" cap="none" strike="noStrike">
              <a:solidFill>
                <a:schemeClr val="dk1"/>
              </a:solidFill>
              <a:latin typeface="Calibri"/>
              <a:ea typeface="Calibri"/>
              <a:cs typeface="Calibri"/>
              <a:sym typeface="Calibri"/>
            </a:endParaRPr>
          </a:p>
        </p:txBody>
      </p:sp>
      <p:sp>
        <p:nvSpPr>
          <p:cNvPr id="113" name="Google Shape;113;p7"/>
          <p:cNvSpPr/>
          <p:nvPr/>
        </p:nvSpPr>
        <p:spPr>
          <a:xfrm>
            <a:off x="4983480" y="3977640"/>
            <a:ext cx="16002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4A3B8"/>
              </a:buClr>
              <a:buSzPts val="1100"/>
              <a:buFont typeface="Calibri"/>
              <a:buNone/>
            </a:pPr>
            <a:r>
              <a:rPr b="0" i="0" lang="en-US" sz="1100" u="none" cap="none" strike="noStrike">
                <a:solidFill>
                  <a:srgbClr val="94A3B8"/>
                </a:solidFill>
                <a:latin typeface="Calibri"/>
                <a:ea typeface="Calibri"/>
                <a:cs typeface="Calibri"/>
                <a:sym typeface="Calibri"/>
              </a:rPr>
              <a:t>Predicts the word you meant</a:t>
            </a:r>
            <a:endParaRPr b="0" i="0" sz="1100" u="none" cap="none" strike="noStrike">
              <a:solidFill>
                <a:schemeClr val="dk1"/>
              </a:solidFill>
              <a:latin typeface="Calibri"/>
              <a:ea typeface="Calibri"/>
              <a:cs typeface="Calibri"/>
              <a:sym typeface="Calibri"/>
            </a:endParaRPr>
          </a:p>
        </p:txBody>
      </p:sp>
      <p:sp>
        <p:nvSpPr>
          <p:cNvPr id="114" name="Google Shape;114;p7"/>
          <p:cNvSpPr/>
          <p:nvPr/>
        </p:nvSpPr>
        <p:spPr>
          <a:xfrm>
            <a:off x="6903720" y="3520440"/>
            <a:ext cx="1874520" cy="1188720"/>
          </a:xfrm>
          <a:prstGeom prst="rect">
            <a:avLst/>
          </a:prstGeom>
          <a:solidFill>
            <a:srgbClr val="FFFFFF"/>
          </a:solidFill>
          <a:ln>
            <a:noFill/>
          </a:ln>
          <a:effectLst>
            <a:outerShdw blurRad="76200" rotWithShape="0" algn="bl" dir="162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7"/>
          <p:cNvSpPr/>
          <p:nvPr/>
        </p:nvSpPr>
        <p:spPr>
          <a:xfrm>
            <a:off x="6903720" y="3520440"/>
            <a:ext cx="1874520" cy="36576"/>
          </a:xfrm>
          <a:prstGeom prst="rect">
            <a:avLst/>
          </a:prstGeom>
          <a:solidFill>
            <a:srgbClr val="E11D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7"/>
          <p:cNvSpPr/>
          <p:nvPr/>
        </p:nvSpPr>
        <p:spPr>
          <a:xfrm>
            <a:off x="7040880" y="3611880"/>
            <a:ext cx="1600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11D48"/>
              </a:buClr>
              <a:buSzPts val="1200"/>
              <a:buFont typeface="Calibri"/>
              <a:buNone/>
            </a:pPr>
            <a:r>
              <a:rPr b="1" i="0" lang="en-US" sz="1200" u="none" cap="none" strike="noStrike">
                <a:solidFill>
                  <a:srgbClr val="E11D48"/>
                </a:solidFill>
                <a:latin typeface="Calibri"/>
                <a:ea typeface="Calibri"/>
                <a:cs typeface="Calibri"/>
                <a:sym typeface="Calibri"/>
              </a:rPr>
              <a:t>ChatGPT / Claude</a:t>
            </a:r>
            <a:endParaRPr b="0" i="0" sz="1200" u="none" cap="none" strike="noStrike">
              <a:solidFill>
                <a:schemeClr val="dk1"/>
              </a:solidFill>
              <a:latin typeface="Calibri"/>
              <a:ea typeface="Calibri"/>
              <a:cs typeface="Calibri"/>
              <a:sym typeface="Calibri"/>
            </a:endParaRPr>
          </a:p>
        </p:txBody>
      </p:sp>
      <p:sp>
        <p:nvSpPr>
          <p:cNvPr id="117" name="Google Shape;117;p7"/>
          <p:cNvSpPr/>
          <p:nvPr/>
        </p:nvSpPr>
        <p:spPr>
          <a:xfrm>
            <a:off x="7040880" y="3977640"/>
            <a:ext cx="16002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4A3B8"/>
              </a:buClr>
              <a:buSzPts val="1100"/>
              <a:buFont typeface="Calibri"/>
              <a:buNone/>
            </a:pPr>
            <a:r>
              <a:rPr b="0" i="0" lang="en-US" sz="1100" u="none" cap="none" strike="noStrike">
                <a:solidFill>
                  <a:srgbClr val="94A3B8"/>
                </a:solidFill>
                <a:latin typeface="Calibri"/>
                <a:ea typeface="Calibri"/>
                <a:cs typeface="Calibri"/>
                <a:sym typeface="Calibri"/>
              </a:rPr>
              <a:t>Writes answers from questions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122" name="Shape 122"/>
        <p:cNvGrpSpPr/>
        <p:nvPr/>
      </p:nvGrpSpPr>
      <p:grpSpPr>
        <a:xfrm>
          <a:off x="0" y="0"/>
          <a:ext cx="0" cy="0"/>
          <a:chOff x="0" y="0"/>
          <a:chExt cx="0" cy="0"/>
        </a:xfrm>
      </p:grpSpPr>
      <p:sp>
        <p:nvSpPr>
          <p:cNvPr id="123" name="Google Shape;123;p8"/>
          <p:cNvSpPr/>
          <p:nvPr/>
        </p:nvSpPr>
        <p:spPr>
          <a:xfrm>
            <a:off x="1097280" y="731520"/>
            <a:ext cx="6949440" cy="3657600"/>
          </a:xfrm>
          <a:prstGeom prst="rect">
            <a:avLst/>
          </a:prstGeom>
          <a:solidFill>
            <a:srgbClr val="FFFFFF"/>
          </a:solidFill>
          <a:ln>
            <a:noFill/>
          </a:ln>
          <a:effectLst>
            <a:outerShdw blurRad="127000" rotWithShape="0" algn="bl" dir="162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a:off x="1097280" y="731520"/>
            <a:ext cx="6949440" cy="54864"/>
          </a:xfrm>
          <a:prstGeom prst="rect">
            <a:avLst/>
          </a:prstGeom>
          <a:solidFill>
            <a:srgbClr val="E11D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8"/>
          <p:cNvSpPr/>
          <p:nvPr/>
        </p:nvSpPr>
        <p:spPr>
          <a:xfrm>
            <a:off x="1371600" y="1005840"/>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11D48"/>
              </a:buClr>
              <a:buSzPts val="1100"/>
              <a:buFont typeface="Consolas"/>
              <a:buNone/>
            </a:pPr>
            <a:r>
              <a:rPr b="0" i="0" lang="en-US" sz="1100" u="none" cap="none" strike="noStrike">
                <a:solidFill>
                  <a:srgbClr val="E11D48"/>
                </a:solidFill>
                <a:latin typeface="Consolas"/>
                <a:ea typeface="Consolas"/>
                <a:cs typeface="Consolas"/>
                <a:sym typeface="Consolas"/>
              </a:rPr>
              <a:t>KEY TAKEAWAY</a:t>
            </a:r>
            <a:endParaRPr b="0" i="0" sz="1100" u="none" cap="none" strike="noStrike">
              <a:solidFill>
                <a:schemeClr val="dk1"/>
              </a:solidFill>
              <a:latin typeface="Calibri"/>
              <a:ea typeface="Calibri"/>
              <a:cs typeface="Calibri"/>
              <a:sym typeface="Calibri"/>
            </a:endParaRPr>
          </a:p>
        </p:txBody>
      </p:sp>
      <p:pic>
        <p:nvPicPr>
          <p:cNvPr descr="preencoded.png" id="126" name="Google Shape;126;p8"/>
          <p:cNvPicPr preferRelativeResize="0"/>
          <p:nvPr/>
        </p:nvPicPr>
        <p:blipFill rotWithShape="1">
          <a:blip r:embed="rId3">
            <a:alphaModFix/>
          </a:blip>
          <a:srcRect b="0" l="0" r="0" t="0"/>
          <a:stretch/>
        </p:blipFill>
        <p:spPr>
          <a:xfrm>
            <a:off x="4206240" y="1463040"/>
            <a:ext cx="731520" cy="731520"/>
          </a:xfrm>
          <a:prstGeom prst="rect">
            <a:avLst/>
          </a:prstGeom>
          <a:noFill/>
          <a:ln>
            <a:noFill/>
          </a:ln>
        </p:spPr>
      </p:pic>
      <p:sp>
        <p:nvSpPr>
          <p:cNvPr id="127" name="Google Shape;127;p8"/>
          <p:cNvSpPr/>
          <p:nvPr/>
        </p:nvSpPr>
        <p:spPr>
          <a:xfrm>
            <a:off x="1828800" y="2377440"/>
            <a:ext cx="5486400" cy="914400"/>
          </a:xfrm>
          <a:prstGeom prst="rect">
            <a:avLst/>
          </a:prstGeom>
          <a:noFill/>
          <a:ln>
            <a:noFill/>
          </a:ln>
        </p:spPr>
        <p:txBody>
          <a:bodyPr anchorCtr="0" anchor="ctr" bIns="45700" lIns="91425" spcFirstLastPara="1" rIns="91425" wrap="square" tIns="45700">
            <a:noAutofit/>
          </a:bodyPr>
          <a:lstStyle/>
          <a:p>
            <a:pPr indent="0" lvl="0" marL="0" marR="0" rtl="0" algn="ctr">
              <a:lnSpc>
                <a:spcPct val="130000"/>
              </a:lnSpc>
              <a:spcBef>
                <a:spcPts val="0"/>
              </a:spcBef>
              <a:spcAft>
                <a:spcPts val="0"/>
              </a:spcAft>
              <a:buClr>
                <a:srgbClr val="1E293B"/>
              </a:buClr>
              <a:buSzPts val="2000"/>
              <a:buFont typeface="Georgia"/>
              <a:buNone/>
            </a:pPr>
            <a:r>
              <a:rPr b="0" i="0" lang="en-US" sz="2000" u="none" cap="none" strike="noStrike">
                <a:solidFill>
                  <a:srgbClr val="1E293B"/>
                </a:solidFill>
                <a:latin typeface="Georgia"/>
                <a:ea typeface="Georgia"/>
                <a:cs typeface="Georgia"/>
                <a:sym typeface="Georgia"/>
              </a:rPr>
              <a:t>AI is software that can learn from data and make decisions on its own — without a human giving it step-by-step instructions every time.</a:t>
            </a:r>
            <a:endParaRPr b="0" i="0" sz="2000" u="none" cap="none" strike="noStrike">
              <a:solidFill>
                <a:schemeClr val="dk1"/>
              </a:solidFill>
              <a:latin typeface="Calibri"/>
              <a:ea typeface="Calibri"/>
              <a:cs typeface="Calibri"/>
              <a:sym typeface="Calibri"/>
            </a:endParaRPr>
          </a:p>
        </p:txBody>
      </p:sp>
      <p:sp>
        <p:nvSpPr>
          <p:cNvPr id="128" name="Google Shape;128;p8"/>
          <p:cNvSpPr/>
          <p:nvPr/>
        </p:nvSpPr>
        <p:spPr>
          <a:xfrm>
            <a:off x="1828800" y="3383280"/>
            <a:ext cx="5486400" cy="640080"/>
          </a:xfrm>
          <a:prstGeom prst="rect">
            <a:avLst/>
          </a:prstGeom>
          <a:noFill/>
          <a:ln>
            <a:noFill/>
          </a:ln>
        </p:spPr>
        <p:txBody>
          <a:bodyPr anchorCtr="0" anchor="ctr" bIns="45700" lIns="91425" spcFirstLastPara="1" rIns="91425" wrap="square" tIns="45700">
            <a:noAutofit/>
          </a:bodyPr>
          <a:lstStyle/>
          <a:p>
            <a:pPr indent="0" lvl="0" marL="0" marR="0" rtl="0" algn="ctr">
              <a:lnSpc>
                <a:spcPct val="130000"/>
              </a:lnSpc>
              <a:spcBef>
                <a:spcPts val="0"/>
              </a:spcBef>
              <a:spcAft>
                <a:spcPts val="0"/>
              </a:spcAft>
              <a:buClr>
                <a:srgbClr val="94A3B8"/>
              </a:buClr>
              <a:buSzPts val="1400"/>
              <a:buFont typeface="Calibri"/>
              <a:buNone/>
            </a:pPr>
            <a:r>
              <a:rPr b="0" i="0" lang="en-US" sz="1400" u="none" cap="none" strike="noStrike">
                <a:solidFill>
                  <a:srgbClr val="94A3B8"/>
                </a:solidFill>
                <a:latin typeface="Calibri"/>
                <a:ea typeface="Calibri"/>
                <a:cs typeface="Calibri"/>
                <a:sym typeface="Calibri"/>
              </a:rPr>
              <a:t>It's not magic. It's math, data, and clever programming.</a:t>
            </a:r>
            <a:endParaRPr b="0" i="0" sz="1400" u="none" cap="none" strike="noStrike">
              <a:solidFill>
                <a:schemeClr val="dk1"/>
              </a:solidFill>
              <a:latin typeface="Calibri"/>
              <a:ea typeface="Calibri"/>
              <a:cs typeface="Calibri"/>
              <a:sym typeface="Calibri"/>
            </a:endParaRPr>
          </a:p>
          <a:p>
            <a:pPr indent="0" lvl="0" marL="0" marR="0" rtl="0" algn="ctr">
              <a:lnSpc>
                <a:spcPct val="130000"/>
              </a:lnSpc>
              <a:spcBef>
                <a:spcPts val="0"/>
              </a:spcBef>
              <a:spcAft>
                <a:spcPts val="0"/>
              </a:spcAft>
              <a:buClr>
                <a:srgbClr val="94A3B8"/>
              </a:buClr>
              <a:buSzPts val="1400"/>
              <a:buFont typeface="Calibri"/>
              <a:buNone/>
            </a:pPr>
            <a:r>
              <a:rPr b="0" i="0" lang="en-US" sz="1400" u="none" cap="none" strike="noStrike">
                <a:solidFill>
                  <a:srgbClr val="94A3B8"/>
                </a:solidFill>
                <a:latin typeface="Calibri"/>
                <a:ea typeface="Calibri"/>
                <a:cs typeface="Calibri"/>
                <a:sym typeface="Calibri"/>
              </a:rPr>
              <a:t>And it's already everywhere in your daily life.</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133" name="Shape 133"/>
        <p:cNvGrpSpPr/>
        <p:nvPr/>
      </p:nvGrpSpPr>
      <p:grpSpPr>
        <a:xfrm>
          <a:off x="0" y="0"/>
          <a:ext cx="0" cy="0"/>
          <a:chOff x="0" y="0"/>
          <a:chExt cx="0" cy="0"/>
        </a:xfrm>
      </p:grpSpPr>
      <p:sp>
        <p:nvSpPr>
          <p:cNvPr id="134" name="Google Shape;134;p9"/>
          <p:cNvSpPr/>
          <p:nvPr/>
        </p:nvSpPr>
        <p:spPr>
          <a:xfrm>
            <a:off x="6858000" y="-1371600"/>
            <a:ext cx="4572000" cy="4572000"/>
          </a:xfrm>
          <a:prstGeom prst="ellipse">
            <a:avLst/>
          </a:prstGeom>
          <a:solidFill>
            <a:srgbClr val="3341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9"/>
          <p:cNvSpPr/>
          <p:nvPr/>
        </p:nvSpPr>
        <p:spPr>
          <a:xfrm>
            <a:off x="7315200" y="3200400"/>
            <a:ext cx="3657600" cy="3657600"/>
          </a:xfrm>
          <a:prstGeom prst="ellipse">
            <a:avLst/>
          </a:prstGeom>
          <a:solidFill>
            <a:srgbClr val="475569">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9"/>
          <p:cNvSpPr/>
          <p:nvPr/>
        </p:nvSpPr>
        <p:spPr>
          <a:xfrm>
            <a:off x="731520" y="1371600"/>
            <a:ext cx="7315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9488"/>
              </a:buClr>
              <a:buSzPts val="1300"/>
              <a:buFont typeface="Consolas"/>
              <a:buNone/>
            </a:pPr>
            <a:r>
              <a:rPr b="1" i="0" lang="en-US" sz="1300" u="none" cap="none" strike="noStrike">
                <a:solidFill>
                  <a:srgbClr val="0D9488"/>
                </a:solidFill>
                <a:latin typeface="Consolas"/>
                <a:ea typeface="Consolas"/>
                <a:cs typeface="Consolas"/>
                <a:sym typeface="Consolas"/>
              </a:rPr>
              <a:t>PART 03</a:t>
            </a:r>
            <a:endParaRPr b="0" i="0" sz="1300" u="none" cap="none" strike="noStrike">
              <a:solidFill>
                <a:schemeClr val="dk1"/>
              </a:solidFill>
              <a:latin typeface="Calibri"/>
              <a:ea typeface="Calibri"/>
              <a:cs typeface="Calibri"/>
              <a:sym typeface="Calibri"/>
            </a:endParaRPr>
          </a:p>
        </p:txBody>
      </p:sp>
      <p:sp>
        <p:nvSpPr>
          <p:cNvPr id="137" name="Google Shape;137;p9"/>
          <p:cNvSpPr/>
          <p:nvPr/>
        </p:nvSpPr>
        <p:spPr>
          <a:xfrm>
            <a:off x="731520" y="1920240"/>
            <a:ext cx="6858000" cy="1463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4000"/>
              <a:buFont typeface="Georgia"/>
              <a:buNone/>
            </a:pPr>
            <a:r>
              <a:rPr b="0" i="0" lang="en-US" sz="4000" u="none" cap="none" strike="noStrike">
                <a:solidFill>
                  <a:srgbClr val="FFFFFF"/>
                </a:solidFill>
                <a:latin typeface="Georgia"/>
                <a:ea typeface="Georgia"/>
                <a:cs typeface="Georgia"/>
                <a:sym typeface="Georgia"/>
              </a:rPr>
              <a:t>What is Agentic AI?</a:t>
            </a:r>
            <a:endParaRPr b="0" i="0" sz="4000" u="none" cap="none" strike="noStrike">
              <a:solidFill>
                <a:schemeClr val="dk1"/>
              </a:solidFill>
              <a:latin typeface="Calibri"/>
              <a:ea typeface="Calibri"/>
              <a:cs typeface="Calibri"/>
              <a:sym typeface="Calibri"/>
            </a:endParaRPr>
          </a:p>
        </p:txBody>
      </p:sp>
      <p:sp>
        <p:nvSpPr>
          <p:cNvPr id="138" name="Google Shape;138;p9"/>
          <p:cNvSpPr/>
          <p:nvPr/>
        </p:nvSpPr>
        <p:spPr>
          <a:xfrm>
            <a:off x="731520" y="3840480"/>
            <a:ext cx="1097280" cy="54864"/>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9" name="Google Shape;139;p9"/>
          <p:cNvPicPr preferRelativeResize="0"/>
          <p:nvPr/>
        </p:nvPicPr>
        <p:blipFill rotWithShape="1">
          <a:blip r:embed="rId3">
            <a:alphaModFix/>
          </a:blip>
          <a:srcRect b="0" l="0" r="0" t="0"/>
          <a:stretch/>
        </p:blipFill>
        <p:spPr>
          <a:xfrm>
            <a:off x="7772400" y="3931920"/>
            <a:ext cx="640080" cy="64008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id="145" name="Google Shape;145;p10" title="Redesign_image_for_slides_202605212046.jpeg"/>
          <p:cNvPicPr preferRelativeResize="0"/>
          <p:nvPr/>
        </p:nvPicPr>
        <p:blipFill>
          <a:blip r:embed="rId3">
            <a:alphaModFix/>
          </a:blip>
          <a:stretch>
            <a:fillRect/>
          </a:stretch>
        </p:blipFill>
        <p:spPr>
          <a:xfrm>
            <a:off x="-120650" y="0"/>
            <a:ext cx="9215450" cy="5143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pic>
        <p:nvPicPr>
          <p:cNvPr id="151" name="Google Shape;151;p11" title="WhatsApp Image 2026-05-22 at 12.33.22 AM.jpeg"/>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156" name="Shape 156"/>
        <p:cNvGrpSpPr/>
        <p:nvPr/>
      </p:nvGrpSpPr>
      <p:grpSpPr>
        <a:xfrm>
          <a:off x="0" y="0"/>
          <a:ext cx="0" cy="0"/>
          <a:chOff x="0" y="0"/>
          <a:chExt cx="0" cy="0"/>
        </a:xfrm>
      </p:grpSpPr>
      <p:sp>
        <p:nvSpPr>
          <p:cNvPr id="157" name="Google Shape;157;p12"/>
          <p:cNvSpPr/>
          <p:nvPr/>
        </p:nvSpPr>
        <p:spPr>
          <a:xfrm>
            <a:off x="731520" y="320040"/>
            <a:ext cx="76809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2800"/>
              <a:buFont typeface="Georgia"/>
              <a:buNone/>
            </a:pPr>
            <a:r>
              <a:rPr b="0" i="0" lang="en-US" sz="2800" u="none" cap="none" strike="noStrike">
                <a:solidFill>
                  <a:srgbClr val="1E293B"/>
                </a:solidFill>
                <a:latin typeface="Georgia"/>
                <a:ea typeface="Georgia"/>
                <a:cs typeface="Georgia"/>
                <a:sym typeface="Georgia"/>
              </a:rPr>
              <a:t>What Makes AI "Agentic"?</a:t>
            </a:r>
            <a:endParaRPr b="0" i="0" sz="2800" u="none" cap="none" strike="noStrike">
              <a:solidFill>
                <a:schemeClr val="dk1"/>
              </a:solidFill>
              <a:latin typeface="Calibri"/>
              <a:ea typeface="Calibri"/>
              <a:cs typeface="Calibri"/>
              <a:sym typeface="Calibri"/>
            </a:endParaRPr>
          </a:p>
        </p:txBody>
      </p:sp>
      <p:sp>
        <p:nvSpPr>
          <p:cNvPr id="158" name="Google Shape;158;p12"/>
          <p:cNvSpPr/>
          <p:nvPr/>
        </p:nvSpPr>
        <p:spPr>
          <a:xfrm>
            <a:off x="731520" y="822960"/>
            <a:ext cx="7315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4A3B8"/>
              </a:buClr>
              <a:buSzPts val="1400"/>
              <a:buFont typeface="Calibri"/>
              <a:buNone/>
            </a:pPr>
            <a:r>
              <a:rPr b="0" i="0" lang="en-US" sz="1400" u="none" cap="none" strike="noStrike">
                <a:solidFill>
                  <a:srgbClr val="94A3B8"/>
                </a:solidFill>
                <a:latin typeface="Calibri"/>
                <a:ea typeface="Calibri"/>
                <a:cs typeface="Calibri"/>
                <a:sym typeface="Calibri"/>
              </a:rPr>
              <a:t>Four abilities that turn a chatbot into a worker:</a:t>
            </a:r>
            <a:endParaRPr b="0" i="0" sz="1400" u="none" cap="none" strike="noStrike">
              <a:solidFill>
                <a:schemeClr val="dk1"/>
              </a:solidFill>
              <a:latin typeface="Calibri"/>
              <a:ea typeface="Calibri"/>
              <a:cs typeface="Calibri"/>
              <a:sym typeface="Calibri"/>
            </a:endParaRPr>
          </a:p>
        </p:txBody>
      </p:sp>
      <p:sp>
        <p:nvSpPr>
          <p:cNvPr id="159" name="Google Shape;159;p12"/>
          <p:cNvSpPr/>
          <p:nvPr/>
        </p:nvSpPr>
        <p:spPr>
          <a:xfrm>
            <a:off x="731520" y="1417320"/>
            <a:ext cx="3840480" cy="1371600"/>
          </a:xfrm>
          <a:prstGeom prst="rect">
            <a:avLst/>
          </a:prstGeom>
          <a:solidFill>
            <a:srgbClr val="FFFFFF"/>
          </a:solidFill>
          <a:ln>
            <a:noFill/>
          </a:ln>
          <a:effectLst>
            <a:outerShdw blurRad="76200" rotWithShape="0" algn="bl" dir="162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2"/>
          <p:cNvSpPr/>
          <p:nvPr/>
        </p:nvSpPr>
        <p:spPr>
          <a:xfrm>
            <a:off x="731520" y="1417320"/>
            <a:ext cx="45720" cy="1371600"/>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1" name="Google Shape;161;p12"/>
          <p:cNvPicPr preferRelativeResize="0"/>
          <p:nvPr/>
        </p:nvPicPr>
        <p:blipFill rotWithShape="1">
          <a:blip r:embed="rId3">
            <a:alphaModFix/>
          </a:blip>
          <a:srcRect b="0" l="0" r="0" t="0"/>
          <a:stretch/>
        </p:blipFill>
        <p:spPr>
          <a:xfrm>
            <a:off x="1005840" y="1737360"/>
            <a:ext cx="411480" cy="411480"/>
          </a:xfrm>
          <a:prstGeom prst="rect">
            <a:avLst/>
          </a:prstGeom>
          <a:noFill/>
          <a:ln>
            <a:noFill/>
          </a:ln>
        </p:spPr>
      </p:pic>
      <p:sp>
        <p:nvSpPr>
          <p:cNvPr id="162" name="Google Shape;162;p12"/>
          <p:cNvSpPr/>
          <p:nvPr/>
        </p:nvSpPr>
        <p:spPr>
          <a:xfrm>
            <a:off x="1554480" y="1600200"/>
            <a:ext cx="2743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7316"/>
              </a:buClr>
              <a:buSzPts val="1600"/>
              <a:buFont typeface="Calibri"/>
              <a:buNone/>
            </a:pPr>
            <a:r>
              <a:rPr b="1" i="0" lang="en-US" sz="1600" u="none" cap="none" strike="noStrike">
                <a:solidFill>
                  <a:srgbClr val="F97316"/>
                </a:solidFill>
                <a:latin typeface="Calibri"/>
                <a:ea typeface="Calibri"/>
                <a:cs typeface="Calibri"/>
                <a:sym typeface="Calibri"/>
              </a:rPr>
              <a:t>Planning</a:t>
            </a:r>
            <a:endParaRPr b="0" i="0" sz="1600" u="none" cap="none" strike="noStrike">
              <a:solidFill>
                <a:schemeClr val="dk1"/>
              </a:solidFill>
              <a:latin typeface="Calibri"/>
              <a:ea typeface="Calibri"/>
              <a:cs typeface="Calibri"/>
              <a:sym typeface="Calibri"/>
            </a:endParaRPr>
          </a:p>
        </p:txBody>
      </p:sp>
      <p:sp>
        <p:nvSpPr>
          <p:cNvPr id="163" name="Google Shape;163;p12"/>
          <p:cNvSpPr/>
          <p:nvPr/>
        </p:nvSpPr>
        <p:spPr>
          <a:xfrm>
            <a:off x="1554480" y="2011680"/>
            <a:ext cx="27432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75569"/>
              </a:buClr>
              <a:buSzPts val="1200"/>
              <a:buFont typeface="Calibri"/>
              <a:buNone/>
            </a:pPr>
            <a:r>
              <a:rPr b="0" i="0" lang="en-US" u="none" cap="none" strike="noStrike">
                <a:solidFill>
                  <a:srgbClr val="475569"/>
                </a:solidFill>
                <a:latin typeface="Calibri"/>
                <a:ea typeface="Calibri"/>
                <a:cs typeface="Calibri"/>
                <a:sym typeface="Calibri"/>
              </a:rPr>
              <a:t>Breaks a big goal into smaller steps and decides the order</a:t>
            </a:r>
            <a:endParaRPr b="0" i="0" u="none" cap="none" strike="noStrike">
              <a:solidFill>
                <a:schemeClr val="dk1"/>
              </a:solidFill>
              <a:latin typeface="Calibri"/>
              <a:ea typeface="Calibri"/>
              <a:cs typeface="Calibri"/>
              <a:sym typeface="Calibri"/>
            </a:endParaRPr>
          </a:p>
        </p:txBody>
      </p:sp>
      <p:sp>
        <p:nvSpPr>
          <p:cNvPr id="164" name="Google Shape;164;p12"/>
          <p:cNvSpPr/>
          <p:nvPr/>
        </p:nvSpPr>
        <p:spPr>
          <a:xfrm>
            <a:off x="4846320" y="1417320"/>
            <a:ext cx="3840480" cy="1371600"/>
          </a:xfrm>
          <a:prstGeom prst="rect">
            <a:avLst/>
          </a:prstGeom>
          <a:solidFill>
            <a:srgbClr val="FFFFFF"/>
          </a:solidFill>
          <a:ln>
            <a:noFill/>
          </a:ln>
          <a:effectLst>
            <a:outerShdw blurRad="76200" rotWithShape="0" algn="bl" dir="162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2"/>
          <p:cNvSpPr/>
          <p:nvPr/>
        </p:nvSpPr>
        <p:spPr>
          <a:xfrm>
            <a:off x="4846320" y="1417320"/>
            <a:ext cx="45720" cy="1371600"/>
          </a:xfrm>
          <a:prstGeom prst="rect">
            <a:avLst/>
          </a:prstGeom>
          <a:solidFill>
            <a:srgbClr val="4F46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6" name="Google Shape;166;p12"/>
          <p:cNvPicPr preferRelativeResize="0"/>
          <p:nvPr/>
        </p:nvPicPr>
        <p:blipFill rotWithShape="1">
          <a:blip r:embed="rId4">
            <a:alphaModFix/>
          </a:blip>
          <a:srcRect b="0" l="0" r="0" t="0"/>
          <a:stretch/>
        </p:blipFill>
        <p:spPr>
          <a:xfrm>
            <a:off x="5120640" y="1737360"/>
            <a:ext cx="411480" cy="411480"/>
          </a:xfrm>
          <a:prstGeom prst="rect">
            <a:avLst/>
          </a:prstGeom>
          <a:noFill/>
          <a:ln>
            <a:noFill/>
          </a:ln>
        </p:spPr>
      </p:pic>
      <p:sp>
        <p:nvSpPr>
          <p:cNvPr id="167" name="Google Shape;167;p12"/>
          <p:cNvSpPr/>
          <p:nvPr/>
        </p:nvSpPr>
        <p:spPr>
          <a:xfrm>
            <a:off x="5669280" y="1600200"/>
            <a:ext cx="2743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F46E5"/>
              </a:buClr>
              <a:buSzPts val="1600"/>
              <a:buFont typeface="Calibri"/>
              <a:buNone/>
            </a:pPr>
            <a:r>
              <a:rPr b="1" i="0" lang="en-US" sz="1600" u="none" cap="none" strike="noStrike">
                <a:solidFill>
                  <a:srgbClr val="4F46E5"/>
                </a:solidFill>
                <a:latin typeface="Calibri"/>
                <a:ea typeface="Calibri"/>
                <a:cs typeface="Calibri"/>
                <a:sym typeface="Calibri"/>
              </a:rPr>
              <a:t>Tool Use</a:t>
            </a:r>
            <a:endParaRPr b="0" i="0" sz="1600" u="none" cap="none" strike="noStrike">
              <a:solidFill>
                <a:schemeClr val="dk1"/>
              </a:solidFill>
              <a:latin typeface="Calibri"/>
              <a:ea typeface="Calibri"/>
              <a:cs typeface="Calibri"/>
              <a:sym typeface="Calibri"/>
            </a:endParaRPr>
          </a:p>
        </p:txBody>
      </p:sp>
      <p:sp>
        <p:nvSpPr>
          <p:cNvPr id="168" name="Google Shape;168;p12"/>
          <p:cNvSpPr/>
          <p:nvPr/>
        </p:nvSpPr>
        <p:spPr>
          <a:xfrm>
            <a:off x="5669280" y="2011680"/>
            <a:ext cx="27432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75569"/>
              </a:buClr>
              <a:buSzPts val="1200"/>
              <a:buFont typeface="Calibri"/>
              <a:buNone/>
            </a:pPr>
            <a:r>
              <a:rPr b="0" i="0" lang="en-US" u="none" cap="none" strike="noStrike">
                <a:solidFill>
                  <a:srgbClr val="475569"/>
                </a:solidFill>
                <a:latin typeface="Calibri"/>
                <a:ea typeface="Calibri"/>
                <a:cs typeface="Calibri"/>
                <a:sym typeface="Calibri"/>
              </a:rPr>
              <a:t>Browses the web, writes code, reads files, sends messages</a:t>
            </a:r>
            <a:endParaRPr b="0" i="0" u="none" cap="none" strike="noStrike">
              <a:solidFill>
                <a:schemeClr val="dk1"/>
              </a:solidFill>
              <a:latin typeface="Calibri"/>
              <a:ea typeface="Calibri"/>
              <a:cs typeface="Calibri"/>
              <a:sym typeface="Calibri"/>
            </a:endParaRPr>
          </a:p>
        </p:txBody>
      </p:sp>
      <p:sp>
        <p:nvSpPr>
          <p:cNvPr id="169" name="Google Shape;169;p12"/>
          <p:cNvSpPr/>
          <p:nvPr/>
        </p:nvSpPr>
        <p:spPr>
          <a:xfrm>
            <a:off x="731520" y="3063240"/>
            <a:ext cx="3840480" cy="1371600"/>
          </a:xfrm>
          <a:prstGeom prst="rect">
            <a:avLst/>
          </a:prstGeom>
          <a:solidFill>
            <a:srgbClr val="FFFFFF"/>
          </a:solidFill>
          <a:ln>
            <a:noFill/>
          </a:ln>
          <a:effectLst>
            <a:outerShdw blurRad="76200" rotWithShape="0" algn="bl" dir="162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2"/>
          <p:cNvSpPr/>
          <p:nvPr/>
        </p:nvSpPr>
        <p:spPr>
          <a:xfrm>
            <a:off x="731520" y="3063240"/>
            <a:ext cx="45720" cy="1371600"/>
          </a:xfrm>
          <a:prstGeom prst="rect">
            <a:avLst/>
          </a:prstGeom>
          <a:solidFill>
            <a:srgbClr val="E11D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1" name="Google Shape;171;p12"/>
          <p:cNvPicPr preferRelativeResize="0"/>
          <p:nvPr/>
        </p:nvPicPr>
        <p:blipFill rotWithShape="1">
          <a:blip r:embed="rId5">
            <a:alphaModFix/>
          </a:blip>
          <a:srcRect b="0" l="0" r="0" t="0"/>
          <a:stretch/>
        </p:blipFill>
        <p:spPr>
          <a:xfrm>
            <a:off x="1005840" y="3383280"/>
            <a:ext cx="411480" cy="411480"/>
          </a:xfrm>
          <a:prstGeom prst="rect">
            <a:avLst/>
          </a:prstGeom>
          <a:noFill/>
          <a:ln>
            <a:noFill/>
          </a:ln>
        </p:spPr>
      </p:pic>
      <p:sp>
        <p:nvSpPr>
          <p:cNvPr id="172" name="Google Shape;172;p12"/>
          <p:cNvSpPr/>
          <p:nvPr/>
        </p:nvSpPr>
        <p:spPr>
          <a:xfrm>
            <a:off x="1554480" y="3246120"/>
            <a:ext cx="2743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11D48"/>
              </a:buClr>
              <a:buSzPts val="1600"/>
              <a:buFont typeface="Calibri"/>
              <a:buNone/>
            </a:pPr>
            <a:r>
              <a:rPr b="1" i="0" lang="en-US" sz="1600" u="none" cap="none" strike="noStrike">
                <a:solidFill>
                  <a:srgbClr val="E11D48"/>
                </a:solidFill>
                <a:latin typeface="Calibri"/>
                <a:ea typeface="Calibri"/>
                <a:cs typeface="Calibri"/>
                <a:sym typeface="Calibri"/>
              </a:rPr>
              <a:t>Self-Correction</a:t>
            </a:r>
            <a:endParaRPr b="0" i="0" sz="1600" u="none" cap="none" strike="noStrike">
              <a:solidFill>
                <a:schemeClr val="dk1"/>
              </a:solidFill>
              <a:latin typeface="Calibri"/>
              <a:ea typeface="Calibri"/>
              <a:cs typeface="Calibri"/>
              <a:sym typeface="Calibri"/>
            </a:endParaRPr>
          </a:p>
        </p:txBody>
      </p:sp>
      <p:sp>
        <p:nvSpPr>
          <p:cNvPr id="173" name="Google Shape;173;p12"/>
          <p:cNvSpPr/>
          <p:nvPr/>
        </p:nvSpPr>
        <p:spPr>
          <a:xfrm>
            <a:off x="1554480" y="3657600"/>
            <a:ext cx="27432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75569"/>
              </a:buClr>
              <a:buSzPts val="1200"/>
              <a:buFont typeface="Calibri"/>
              <a:buNone/>
            </a:pPr>
            <a:r>
              <a:rPr b="0" i="0" lang="en-US" u="none" cap="none" strike="noStrike">
                <a:solidFill>
                  <a:srgbClr val="475569"/>
                </a:solidFill>
                <a:latin typeface="Calibri"/>
                <a:ea typeface="Calibri"/>
                <a:cs typeface="Calibri"/>
                <a:sym typeface="Calibri"/>
              </a:rPr>
              <a:t>Notices mistakes and tries a different approach on its own</a:t>
            </a:r>
            <a:endParaRPr b="0" i="0" u="none" cap="none" strike="noStrike">
              <a:solidFill>
                <a:schemeClr val="dk1"/>
              </a:solidFill>
              <a:latin typeface="Calibri"/>
              <a:ea typeface="Calibri"/>
              <a:cs typeface="Calibri"/>
              <a:sym typeface="Calibri"/>
            </a:endParaRPr>
          </a:p>
        </p:txBody>
      </p:sp>
      <p:sp>
        <p:nvSpPr>
          <p:cNvPr id="174" name="Google Shape;174;p12"/>
          <p:cNvSpPr/>
          <p:nvPr/>
        </p:nvSpPr>
        <p:spPr>
          <a:xfrm>
            <a:off x="4846320" y="3063240"/>
            <a:ext cx="3840480" cy="1371600"/>
          </a:xfrm>
          <a:prstGeom prst="rect">
            <a:avLst/>
          </a:prstGeom>
          <a:solidFill>
            <a:srgbClr val="FFFFFF"/>
          </a:solidFill>
          <a:ln>
            <a:noFill/>
          </a:ln>
          <a:effectLst>
            <a:outerShdw blurRad="76200" rotWithShape="0" algn="bl" dir="162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2"/>
          <p:cNvSpPr/>
          <p:nvPr/>
        </p:nvSpPr>
        <p:spPr>
          <a:xfrm>
            <a:off x="4846320" y="3063240"/>
            <a:ext cx="45720" cy="1371600"/>
          </a:xfrm>
          <a:prstGeom prst="rect">
            <a:avLst/>
          </a:prstGeom>
          <a:solidFill>
            <a:srgbClr val="16A3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6" name="Google Shape;176;p12"/>
          <p:cNvPicPr preferRelativeResize="0"/>
          <p:nvPr/>
        </p:nvPicPr>
        <p:blipFill rotWithShape="1">
          <a:blip r:embed="rId6">
            <a:alphaModFix/>
          </a:blip>
          <a:srcRect b="0" l="0" r="0" t="0"/>
          <a:stretch/>
        </p:blipFill>
        <p:spPr>
          <a:xfrm>
            <a:off x="5120640" y="3383280"/>
            <a:ext cx="411480" cy="411480"/>
          </a:xfrm>
          <a:prstGeom prst="rect">
            <a:avLst/>
          </a:prstGeom>
          <a:noFill/>
          <a:ln>
            <a:noFill/>
          </a:ln>
        </p:spPr>
      </p:pic>
      <p:sp>
        <p:nvSpPr>
          <p:cNvPr id="177" name="Google Shape;177;p12"/>
          <p:cNvSpPr/>
          <p:nvPr/>
        </p:nvSpPr>
        <p:spPr>
          <a:xfrm>
            <a:off x="5669280" y="3246120"/>
            <a:ext cx="2743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A34A"/>
              </a:buClr>
              <a:buSzPts val="1600"/>
              <a:buFont typeface="Calibri"/>
              <a:buNone/>
            </a:pPr>
            <a:r>
              <a:rPr b="1" i="0" lang="en-US" sz="1600" u="none" cap="none" strike="noStrike">
                <a:solidFill>
                  <a:srgbClr val="16A34A"/>
                </a:solidFill>
                <a:latin typeface="Calibri"/>
                <a:ea typeface="Calibri"/>
                <a:cs typeface="Calibri"/>
                <a:sym typeface="Calibri"/>
              </a:rPr>
              <a:t>Goal Completion</a:t>
            </a:r>
            <a:endParaRPr b="0" i="0" sz="1600" u="none" cap="none" strike="noStrike">
              <a:solidFill>
                <a:schemeClr val="dk1"/>
              </a:solidFill>
              <a:latin typeface="Calibri"/>
              <a:ea typeface="Calibri"/>
              <a:cs typeface="Calibri"/>
              <a:sym typeface="Calibri"/>
            </a:endParaRPr>
          </a:p>
        </p:txBody>
      </p:sp>
      <p:sp>
        <p:nvSpPr>
          <p:cNvPr id="178" name="Google Shape;178;p12"/>
          <p:cNvSpPr/>
          <p:nvPr/>
        </p:nvSpPr>
        <p:spPr>
          <a:xfrm>
            <a:off x="5669280" y="3657600"/>
            <a:ext cx="27432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75569"/>
              </a:buClr>
              <a:buSzPts val="1200"/>
              <a:buFont typeface="Calibri"/>
              <a:buNone/>
            </a:pPr>
            <a:r>
              <a:rPr b="0" i="0" lang="en-US" u="none" cap="none" strike="noStrike">
                <a:solidFill>
                  <a:srgbClr val="475569"/>
                </a:solidFill>
                <a:latin typeface="Calibri"/>
                <a:ea typeface="Calibri"/>
                <a:cs typeface="Calibri"/>
                <a:sym typeface="Calibri"/>
              </a:rPr>
              <a:t>Works until the job is done, not just one answer</a:t>
            </a:r>
            <a:endParaRPr b="0" i="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pic>
        <p:nvPicPr>
          <p:cNvPr id="184" name="Google Shape;184;p13" title="ChatGPT Image May 22, 2026, 12_43_08 AM.png"/>
          <p:cNvPicPr preferRelativeResize="0"/>
          <p:nvPr/>
        </p:nvPicPr>
        <p:blipFill>
          <a:blip r:embed="rId3">
            <a:alphaModFix/>
          </a:blip>
          <a:stretch>
            <a:fillRect/>
          </a:stretch>
        </p:blipFill>
        <p:spPr>
          <a:xfrm>
            <a:off x="0" y="-2736"/>
            <a:ext cx="9144001" cy="514623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189" name="Shape 189"/>
        <p:cNvGrpSpPr/>
        <p:nvPr/>
      </p:nvGrpSpPr>
      <p:grpSpPr>
        <a:xfrm>
          <a:off x="0" y="0"/>
          <a:ext cx="0" cy="0"/>
          <a:chOff x="0" y="0"/>
          <a:chExt cx="0" cy="0"/>
        </a:xfrm>
      </p:grpSpPr>
      <p:sp>
        <p:nvSpPr>
          <p:cNvPr id="190" name="Google Shape;190;p14"/>
          <p:cNvSpPr/>
          <p:nvPr/>
        </p:nvSpPr>
        <p:spPr>
          <a:xfrm>
            <a:off x="6858000" y="-1371600"/>
            <a:ext cx="4572000" cy="4572000"/>
          </a:xfrm>
          <a:prstGeom prst="ellipse">
            <a:avLst/>
          </a:prstGeom>
          <a:solidFill>
            <a:srgbClr val="3341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4"/>
          <p:cNvSpPr/>
          <p:nvPr/>
        </p:nvSpPr>
        <p:spPr>
          <a:xfrm>
            <a:off x="7315200" y="3200400"/>
            <a:ext cx="3657600" cy="3657600"/>
          </a:xfrm>
          <a:prstGeom prst="ellipse">
            <a:avLst/>
          </a:prstGeom>
          <a:solidFill>
            <a:srgbClr val="475569">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4"/>
          <p:cNvSpPr/>
          <p:nvPr/>
        </p:nvSpPr>
        <p:spPr>
          <a:xfrm>
            <a:off x="731520" y="1371600"/>
            <a:ext cx="73152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9488"/>
              </a:buClr>
              <a:buSzPts val="1300"/>
              <a:buFont typeface="Consolas"/>
              <a:buNone/>
            </a:pPr>
            <a:r>
              <a:rPr b="1" i="0" lang="en-US" sz="1300" u="none" cap="none" strike="noStrike">
                <a:solidFill>
                  <a:srgbClr val="0D9488"/>
                </a:solidFill>
                <a:latin typeface="Consolas"/>
                <a:ea typeface="Consolas"/>
                <a:cs typeface="Consolas"/>
                <a:sym typeface="Consolas"/>
              </a:rPr>
              <a:t>PART 02</a:t>
            </a:r>
            <a:endParaRPr b="0" i="0" sz="1300" u="none" cap="none" strike="noStrike">
              <a:solidFill>
                <a:schemeClr val="dk1"/>
              </a:solidFill>
              <a:latin typeface="Calibri"/>
              <a:ea typeface="Calibri"/>
              <a:cs typeface="Calibri"/>
              <a:sym typeface="Calibri"/>
            </a:endParaRPr>
          </a:p>
        </p:txBody>
      </p:sp>
      <p:sp>
        <p:nvSpPr>
          <p:cNvPr id="193" name="Google Shape;193;p14"/>
          <p:cNvSpPr/>
          <p:nvPr/>
        </p:nvSpPr>
        <p:spPr>
          <a:xfrm>
            <a:off x="731520" y="1920240"/>
            <a:ext cx="6858000" cy="1463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4000"/>
              <a:buFont typeface="Georgia"/>
              <a:buNone/>
            </a:pPr>
            <a:r>
              <a:rPr b="0" i="0" lang="en-US" sz="4000" u="none" cap="none" strike="noStrike">
                <a:solidFill>
                  <a:srgbClr val="FFFFFF"/>
                </a:solidFill>
                <a:latin typeface="Georgia"/>
                <a:ea typeface="Georgia"/>
                <a:cs typeface="Georgia"/>
                <a:sym typeface="Georgia"/>
              </a:rPr>
              <a:t>From "Smart Tool"</a:t>
            </a:r>
            <a:endParaRPr b="0" i="0" sz="4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4000"/>
              <a:buFont typeface="Georgia"/>
              <a:buNone/>
            </a:pPr>
            <a:r>
              <a:rPr b="0" i="0" lang="en-US" sz="4000" u="none" cap="none" strike="noStrike">
                <a:solidFill>
                  <a:srgbClr val="FFFFFF"/>
                </a:solidFill>
                <a:latin typeface="Georgia"/>
                <a:ea typeface="Georgia"/>
                <a:cs typeface="Georgia"/>
                <a:sym typeface="Georgia"/>
              </a:rPr>
              <a:t>to "Smart Worker"</a:t>
            </a:r>
            <a:endParaRPr b="0" i="0" sz="4000" u="none" cap="none" strike="noStrike">
              <a:solidFill>
                <a:schemeClr val="dk1"/>
              </a:solidFill>
              <a:latin typeface="Calibri"/>
              <a:ea typeface="Calibri"/>
              <a:cs typeface="Calibri"/>
              <a:sym typeface="Calibri"/>
            </a:endParaRPr>
          </a:p>
        </p:txBody>
      </p:sp>
      <p:sp>
        <p:nvSpPr>
          <p:cNvPr id="194" name="Google Shape;194;p14"/>
          <p:cNvSpPr/>
          <p:nvPr/>
        </p:nvSpPr>
        <p:spPr>
          <a:xfrm>
            <a:off x="731520" y="3840480"/>
            <a:ext cx="1097400" cy="5490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5" name="Google Shape;195;p14"/>
          <p:cNvPicPr preferRelativeResize="0"/>
          <p:nvPr/>
        </p:nvPicPr>
        <p:blipFill rotWithShape="1">
          <a:blip r:embed="rId3">
            <a:alphaModFix/>
          </a:blip>
          <a:srcRect b="0" l="0" r="0" t="0"/>
          <a:stretch/>
        </p:blipFill>
        <p:spPr>
          <a:xfrm>
            <a:off x="7772400" y="3931920"/>
            <a:ext cx="640080" cy="64008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pic>
        <p:nvPicPr>
          <p:cNvPr id="201" name="Google Shape;201;p15" title="WhatsApp Image 2026-05-21 at 11.36.22 PM.jpeg"/>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206" name="Shape 206"/>
        <p:cNvGrpSpPr/>
        <p:nvPr/>
      </p:nvGrpSpPr>
      <p:grpSpPr>
        <a:xfrm>
          <a:off x="0" y="0"/>
          <a:ext cx="0" cy="0"/>
          <a:chOff x="0" y="0"/>
          <a:chExt cx="0" cy="0"/>
        </a:xfrm>
      </p:grpSpPr>
      <p:sp>
        <p:nvSpPr>
          <p:cNvPr id="207" name="Google Shape;207;p16"/>
          <p:cNvSpPr/>
          <p:nvPr/>
        </p:nvSpPr>
        <p:spPr>
          <a:xfrm>
            <a:off x="1097280" y="914400"/>
            <a:ext cx="6949500" cy="3200400"/>
          </a:xfrm>
          <a:prstGeom prst="rect">
            <a:avLst/>
          </a:prstGeom>
          <a:solidFill>
            <a:srgbClr val="FFFFFF"/>
          </a:solidFill>
          <a:ln>
            <a:noFill/>
          </a:ln>
          <a:effectLst>
            <a:outerShdw blurRad="127000" rotWithShape="0" algn="bl" dir="162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6"/>
          <p:cNvSpPr/>
          <p:nvPr/>
        </p:nvSpPr>
        <p:spPr>
          <a:xfrm>
            <a:off x="1097280" y="914400"/>
            <a:ext cx="6949500" cy="54900"/>
          </a:xfrm>
          <a:prstGeom prst="rect">
            <a:avLst/>
          </a:prstGeom>
          <a:solidFill>
            <a:srgbClr val="E11D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6"/>
          <p:cNvSpPr/>
          <p:nvPr/>
        </p:nvSpPr>
        <p:spPr>
          <a:xfrm>
            <a:off x="1371600" y="1188720"/>
            <a:ext cx="27432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11D48"/>
              </a:buClr>
              <a:buSzPts val="1100"/>
              <a:buFont typeface="Consolas"/>
              <a:buNone/>
            </a:pPr>
            <a:r>
              <a:rPr b="0" i="0" lang="en-US" sz="1100" u="none" cap="none" strike="noStrike">
                <a:solidFill>
                  <a:srgbClr val="E11D48"/>
                </a:solidFill>
                <a:latin typeface="Consolas"/>
                <a:ea typeface="Consolas"/>
                <a:cs typeface="Consolas"/>
                <a:sym typeface="Consolas"/>
              </a:rPr>
              <a:t>KEY TAKEAWAY</a:t>
            </a:r>
            <a:endParaRPr b="0" i="0" sz="1100" u="none" cap="none" strike="noStrike">
              <a:solidFill>
                <a:schemeClr val="dk1"/>
              </a:solidFill>
              <a:latin typeface="Calibri"/>
              <a:ea typeface="Calibri"/>
              <a:cs typeface="Calibri"/>
              <a:sym typeface="Calibri"/>
            </a:endParaRPr>
          </a:p>
        </p:txBody>
      </p:sp>
      <p:pic>
        <p:nvPicPr>
          <p:cNvPr descr="preencoded.png" id="210" name="Google Shape;210;p16"/>
          <p:cNvPicPr preferRelativeResize="0"/>
          <p:nvPr/>
        </p:nvPicPr>
        <p:blipFill rotWithShape="1">
          <a:blip r:embed="rId3">
            <a:alphaModFix/>
          </a:blip>
          <a:srcRect b="0" l="0" r="0" t="0"/>
          <a:stretch/>
        </p:blipFill>
        <p:spPr>
          <a:xfrm>
            <a:off x="4206240" y="1371945"/>
            <a:ext cx="731520" cy="731520"/>
          </a:xfrm>
          <a:prstGeom prst="rect">
            <a:avLst/>
          </a:prstGeom>
          <a:noFill/>
          <a:ln>
            <a:noFill/>
          </a:ln>
        </p:spPr>
      </p:pic>
      <p:sp>
        <p:nvSpPr>
          <p:cNvPr id="211" name="Google Shape;211;p16"/>
          <p:cNvSpPr/>
          <p:nvPr/>
        </p:nvSpPr>
        <p:spPr>
          <a:xfrm>
            <a:off x="1828800" y="2377440"/>
            <a:ext cx="5486400" cy="914400"/>
          </a:xfrm>
          <a:prstGeom prst="rect">
            <a:avLst/>
          </a:prstGeom>
          <a:noFill/>
          <a:ln>
            <a:noFill/>
          </a:ln>
        </p:spPr>
        <p:txBody>
          <a:bodyPr anchorCtr="0" anchor="ctr" bIns="45700" lIns="91425" spcFirstLastPara="1" rIns="91425" wrap="square" tIns="45700">
            <a:noAutofit/>
          </a:bodyPr>
          <a:lstStyle/>
          <a:p>
            <a:pPr indent="0" lvl="0" marL="0" marR="0" rtl="0" algn="ctr">
              <a:lnSpc>
                <a:spcPct val="130000"/>
              </a:lnSpc>
              <a:spcBef>
                <a:spcPts val="0"/>
              </a:spcBef>
              <a:spcAft>
                <a:spcPts val="0"/>
              </a:spcAft>
              <a:buClr>
                <a:srgbClr val="1E293B"/>
              </a:buClr>
              <a:buSzPts val="1700"/>
              <a:buFont typeface="Georgia"/>
              <a:buNone/>
            </a:pPr>
            <a:r>
              <a:rPr b="0" i="0" lang="en-US" sz="1800" u="none" cap="none" strike="noStrike">
                <a:solidFill>
                  <a:srgbClr val="1E293B"/>
                </a:solidFill>
                <a:latin typeface="Georgia"/>
                <a:ea typeface="Georgia"/>
                <a:cs typeface="Georgia"/>
                <a:sym typeface="Georgia"/>
              </a:rPr>
              <a:t>The biggest shift in AI right now isn't about making smarter tools. It's about turning AI from a tool you use into a worker you hire.</a:t>
            </a:r>
            <a:endParaRPr b="0" i="0" sz="1800" u="none" cap="none" strike="noStrike">
              <a:solidFill>
                <a:schemeClr val="dk1"/>
              </a:solidFill>
              <a:latin typeface="Calibri"/>
              <a:ea typeface="Calibri"/>
              <a:cs typeface="Calibri"/>
              <a:sym typeface="Calibri"/>
            </a:endParaRPr>
          </a:p>
        </p:txBody>
      </p:sp>
      <p:sp>
        <p:nvSpPr>
          <p:cNvPr id="212" name="Google Shape;212;p16"/>
          <p:cNvSpPr/>
          <p:nvPr/>
        </p:nvSpPr>
        <p:spPr>
          <a:xfrm>
            <a:off x="1828800" y="3383280"/>
            <a:ext cx="5486400" cy="640200"/>
          </a:xfrm>
          <a:prstGeom prst="rect">
            <a:avLst/>
          </a:prstGeom>
          <a:noFill/>
          <a:ln>
            <a:noFill/>
          </a:ln>
        </p:spPr>
        <p:txBody>
          <a:bodyPr anchorCtr="0" anchor="ctr" bIns="45700" lIns="91425" spcFirstLastPara="1" rIns="91425" wrap="square" tIns="45700">
            <a:noAutofit/>
          </a:bodyPr>
          <a:lstStyle/>
          <a:p>
            <a:pPr indent="0" lvl="0" marL="0" marR="0" rtl="0" algn="ctr">
              <a:lnSpc>
                <a:spcPct val="130000"/>
              </a:lnSpc>
              <a:spcBef>
                <a:spcPts val="0"/>
              </a:spcBef>
              <a:spcAft>
                <a:spcPts val="0"/>
              </a:spcAft>
              <a:buClr>
                <a:srgbClr val="94A3B8"/>
              </a:buClr>
              <a:buSzPts val="1500"/>
              <a:buFont typeface="Calibri"/>
              <a:buNone/>
            </a:pPr>
            <a:r>
              <a:rPr b="0" i="0" lang="en-US" sz="1500" u="none" cap="none" strike="noStrike">
                <a:solidFill>
                  <a:srgbClr val="94A3B8"/>
                </a:solidFill>
                <a:latin typeface="Calibri"/>
                <a:ea typeface="Calibri"/>
                <a:cs typeface="Calibri"/>
                <a:sym typeface="Calibri"/>
              </a:rPr>
              <a:t>You stop paying for access to software.</a:t>
            </a:r>
            <a:endParaRPr b="0" i="0" sz="1500" u="none" cap="none" strike="noStrike">
              <a:solidFill>
                <a:schemeClr val="dk1"/>
              </a:solidFill>
              <a:latin typeface="Calibri"/>
              <a:ea typeface="Calibri"/>
              <a:cs typeface="Calibri"/>
              <a:sym typeface="Calibri"/>
            </a:endParaRPr>
          </a:p>
          <a:p>
            <a:pPr indent="0" lvl="0" marL="0" marR="0" rtl="0" algn="ctr">
              <a:lnSpc>
                <a:spcPct val="130000"/>
              </a:lnSpc>
              <a:spcBef>
                <a:spcPts val="0"/>
              </a:spcBef>
              <a:spcAft>
                <a:spcPts val="0"/>
              </a:spcAft>
              <a:buClr>
                <a:srgbClr val="94A3B8"/>
              </a:buClr>
              <a:buSzPts val="1500"/>
              <a:buFont typeface="Calibri"/>
              <a:buNone/>
            </a:pPr>
            <a:r>
              <a:rPr b="0" i="0" lang="en-US" sz="1500" u="none" cap="none" strike="noStrike">
                <a:solidFill>
                  <a:srgbClr val="94A3B8"/>
                </a:solidFill>
                <a:latin typeface="Calibri"/>
                <a:ea typeface="Calibri"/>
                <a:cs typeface="Calibri"/>
                <a:sym typeface="Calibri"/>
              </a:rPr>
              <a:t>You start paying for finished results.</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217" name="Shape 217"/>
        <p:cNvGrpSpPr/>
        <p:nvPr/>
      </p:nvGrpSpPr>
      <p:grpSpPr>
        <a:xfrm>
          <a:off x="0" y="0"/>
          <a:ext cx="0" cy="0"/>
          <a:chOff x="0" y="0"/>
          <a:chExt cx="0" cy="0"/>
        </a:xfrm>
      </p:grpSpPr>
      <p:sp>
        <p:nvSpPr>
          <p:cNvPr id="218" name="Google Shape;218;p17"/>
          <p:cNvSpPr/>
          <p:nvPr/>
        </p:nvSpPr>
        <p:spPr>
          <a:xfrm>
            <a:off x="6858000" y="-1371600"/>
            <a:ext cx="4572000" cy="4572000"/>
          </a:xfrm>
          <a:prstGeom prst="ellipse">
            <a:avLst/>
          </a:prstGeom>
          <a:solidFill>
            <a:srgbClr val="3341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7"/>
          <p:cNvSpPr/>
          <p:nvPr/>
        </p:nvSpPr>
        <p:spPr>
          <a:xfrm>
            <a:off x="7315200" y="3200400"/>
            <a:ext cx="3657600" cy="3657600"/>
          </a:xfrm>
          <a:prstGeom prst="ellipse">
            <a:avLst/>
          </a:prstGeom>
          <a:solidFill>
            <a:srgbClr val="475569">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7"/>
          <p:cNvSpPr/>
          <p:nvPr/>
        </p:nvSpPr>
        <p:spPr>
          <a:xfrm>
            <a:off x="731520" y="1371600"/>
            <a:ext cx="7315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9488"/>
              </a:buClr>
              <a:buSzPts val="1300"/>
              <a:buFont typeface="Consolas"/>
              <a:buNone/>
            </a:pPr>
            <a:r>
              <a:rPr b="1" i="0" lang="en-US" sz="1300" u="none" cap="none" strike="noStrike">
                <a:solidFill>
                  <a:srgbClr val="0D9488"/>
                </a:solidFill>
                <a:latin typeface="Consolas"/>
                <a:ea typeface="Consolas"/>
                <a:cs typeface="Consolas"/>
                <a:sym typeface="Consolas"/>
              </a:rPr>
              <a:t>PART 04</a:t>
            </a:r>
            <a:endParaRPr b="0" i="0" sz="1300" u="none" cap="none" strike="noStrike">
              <a:solidFill>
                <a:schemeClr val="dk1"/>
              </a:solidFill>
              <a:latin typeface="Calibri"/>
              <a:ea typeface="Calibri"/>
              <a:cs typeface="Calibri"/>
              <a:sym typeface="Calibri"/>
            </a:endParaRPr>
          </a:p>
        </p:txBody>
      </p:sp>
      <p:sp>
        <p:nvSpPr>
          <p:cNvPr id="221" name="Google Shape;221;p17"/>
          <p:cNvSpPr/>
          <p:nvPr/>
        </p:nvSpPr>
        <p:spPr>
          <a:xfrm>
            <a:off x="731520" y="1920240"/>
            <a:ext cx="6858000" cy="1463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4000"/>
              <a:buFont typeface="Georgia"/>
              <a:buNone/>
            </a:pPr>
            <a:r>
              <a:rPr b="0" i="0" lang="en-US" sz="4000" u="none" cap="none" strike="noStrike">
                <a:solidFill>
                  <a:srgbClr val="FFFFFF"/>
                </a:solidFill>
                <a:latin typeface="Georgia"/>
                <a:ea typeface="Georgia"/>
                <a:cs typeface="Georgia"/>
                <a:sym typeface="Georgia"/>
              </a:rPr>
              <a:t>The Agent Factory Idea</a:t>
            </a:r>
            <a:endParaRPr b="0" i="0" sz="4000" u="none" cap="none" strike="noStrike">
              <a:solidFill>
                <a:schemeClr val="dk1"/>
              </a:solidFill>
              <a:latin typeface="Calibri"/>
              <a:ea typeface="Calibri"/>
              <a:cs typeface="Calibri"/>
              <a:sym typeface="Calibri"/>
            </a:endParaRPr>
          </a:p>
        </p:txBody>
      </p:sp>
      <p:sp>
        <p:nvSpPr>
          <p:cNvPr id="222" name="Google Shape;222;p17"/>
          <p:cNvSpPr/>
          <p:nvPr/>
        </p:nvSpPr>
        <p:spPr>
          <a:xfrm>
            <a:off x="731520" y="3840480"/>
            <a:ext cx="1097280" cy="54864"/>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3" name="Google Shape;223;p17"/>
          <p:cNvPicPr preferRelativeResize="0"/>
          <p:nvPr/>
        </p:nvPicPr>
        <p:blipFill rotWithShape="1">
          <a:blip r:embed="rId3">
            <a:alphaModFix/>
          </a:blip>
          <a:srcRect b="0" l="0" r="0" t="0"/>
          <a:stretch/>
        </p:blipFill>
        <p:spPr>
          <a:xfrm>
            <a:off x="7772400" y="3931920"/>
            <a:ext cx="640080" cy="64008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pic>
        <p:nvPicPr>
          <p:cNvPr id="229" name="Google Shape;229;p18" title="ChatGPT Image May 22, 2026, 12_49_15 AM.png"/>
          <p:cNvPicPr preferRelativeResize="0"/>
          <p:nvPr/>
        </p:nvPicPr>
        <p:blipFill>
          <a:blip r:embed="rId3">
            <a:alphaModFix/>
          </a:blip>
          <a:stretch>
            <a:fillRect/>
          </a:stretch>
        </p:blipFill>
        <p:spPr>
          <a:xfrm>
            <a:off x="0" y="-2736"/>
            <a:ext cx="9144001" cy="514623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pic>
        <p:nvPicPr>
          <p:cNvPr id="235" name="Google Shape;235;p19" title="ChatGPT Image May 22, 2026, 01_05_08 AM.png"/>
          <p:cNvPicPr preferRelativeResize="0"/>
          <p:nvPr/>
        </p:nvPicPr>
        <p:blipFill>
          <a:blip r:embed="rId3">
            <a:alphaModFix/>
          </a:blip>
          <a:stretch>
            <a:fillRect/>
          </a:stretch>
        </p:blipFill>
        <p:spPr>
          <a:xfrm>
            <a:off x="0" y="-2736"/>
            <a:ext cx="9144001" cy="514623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pic>
        <p:nvPicPr>
          <p:cNvPr id="241" name="Google Shape;241;p20" title="ChatGPT Image May 22, 2026, 01_13_20 AM.png"/>
          <p:cNvPicPr preferRelativeResize="0"/>
          <p:nvPr/>
        </p:nvPicPr>
        <p:blipFill>
          <a:blip r:embed="rId3">
            <a:alphaModFix/>
          </a:blip>
          <a:stretch>
            <a:fillRect/>
          </a:stretch>
        </p:blipFill>
        <p:spPr>
          <a:xfrm>
            <a:off x="0" y="0"/>
            <a:ext cx="9144001" cy="514623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246" name="Shape 246"/>
        <p:cNvGrpSpPr/>
        <p:nvPr/>
      </p:nvGrpSpPr>
      <p:grpSpPr>
        <a:xfrm>
          <a:off x="0" y="0"/>
          <a:ext cx="0" cy="0"/>
          <a:chOff x="0" y="0"/>
          <a:chExt cx="0" cy="0"/>
        </a:xfrm>
      </p:grpSpPr>
      <p:sp>
        <p:nvSpPr>
          <p:cNvPr id="247" name="Google Shape;247;p21"/>
          <p:cNvSpPr/>
          <p:nvPr/>
        </p:nvSpPr>
        <p:spPr>
          <a:xfrm>
            <a:off x="6858000" y="-1371600"/>
            <a:ext cx="4572000" cy="4572000"/>
          </a:xfrm>
          <a:prstGeom prst="ellipse">
            <a:avLst/>
          </a:prstGeom>
          <a:solidFill>
            <a:srgbClr val="3341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1"/>
          <p:cNvSpPr/>
          <p:nvPr/>
        </p:nvSpPr>
        <p:spPr>
          <a:xfrm>
            <a:off x="7315200" y="3200400"/>
            <a:ext cx="3657600" cy="3657600"/>
          </a:xfrm>
          <a:prstGeom prst="ellipse">
            <a:avLst/>
          </a:prstGeom>
          <a:solidFill>
            <a:srgbClr val="475569">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1"/>
          <p:cNvSpPr/>
          <p:nvPr/>
        </p:nvSpPr>
        <p:spPr>
          <a:xfrm>
            <a:off x="731520" y="1371600"/>
            <a:ext cx="7315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9488"/>
              </a:buClr>
              <a:buSzPts val="1300"/>
              <a:buFont typeface="Consolas"/>
              <a:buNone/>
            </a:pPr>
            <a:r>
              <a:rPr b="1" i="0" lang="en-US" sz="1300" u="none" cap="none" strike="noStrike">
                <a:solidFill>
                  <a:srgbClr val="0D9488"/>
                </a:solidFill>
                <a:latin typeface="Consolas"/>
                <a:ea typeface="Consolas"/>
                <a:cs typeface="Consolas"/>
                <a:sym typeface="Consolas"/>
              </a:rPr>
              <a:t>PART 05</a:t>
            </a:r>
            <a:endParaRPr b="0" i="0" sz="1300" u="none" cap="none" strike="noStrike">
              <a:solidFill>
                <a:schemeClr val="dk1"/>
              </a:solidFill>
              <a:latin typeface="Calibri"/>
              <a:ea typeface="Calibri"/>
              <a:cs typeface="Calibri"/>
              <a:sym typeface="Calibri"/>
            </a:endParaRPr>
          </a:p>
        </p:txBody>
      </p:sp>
      <p:sp>
        <p:nvSpPr>
          <p:cNvPr id="250" name="Google Shape;250;p21"/>
          <p:cNvSpPr/>
          <p:nvPr/>
        </p:nvSpPr>
        <p:spPr>
          <a:xfrm>
            <a:off x="731520" y="1920240"/>
            <a:ext cx="6858000" cy="1463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4000"/>
              <a:buFont typeface="Georgia"/>
              <a:buNone/>
            </a:pPr>
            <a:r>
              <a:rPr b="0" i="0" lang="en-US" sz="4000" u="none" cap="none" strike="noStrike">
                <a:solidFill>
                  <a:srgbClr val="FFFFFF"/>
                </a:solidFill>
                <a:latin typeface="Georgia"/>
                <a:ea typeface="Georgia"/>
                <a:cs typeface="Georgia"/>
                <a:sym typeface="Georgia"/>
              </a:rPr>
              <a:t>The 10-80-10 Rhythm</a:t>
            </a:r>
            <a:endParaRPr b="0" i="0" sz="4000" u="none" cap="none" strike="noStrike">
              <a:solidFill>
                <a:schemeClr val="dk1"/>
              </a:solidFill>
              <a:latin typeface="Calibri"/>
              <a:ea typeface="Calibri"/>
              <a:cs typeface="Calibri"/>
              <a:sym typeface="Calibri"/>
            </a:endParaRPr>
          </a:p>
        </p:txBody>
      </p:sp>
      <p:sp>
        <p:nvSpPr>
          <p:cNvPr id="251" name="Google Shape;251;p21"/>
          <p:cNvSpPr/>
          <p:nvPr/>
        </p:nvSpPr>
        <p:spPr>
          <a:xfrm>
            <a:off x="731520" y="3840480"/>
            <a:ext cx="1097280" cy="54864"/>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2" name="Google Shape;252;p21"/>
          <p:cNvPicPr preferRelativeResize="0"/>
          <p:nvPr/>
        </p:nvPicPr>
        <p:blipFill rotWithShape="1">
          <a:blip r:embed="rId3">
            <a:alphaModFix/>
          </a:blip>
          <a:srcRect b="0" l="0" r="0" t="0"/>
          <a:stretch/>
        </p:blipFill>
        <p:spPr>
          <a:xfrm>
            <a:off x="7772400" y="3931920"/>
            <a:ext cx="640080" cy="64008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pic>
        <p:nvPicPr>
          <p:cNvPr id="258" name="Google Shape;258;p22" title="WhatsApp Image 2026-05-21 at 10.58.35 PM.jpeg"/>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3" name="Shape 263"/>
        <p:cNvGrpSpPr/>
        <p:nvPr/>
      </p:nvGrpSpPr>
      <p:grpSpPr>
        <a:xfrm>
          <a:off x="0" y="0"/>
          <a:ext cx="0" cy="0"/>
          <a:chOff x="0" y="0"/>
          <a:chExt cx="0" cy="0"/>
        </a:xfrm>
      </p:grpSpPr>
      <p:sp>
        <p:nvSpPr>
          <p:cNvPr id="264" name="Google Shape;264;p23"/>
          <p:cNvSpPr/>
          <p:nvPr/>
        </p:nvSpPr>
        <p:spPr>
          <a:xfrm>
            <a:off x="731520" y="274320"/>
            <a:ext cx="76809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2800"/>
              <a:buFont typeface="Georgia"/>
              <a:buNone/>
            </a:pPr>
            <a:r>
              <a:rPr b="0" i="0" lang="en-US" sz="2800" u="none" cap="none" strike="noStrike">
                <a:solidFill>
                  <a:srgbClr val="1E293B"/>
                </a:solidFill>
                <a:latin typeface="Georgia"/>
                <a:ea typeface="Georgia"/>
                <a:cs typeface="Georgia"/>
                <a:sym typeface="Georgia"/>
              </a:rPr>
              <a:t>The 10-80-10 Split</a:t>
            </a:r>
            <a:endParaRPr b="0" i="0" sz="2800" u="none" cap="none" strike="noStrike">
              <a:solidFill>
                <a:schemeClr val="dk1"/>
              </a:solidFill>
              <a:latin typeface="Calibri"/>
              <a:ea typeface="Calibri"/>
              <a:cs typeface="Calibri"/>
              <a:sym typeface="Calibri"/>
            </a:endParaRPr>
          </a:p>
        </p:txBody>
      </p:sp>
      <p:sp>
        <p:nvSpPr>
          <p:cNvPr id="265" name="Google Shape;265;p23"/>
          <p:cNvSpPr/>
          <p:nvPr/>
        </p:nvSpPr>
        <p:spPr>
          <a:xfrm>
            <a:off x="731520" y="1188720"/>
            <a:ext cx="1463040" cy="1188720"/>
          </a:xfrm>
          <a:prstGeom prst="rect">
            <a:avLst/>
          </a:prstGeom>
          <a:solidFill>
            <a:srgbClr val="FFF7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3"/>
          <p:cNvSpPr/>
          <p:nvPr/>
        </p:nvSpPr>
        <p:spPr>
          <a:xfrm>
            <a:off x="731520" y="1234440"/>
            <a:ext cx="146304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7316"/>
              </a:buClr>
              <a:buSzPts val="2800"/>
              <a:buFont typeface="Georgia"/>
              <a:buNone/>
            </a:pPr>
            <a:r>
              <a:rPr b="0" i="0" lang="en-US" sz="2800" u="none" cap="none" strike="noStrike">
                <a:solidFill>
                  <a:srgbClr val="F97316"/>
                </a:solidFill>
                <a:latin typeface="Georgia"/>
                <a:ea typeface="Georgia"/>
                <a:cs typeface="Georgia"/>
                <a:sym typeface="Georgia"/>
              </a:rPr>
              <a:t>10%</a:t>
            </a:r>
            <a:endParaRPr b="0" i="0" sz="2800" u="none" cap="none" strike="noStrike">
              <a:solidFill>
                <a:schemeClr val="dk1"/>
              </a:solidFill>
              <a:latin typeface="Calibri"/>
              <a:ea typeface="Calibri"/>
              <a:cs typeface="Calibri"/>
              <a:sym typeface="Calibri"/>
            </a:endParaRPr>
          </a:p>
        </p:txBody>
      </p:sp>
      <p:sp>
        <p:nvSpPr>
          <p:cNvPr id="267" name="Google Shape;267;p23"/>
          <p:cNvSpPr/>
          <p:nvPr/>
        </p:nvSpPr>
        <p:spPr>
          <a:xfrm>
            <a:off x="731520" y="1737360"/>
            <a:ext cx="146304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7316"/>
              </a:buClr>
              <a:buSzPts val="1200"/>
              <a:buFont typeface="Calibri"/>
              <a:buNone/>
            </a:pPr>
            <a:r>
              <a:rPr b="0" i="0" lang="en-US" sz="1200" u="none" cap="none" strike="noStrike">
                <a:solidFill>
                  <a:srgbClr val="F97316"/>
                </a:solidFill>
                <a:latin typeface="Calibri"/>
                <a:ea typeface="Calibri"/>
                <a:cs typeface="Calibri"/>
                <a:sym typeface="Calibri"/>
              </a:rPr>
              <a:t>Human sets</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97316"/>
              </a:buClr>
              <a:buSzPts val="1200"/>
              <a:buFont typeface="Calibri"/>
              <a:buNone/>
            </a:pPr>
            <a:r>
              <a:rPr b="0" i="0" lang="en-US" sz="1200" u="none" cap="none" strike="noStrike">
                <a:solidFill>
                  <a:srgbClr val="F97316"/>
                </a:solidFill>
                <a:latin typeface="Calibri"/>
                <a:ea typeface="Calibri"/>
                <a:cs typeface="Calibri"/>
                <a:sym typeface="Calibri"/>
              </a:rPr>
              <a:t>direction</a:t>
            </a:r>
            <a:endParaRPr b="0" i="0" sz="1200" u="none" cap="none" strike="noStrike">
              <a:solidFill>
                <a:schemeClr val="dk1"/>
              </a:solidFill>
              <a:latin typeface="Calibri"/>
              <a:ea typeface="Calibri"/>
              <a:cs typeface="Calibri"/>
              <a:sym typeface="Calibri"/>
            </a:endParaRPr>
          </a:p>
        </p:txBody>
      </p:sp>
      <p:sp>
        <p:nvSpPr>
          <p:cNvPr id="268" name="Google Shape;268;p23"/>
          <p:cNvSpPr/>
          <p:nvPr/>
        </p:nvSpPr>
        <p:spPr>
          <a:xfrm>
            <a:off x="2377440" y="1188720"/>
            <a:ext cx="4572000" cy="1188720"/>
          </a:xfrm>
          <a:prstGeom prst="rect">
            <a:avLst/>
          </a:prstGeom>
          <a:solidFill>
            <a:srgbClr val="CCFB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3"/>
          <p:cNvSpPr/>
          <p:nvPr/>
        </p:nvSpPr>
        <p:spPr>
          <a:xfrm>
            <a:off x="2377440" y="1234440"/>
            <a:ext cx="4572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766E"/>
              </a:buClr>
              <a:buSzPts val="2800"/>
              <a:buFont typeface="Georgia"/>
              <a:buNone/>
            </a:pPr>
            <a:r>
              <a:rPr b="0" i="0" lang="en-US" sz="2800" u="none" cap="none" strike="noStrike">
                <a:solidFill>
                  <a:srgbClr val="0F766E"/>
                </a:solidFill>
                <a:latin typeface="Georgia"/>
                <a:ea typeface="Georgia"/>
                <a:cs typeface="Georgia"/>
                <a:sym typeface="Georgia"/>
              </a:rPr>
              <a:t>80%</a:t>
            </a:r>
            <a:endParaRPr b="0" i="0" sz="2800" u="none" cap="none" strike="noStrike">
              <a:solidFill>
                <a:schemeClr val="dk1"/>
              </a:solidFill>
              <a:latin typeface="Calibri"/>
              <a:ea typeface="Calibri"/>
              <a:cs typeface="Calibri"/>
              <a:sym typeface="Calibri"/>
            </a:endParaRPr>
          </a:p>
        </p:txBody>
      </p:sp>
      <p:sp>
        <p:nvSpPr>
          <p:cNvPr id="270" name="Google Shape;270;p23"/>
          <p:cNvSpPr/>
          <p:nvPr/>
        </p:nvSpPr>
        <p:spPr>
          <a:xfrm>
            <a:off x="2377440" y="1737360"/>
            <a:ext cx="4572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766E"/>
              </a:buClr>
              <a:buSzPts val="1200"/>
              <a:buFont typeface="Calibri"/>
              <a:buNone/>
            </a:pPr>
            <a:r>
              <a:rPr b="0" i="0" lang="en-US" sz="1200" u="none" cap="none" strike="noStrike">
                <a:solidFill>
                  <a:srgbClr val="0F766E"/>
                </a:solidFill>
                <a:latin typeface="Calibri"/>
                <a:ea typeface="Calibri"/>
                <a:cs typeface="Calibri"/>
                <a:sym typeface="Calibri"/>
              </a:rPr>
              <a:t>AI does the work</a:t>
            </a:r>
            <a:endParaRPr b="0" i="0" sz="1200" u="none" cap="none" strike="noStrike">
              <a:solidFill>
                <a:schemeClr val="dk1"/>
              </a:solidFill>
              <a:latin typeface="Calibri"/>
              <a:ea typeface="Calibri"/>
              <a:cs typeface="Calibri"/>
              <a:sym typeface="Calibri"/>
            </a:endParaRPr>
          </a:p>
        </p:txBody>
      </p:sp>
      <p:sp>
        <p:nvSpPr>
          <p:cNvPr id="271" name="Google Shape;271;p23"/>
          <p:cNvSpPr/>
          <p:nvPr/>
        </p:nvSpPr>
        <p:spPr>
          <a:xfrm>
            <a:off x="7132320" y="1188720"/>
            <a:ext cx="1280160" cy="1188720"/>
          </a:xfrm>
          <a:prstGeom prst="rect">
            <a:avLst/>
          </a:prstGeom>
          <a:solidFill>
            <a:srgbClr val="FFF7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3"/>
          <p:cNvSpPr/>
          <p:nvPr/>
        </p:nvSpPr>
        <p:spPr>
          <a:xfrm>
            <a:off x="7132320" y="1234440"/>
            <a:ext cx="128016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7316"/>
              </a:buClr>
              <a:buSzPts val="2800"/>
              <a:buFont typeface="Georgia"/>
              <a:buNone/>
            </a:pPr>
            <a:r>
              <a:rPr b="0" i="0" lang="en-US" sz="2800" u="none" cap="none" strike="noStrike">
                <a:solidFill>
                  <a:srgbClr val="F97316"/>
                </a:solidFill>
                <a:latin typeface="Georgia"/>
                <a:ea typeface="Georgia"/>
                <a:cs typeface="Georgia"/>
                <a:sym typeface="Georgia"/>
              </a:rPr>
              <a:t>10%</a:t>
            </a:r>
            <a:endParaRPr b="0" i="0" sz="2800" u="none" cap="none" strike="noStrike">
              <a:solidFill>
                <a:schemeClr val="dk1"/>
              </a:solidFill>
              <a:latin typeface="Calibri"/>
              <a:ea typeface="Calibri"/>
              <a:cs typeface="Calibri"/>
              <a:sym typeface="Calibri"/>
            </a:endParaRPr>
          </a:p>
        </p:txBody>
      </p:sp>
      <p:sp>
        <p:nvSpPr>
          <p:cNvPr id="273" name="Google Shape;273;p23"/>
          <p:cNvSpPr/>
          <p:nvPr/>
        </p:nvSpPr>
        <p:spPr>
          <a:xfrm>
            <a:off x="7132320" y="1737360"/>
            <a:ext cx="128016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97316"/>
              </a:buClr>
              <a:buSzPts val="1100"/>
              <a:buFont typeface="Calibri"/>
              <a:buNone/>
            </a:pPr>
            <a:r>
              <a:rPr b="0" i="0" lang="en-US" sz="1100" u="none" cap="none" strike="noStrike">
                <a:solidFill>
                  <a:srgbClr val="F97316"/>
                </a:solidFill>
                <a:latin typeface="Calibri"/>
                <a:ea typeface="Calibri"/>
                <a:cs typeface="Calibri"/>
                <a:sym typeface="Calibri"/>
              </a:rPr>
              <a:t>Human checks</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97316"/>
              </a:buClr>
              <a:buSzPts val="1100"/>
              <a:buFont typeface="Calibri"/>
              <a:buNone/>
            </a:pPr>
            <a:r>
              <a:rPr b="0" i="0" lang="en-US" sz="1100" u="none" cap="none" strike="noStrike">
                <a:solidFill>
                  <a:srgbClr val="F97316"/>
                </a:solidFill>
                <a:latin typeface="Calibri"/>
                <a:ea typeface="Calibri"/>
                <a:cs typeface="Calibri"/>
                <a:sym typeface="Calibri"/>
              </a:rPr>
              <a:t>&amp; approves</a:t>
            </a:r>
            <a:endParaRPr b="0" i="0" sz="1100" u="none" cap="none" strike="noStrike">
              <a:solidFill>
                <a:schemeClr val="dk1"/>
              </a:solidFill>
              <a:latin typeface="Calibri"/>
              <a:ea typeface="Calibri"/>
              <a:cs typeface="Calibri"/>
              <a:sym typeface="Calibri"/>
            </a:endParaRPr>
          </a:p>
        </p:txBody>
      </p:sp>
      <p:sp>
        <p:nvSpPr>
          <p:cNvPr id="274" name="Google Shape;274;p23"/>
          <p:cNvSpPr/>
          <p:nvPr/>
        </p:nvSpPr>
        <p:spPr>
          <a:xfrm>
            <a:off x="731520" y="2743200"/>
            <a:ext cx="768096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11D48"/>
              </a:buClr>
              <a:buSzPts val="2000"/>
              <a:buFont typeface="Georgia"/>
              <a:buNone/>
            </a:pPr>
            <a:r>
              <a:rPr b="0" i="0" lang="en-US" sz="2000" u="none" cap="none" strike="noStrike">
                <a:solidFill>
                  <a:srgbClr val="E11D48"/>
                </a:solidFill>
                <a:latin typeface="Georgia"/>
                <a:ea typeface="Georgia"/>
                <a:cs typeface="Georgia"/>
                <a:sym typeface="Georgia"/>
              </a:rPr>
              <a:t>Three Things That Always Stay With Humans</a:t>
            </a:r>
            <a:endParaRPr b="0" i="0" sz="2000" u="none" cap="none" strike="noStrike">
              <a:solidFill>
                <a:schemeClr val="dk1"/>
              </a:solidFill>
              <a:latin typeface="Calibri"/>
              <a:ea typeface="Calibri"/>
              <a:cs typeface="Calibri"/>
              <a:sym typeface="Calibri"/>
            </a:endParaRPr>
          </a:p>
        </p:txBody>
      </p:sp>
      <p:sp>
        <p:nvSpPr>
          <p:cNvPr id="275" name="Google Shape;275;p23"/>
          <p:cNvSpPr/>
          <p:nvPr/>
        </p:nvSpPr>
        <p:spPr>
          <a:xfrm>
            <a:off x="731520" y="3383280"/>
            <a:ext cx="2560320" cy="1280160"/>
          </a:xfrm>
          <a:prstGeom prst="rect">
            <a:avLst/>
          </a:prstGeom>
          <a:solidFill>
            <a:srgbClr val="FFF7ED"/>
          </a:solidFill>
          <a:ln>
            <a:noFill/>
          </a:ln>
          <a:effectLst>
            <a:outerShdw blurRad="76200" rotWithShape="0" algn="bl" dir="162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6" name="Google Shape;276;p23"/>
          <p:cNvPicPr preferRelativeResize="0"/>
          <p:nvPr/>
        </p:nvPicPr>
        <p:blipFill rotWithShape="1">
          <a:blip r:embed="rId3">
            <a:alphaModFix/>
          </a:blip>
          <a:srcRect b="0" l="0" r="0" t="0"/>
          <a:stretch/>
        </p:blipFill>
        <p:spPr>
          <a:xfrm>
            <a:off x="914400" y="3566160"/>
            <a:ext cx="365760" cy="365760"/>
          </a:xfrm>
          <a:prstGeom prst="rect">
            <a:avLst/>
          </a:prstGeom>
          <a:noFill/>
          <a:ln>
            <a:noFill/>
          </a:ln>
        </p:spPr>
      </p:pic>
      <p:sp>
        <p:nvSpPr>
          <p:cNvPr id="277" name="Google Shape;277;p23"/>
          <p:cNvSpPr/>
          <p:nvPr/>
        </p:nvSpPr>
        <p:spPr>
          <a:xfrm>
            <a:off x="1371600" y="3520440"/>
            <a:ext cx="17373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7316"/>
              </a:buClr>
              <a:buSzPts val="1500"/>
              <a:buFont typeface="Calibri"/>
              <a:buNone/>
            </a:pPr>
            <a:r>
              <a:rPr b="1" i="0" lang="en-US" sz="1500" u="none" cap="none" strike="noStrike">
                <a:solidFill>
                  <a:srgbClr val="F97316"/>
                </a:solidFill>
                <a:latin typeface="Calibri"/>
                <a:ea typeface="Calibri"/>
                <a:cs typeface="Calibri"/>
                <a:sym typeface="Calibri"/>
              </a:rPr>
              <a:t>Intent</a:t>
            </a:r>
            <a:endParaRPr b="0" i="0" sz="1500" u="none" cap="none" strike="noStrike">
              <a:solidFill>
                <a:schemeClr val="dk1"/>
              </a:solidFill>
              <a:latin typeface="Calibri"/>
              <a:ea typeface="Calibri"/>
              <a:cs typeface="Calibri"/>
              <a:sym typeface="Calibri"/>
            </a:endParaRPr>
          </a:p>
        </p:txBody>
      </p:sp>
      <p:sp>
        <p:nvSpPr>
          <p:cNvPr id="278" name="Google Shape;278;p23"/>
          <p:cNvSpPr/>
          <p:nvPr/>
        </p:nvSpPr>
        <p:spPr>
          <a:xfrm>
            <a:off x="1371600" y="3931920"/>
            <a:ext cx="173736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Knowing what you want</a:t>
            </a:r>
            <a:endParaRPr b="0" i="0" sz="1200" u="none" cap="none" strike="noStrike">
              <a:solidFill>
                <a:schemeClr val="dk1"/>
              </a:solidFill>
              <a:latin typeface="Calibri"/>
              <a:ea typeface="Calibri"/>
              <a:cs typeface="Calibri"/>
              <a:sym typeface="Calibri"/>
            </a:endParaRPr>
          </a:p>
        </p:txBody>
      </p:sp>
      <p:sp>
        <p:nvSpPr>
          <p:cNvPr id="279" name="Google Shape;279;p23"/>
          <p:cNvSpPr/>
          <p:nvPr/>
        </p:nvSpPr>
        <p:spPr>
          <a:xfrm>
            <a:off x="3520440" y="3383280"/>
            <a:ext cx="2560320" cy="1280160"/>
          </a:xfrm>
          <a:prstGeom prst="rect">
            <a:avLst/>
          </a:prstGeom>
          <a:solidFill>
            <a:srgbClr val="F0FDF4"/>
          </a:solidFill>
          <a:ln>
            <a:noFill/>
          </a:ln>
          <a:effectLst>
            <a:outerShdw blurRad="76200" rotWithShape="0" algn="bl" dir="162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80" name="Google Shape;280;p23"/>
          <p:cNvPicPr preferRelativeResize="0"/>
          <p:nvPr/>
        </p:nvPicPr>
        <p:blipFill rotWithShape="1">
          <a:blip r:embed="rId4">
            <a:alphaModFix/>
          </a:blip>
          <a:srcRect b="0" l="0" r="0" t="0"/>
          <a:stretch/>
        </p:blipFill>
        <p:spPr>
          <a:xfrm>
            <a:off x="3703320" y="3566160"/>
            <a:ext cx="365760" cy="365760"/>
          </a:xfrm>
          <a:prstGeom prst="rect">
            <a:avLst/>
          </a:prstGeom>
          <a:noFill/>
          <a:ln>
            <a:noFill/>
          </a:ln>
        </p:spPr>
      </p:pic>
      <p:sp>
        <p:nvSpPr>
          <p:cNvPr id="281" name="Google Shape;281;p23"/>
          <p:cNvSpPr/>
          <p:nvPr/>
        </p:nvSpPr>
        <p:spPr>
          <a:xfrm>
            <a:off x="4160520" y="3520440"/>
            <a:ext cx="17373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A34A"/>
              </a:buClr>
              <a:buSzPts val="1500"/>
              <a:buFont typeface="Calibri"/>
              <a:buNone/>
            </a:pPr>
            <a:r>
              <a:rPr b="1" i="0" lang="en-US" sz="1500" u="none" cap="none" strike="noStrike">
                <a:solidFill>
                  <a:srgbClr val="16A34A"/>
                </a:solidFill>
                <a:latin typeface="Calibri"/>
                <a:ea typeface="Calibri"/>
                <a:cs typeface="Calibri"/>
                <a:sym typeface="Calibri"/>
              </a:rPr>
              <a:t>Verification</a:t>
            </a:r>
            <a:endParaRPr b="0" i="0" sz="1500" u="none" cap="none" strike="noStrike">
              <a:solidFill>
                <a:schemeClr val="dk1"/>
              </a:solidFill>
              <a:latin typeface="Calibri"/>
              <a:ea typeface="Calibri"/>
              <a:cs typeface="Calibri"/>
              <a:sym typeface="Calibri"/>
            </a:endParaRPr>
          </a:p>
        </p:txBody>
      </p:sp>
      <p:sp>
        <p:nvSpPr>
          <p:cNvPr id="282" name="Google Shape;282;p23"/>
          <p:cNvSpPr/>
          <p:nvPr/>
        </p:nvSpPr>
        <p:spPr>
          <a:xfrm>
            <a:off x="4160520" y="3931920"/>
            <a:ext cx="173736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Checking if the work is good</a:t>
            </a:r>
            <a:endParaRPr b="0" i="0" sz="1200" u="none" cap="none" strike="noStrike">
              <a:solidFill>
                <a:schemeClr val="dk1"/>
              </a:solidFill>
              <a:latin typeface="Calibri"/>
              <a:ea typeface="Calibri"/>
              <a:cs typeface="Calibri"/>
              <a:sym typeface="Calibri"/>
            </a:endParaRPr>
          </a:p>
        </p:txBody>
      </p:sp>
      <p:sp>
        <p:nvSpPr>
          <p:cNvPr id="283" name="Google Shape;283;p23"/>
          <p:cNvSpPr/>
          <p:nvPr/>
        </p:nvSpPr>
        <p:spPr>
          <a:xfrm>
            <a:off x="6309360" y="3383280"/>
            <a:ext cx="2560320" cy="1280160"/>
          </a:xfrm>
          <a:prstGeom prst="rect">
            <a:avLst/>
          </a:prstGeom>
          <a:solidFill>
            <a:srgbClr val="FFF1F2"/>
          </a:solidFill>
          <a:ln>
            <a:noFill/>
          </a:ln>
          <a:effectLst>
            <a:outerShdw blurRad="76200" rotWithShape="0" algn="bl" dir="162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84" name="Google Shape;284;p23"/>
          <p:cNvPicPr preferRelativeResize="0"/>
          <p:nvPr/>
        </p:nvPicPr>
        <p:blipFill rotWithShape="1">
          <a:blip r:embed="rId5">
            <a:alphaModFix/>
          </a:blip>
          <a:srcRect b="0" l="0" r="0" t="0"/>
          <a:stretch/>
        </p:blipFill>
        <p:spPr>
          <a:xfrm>
            <a:off x="6492240" y="3566160"/>
            <a:ext cx="365760" cy="365760"/>
          </a:xfrm>
          <a:prstGeom prst="rect">
            <a:avLst/>
          </a:prstGeom>
          <a:noFill/>
          <a:ln>
            <a:noFill/>
          </a:ln>
        </p:spPr>
      </p:pic>
      <p:sp>
        <p:nvSpPr>
          <p:cNvPr id="285" name="Google Shape;285;p23"/>
          <p:cNvSpPr/>
          <p:nvPr/>
        </p:nvSpPr>
        <p:spPr>
          <a:xfrm>
            <a:off x="6949440" y="3520440"/>
            <a:ext cx="17373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11D48"/>
              </a:buClr>
              <a:buSzPts val="1500"/>
              <a:buFont typeface="Calibri"/>
              <a:buNone/>
            </a:pPr>
            <a:r>
              <a:rPr b="1" i="0" lang="en-US" sz="1500" u="none" cap="none" strike="noStrike">
                <a:solidFill>
                  <a:srgbClr val="E11D48"/>
                </a:solidFill>
                <a:latin typeface="Calibri"/>
                <a:ea typeface="Calibri"/>
                <a:cs typeface="Calibri"/>
                <a:sym typeface="Calibri"/>
              </a:rPr>
              <a:t>Ownership</a:t>
            </a:r>
            <a:endParaRPr b="0" i="0" sz="1500" u="none" cap="none" strike="noStrike">
              <a:solidFill>
                <a:schemeClr val="dk1"/>
              </a:solidFill>
              <a:latin typeface="Calibri"/>
              <a:ea typeface="Calibri"/>
              <a:cs typeface="Calibri"/>
              <a:sym typeface="Calibri"/>
            </a:endParaRPr>
          </a:p>
        </p:txBody>
      </p:sp>
      <p:sp>
        <p:nvSpPr>
          <p:cNvPr id="286" name="Google Shape;286;p23"/>
          <p:cNvSpPr/>
          <p:nvPr/>
        </p:nvSpPr>
        <p:spPr>
          <a:xfrm>
            <a:off x="6949440" y="3931920"/>
            <a:ext cx="173736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Being responsible for the result</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1" name="Shape 291"/>
        <p:cNvGrpSpPr/>
        <p:nvPr/>
      </p:nvGrpSpPr>
      <p:grpSpPr>
        <a:xfrm>
          <a:off x="0" y="0"/>
          <a:ext cx="0" cy="0"/>
          <a:chOff x="0" y="0"/>
          <a:chExt cx="0" cy="0"/>
        </a:xfrm>
      </p:grpSpPr>
      <p:sp>
        <p:nvSpPr>
          <p:cNvPr id="292" name="Google Shape;292;p24"/>
          <p:cNvSpPr/>
          <p:nvPr/>
        </p:nvSpPr>
        <p:spPr>
          <a:xfrm>
            <a:off x="731520" y="320040"/>
            <a:ext cx="76809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2800"/>
              <a:buFont typeface="Georgia"/>
              <a:buNone/>
            </a:pPr>
            <a:r>
              <a:rPr b="0" i="0" lang="en-US" sz="2800" u="none" cap="none" strike="noStrike">
                <a:solidFill>
                  <a:srgbClr val="1E293B"/>
                </a:solidFill>
                <a:latin typeface="Georgia"/>
                <a:ea typeface="Georgia"/>
                <a:cs typeface="Georgia"/>
                <a:sym typeface="Georgia"/>
              </a:rPr>
              <a:t>You're Promoted, Not Replaced</a:t>
            </a:r>
            <a:endParaRPr b="0" i="0" sz="2800" u="none" cap="none" strike="noStrike">
              <a:solidFill>
                <a:schemeClr val="dk1"/>
              </a:solidFill>
              <a:latin typeface="Calibri"/>
              <a:ea typeface="Calibri"/>
              <a:cs typeface="Calibri"/>
              <a:sym typeface="Calibri"/>
            </a:endParaRPr>
          </a:p>
        </p:txBody>
      </p:sp>
      <p:sp>
        <p:nvSpPr>
          <p:cNvPr id="293" name="Google Shape;293;p24"/>
          <p:cNvSpPr/>
          <p:nvPr/>
        </p:nvSpPr>
        <p:spPr>
          <a:xfrm>
            <a:off x="731520" y="1005840"/>
            <a:ext cx="7680960" cy="1463040"/>
          </a:xfrm>
          <a:prstGeom prst="rect">
            <a:avLst/>
          </a:prstGeom>
          <a:solidFill>
            <a:srgbClr val="CCFB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4"/>
          <p:cNvSpPr/>
          <p:nvPr/>
        </p:nvSpPr>
        <p:spPr>
          <a:xfrm>
            <a:off x="731520" y="1005840"/>
            <a:ext cx="54864" cy="146304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5" name="Google Shape;295;p24"/>
          <p:cNvPicPr preferRelativeResize="0"/>
          <p:nvPr/>
        </p:nvPicPr>
        <p:blipFill rotWithShape="1">
          <a:blip r:embed="rId3">
            <a:alphaModFix/>
          </a:blip>
          <a:srcRect b="0" l="0" r="0" t="0"/>
          <a:stretch/>
        </p:blipFill>
        <p:spPr>
          <a:xfrm>
            <a:off x="1005840" y="1188720"/>
            <a:ext cx="457200" cy="457200"/>
          </a:xfrm>
          <a:prstGeom prst="rect">
            <a:avLst/>
          </a:prstGeom>
          <a:noFill/>
          <a:ln>
            <a:noFill/>
          </a:ln>
        </p:spPr>
      </p:pic>
      <p:sp>
        <p:nvSpPr>
          <p:cNvPr id="296" name="Google Shape;296;p24"/>
          <p:cNvSpPr/>
          <p:nvPr/>
        </p:nvSpPr>
        <p:spPr>
          <a:xfrm>
            <a:off x="1645920" y="1143000"/>
            <a:ext cx="3657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766E"/>
              </a:buClr>
              <a:buSzPts val="1600"/>
              <a:buFont typeface="Calibri"/>
              <a:buNone/>
            </a:pPr>
            <a:r>
              <a:rPr b="1" i="0" lang="en-US" sz="1800" u="none" cap="none" strike="noStrike">
                <a:solidFill>
                  <a:srgbClr val="0F766E"/>
                </a:solidFill>
                <a:latin typeface="Calibri"/>
                <a:ea typeface="Calibri"/>
                <a:cs typeface="Calibri"/>
                <a:sym typeface="Calibri"/>
              </a:rPr>
              <a:t>The Human Role</a:t>
            </a:r>
            <a:endParaRPr b="0" i="0" sz="1800" u="none" cap="none" strike="noStrike">
              <a:solidFill>
                <a:schemeClr val="dk1"/>
              </a:solidFill>
              <a:latin typeface="Calibri"/>
              <a:ea typeface="Calibri"/>
              <a:cs typeface="Calibri"/>
              <a:sym typeface="Calibri"/>
            </a:endParaRPr>
          </a:p>
        </p:txBody>
      </p:sp>
      <p:sp>
        <p:nvSpPr>
          <p:cNvPr id="297" name="Google Shape;297;p24"/>
          <p:cNvSpPr/>
          <p:nvPr/>
        </p:nvSpPr>
        <p:spPr>
          <a:xfrm>
            <a:off x="1645920" y="1554480"/>
            <a:ext cx="640080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1E293B"/>
              </a:buClr>
              <a:buSzPts val="1400"/>
              <a:buFont typeface="Calibri"/>
              <a:buNone/>
            </a:pPr>
            <a:r>
              <a:rPr b="0" i="0" lang="en-US" sz="1600" u="none" cap="none" strike="noStrike">
                <a:solidFill>
                  <a:srgbClr val="1E293B"/>
                </a:solidFill>
                <a:latin typeface="Calibri"/>
                <a:ea typeface="Calibri"/>
                <a:cs typeface="Calibri"/>
                <a:sym typeface="Calibri"/>
              </a:rPr>
              <a:t>You are promoted, not replaced. From typist to editor. From coder to architect. From worker to director. AI takes over the middle 80%. You keep the parts that matter most — direction and judgment.</a:t>
            </a:r>
            <a:endParaRPr b="0" i="0" sz="1600" u="none" cap="none" strike="noStrike">
              <a:solidFill>
                <a:schemeClr val="dk1"/>
              </a:solidFill>
              <a:latin typeface="Calibri"/>
              <a:ea typeface="Calibri"/>
              <a:cs typeface="Calibri"/>
              <a:sym typeface="Calibri"/>
            </a:endParaRPr>
          </a:p>
        </p:txBody>
      </p:sp>
      <p:sp>
        <p:nvSpPr>
          <p:cNvPr id="298" name="Google Shape;298;p24"/>
          <p:cNvSpPr/>
          <p:nvPr/>
        </p:nvSpPr>
        <p:spPr>
          <a:xfrm>
            <a:off x="548640" y="2834640"/>
            <a:ext cx="1645920" cy="320040"/>
          </a:xfrm>
          <a:prstGeom prst="rect">
            <a:avLst/>
          </a:prstGeom>
          <a:solidFill>
            <a:srgbClr val="EEF2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4"/>
          <p:cNvSpPr/>
          <p:nvPr/>
        </p:nvSpPr>
        <p:spPr>
          <a:xfrm>
            <a:off x="640080" y="2834640"/>
            <a:ext cx="14630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F46E5"/>
              </a:buClr>
              <a:buSzPts val="900"/>
              <a:buFont typeface="Consolas"/>
              <a:buNone/>
            </a:pPr>
            <a:r>
              <a:rPr b="0" i="0" lang="en-US" sz="1200" u="none" cap="none" strike="noStrike">
                <a:solidFill>
                  <a:srgbClr val="4F46E5"/>
                </a:solidFill>
                <a:latin typeface="Consolas"/>
                <a:ea typeface="Consolas"/>
                <a:cs typeface="Consolas"/>
                <a:sym typeface="Consolas"/>
              </a:rPr>
              <a:t>REAL EXAMPLE</a:t>
            </a:r>
            <a:endParaRPr b="0" i="0" sz="1200" u="none" cap="none" strike="noStrike">
              <a:solidFill>
                <a:schemeClr val="dk1"/>
              </a:solidFill>
              <a:latin typeface="Calibri"/>
              <a:ea typeface="Calibri"/>
              <a:cs typeface="Calibri"/>
              <a:sym typeface="Calibri"/>
            </a:endParaRPr>
          </a:p>
        </p:txBody>
      </p:sp>
      <p:sp>
        <p:nvSpPr>
          <p:cNvPr id="300" name="Google Shape;300;p24"/>
          <p:cNvSpPr/>
          <p:nvPr/>
        </p:nvSpPr>
        <p:spPr>
          <a:xfrm>
            <a:off x="731520" y="3383280"/>
            <a:ext cx="3657600" cy="137160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4"/>
          <p:cNvSpPr/>
          <p:nvPr/>
        </p:nvSpPr>
        <p:spPr>
          <a:xfrm>
            <a:off x="731520" y="3383280"/>
            <a:ext cx="3657600" cy="36576"/>
          </a:xfrm>
          <a:prstGeom prst="rect">
            <a:avLst/>
          </a:prstGeom>
          <a:solidFill>
            <a:srgbClr val="94A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4"/>
          <p:cNvSpPr/>
          <p:nvPr/>
        </p:nvSpPr>
        <p:spPr>
          <a:xfrm>
            <a:off x="914400" y="3474720"/>
            <a:ext cx="3200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75569"/>
              </a:buClr>
              <a:buSzPts val="1200"/>
              <a:buFont typeface="Consolas"/>
              <a:buNone/>
            </a:pPr>
            <a:r>
              <a:rPr b="1" i="0" lang="en-US" u="none" cap="none" strike="noStrike">
                <a:solidFill>
                  <a:srgbClr val="475569"/>
                </a:solidFill>
                <a:latin typeface="Consolas"/>
                <a:ea typeface="Consolas"/>
                <a:cs typeface="Consolas"/>
                <a:sym typeface="Consolas"/>
              </a:rPr>
              <a:t>Old Way</a:t>
            </a:r>
            <a:endParaRPr b="0" i="0" u="none" cap="none" strike="noStrike">
              <a:solidFill>
                <a:schemeClr val="dk1"/>
              </a:solidFill>
              <a:latin typeface="Calibri"/>
              <a:ea typeface="Calibri"/>
              <a:cs typeface="Calibri"/>
              <a:sym typeface="Calibri"/>
            </a:endParaRPr>
          </a:p>
        </p:txBody>
      </p:sp>
      <p:sp>
        <p:nvSpPr>
          <p:cNvPr id="303" name="Google Shape;303;p24"/>
          <p:cNvSpPr/>
          <p:nvPr/>
        </p:nvSpPr>
        <p:spPr>
          <a:xfrm>
            <a:off x="914400" y="3840480"/>
            <a:ext cx="320040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75569"/>
              </a:buClr>
              <a:buSzPts val="1300"/>
              <a:buFont typeface="Calibri"/>
              <a:buNone/>
            </a:pPr>
            <a:r>
              <a:rPr b="0" i="0" lang="en-US" sz="1600" u="none" cap="none" strike="noStrike">
                <a:solidFill>
                  <a:srgbClr val="475569"/>
                </a:solidFill>
                <a:latin typeface="Calibri"/>
                <a:ea typeface="Calibri"/>
                <a:cs typeface="Calibri"/>
                <a:sym typeface="Calibri"/>
              </a:rPr>
              <a:t>You spend 4 hours writing a business report yourself.</a:t>
            </a:r>
            <a:endParaRPr b="0" i="0" sz="1600" u="none" cap="none" strike="noStrike">
              <a:solidFill>
                <a:schemeClr val="dk1"/>
              </a:solidFill>
              <a:latin typeface="Calibri"/>
              <a:ea typeface="Calibri"/>
              <a:cs typeface="Calibri"/>
              <a:sym typeface="Calibri"/>
            </a:endParaRPr>
          </a:p>
        </p:txBody>
      </p:sp>
      <p:sp>
        <p:nvSpPr>
          <p:cNvPr id="304" name="Google Shape;304;p24"/>
          <p:cNvSpPr/>
          <p:nvPr/>
        </p:nvSpPr>
        <p:spPr>
          <a:xfrm>
            <a:off x="4754880" y="3383280"/>
            <a:ext cx="3657600" cy="1371600"/>
          </a:xfrm>
          <a:prstGeom prst="rect">
            <a:avLst/>
          </a:prstGeom>
          <a:solidFill>
            <a:srgbClr val="CCFB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4"/>
          <p:cNvSpPr/>
          <p:nvPr/>
        </p:nvSpPr>
        <p:spPr>
          <a:xfrm>
            <a:off x="4754880" y="3383280"/>
            <a:ext cx="3657600" cy="36576"/>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4"/>
          <p:cNvSpPr/>
          <p:nvPr/>
        </p:nvSpPr>
        <p:spPr>
          <a:xfrm>
            <a:off x="4937760" y="3474720"/>
            <a:ext cx="3200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766E"/>
              </a:buClr>
              <a:buSzPts val="1200"/>
              <a:buFont typeface="Consolas"/>
              <a:buNone/>
            </a:pPr>
            <a:r>
              <a:rPr b="1" i="0" lang="en-US" u="none" cap="none" strike="noStrike">
                <a:solidFill>
                  <a:srgbClr val="0F766E"/>
                </a:solidFill>
                <a:latin typeface="Consolas"/>
                <a:ea typeface="Consolas"/>
                <a:cs typeface="Consolas"/>
                <a:sym typeface="Consolas"/>
              </a:rPr>
              <a:t>New Way</a:t>
            </a:r>
            <a:endParaRPr b="0" i="0" u="none" cap="none" strike="noStrike">
              <a:solidFill>
                <a:schemeClr val="dk1"/>
              </a:solidFill>
              <a:latin typeface="Calibri"/>
              <a:ea typeface="Calibri"/>
              <a:cs typeface="Calibri"/>
              <a:sym typeface="Calibri"/>
            </a:endParaRPr>
          </a:p>
        </p:txBody>
      </p:sp>
      <p:sp>
        <p:nvSpPr>
          <p:cNvPr id="307" name="Google Shape;307;p24"/>
          <p:cNvSpPr/>
          <p:nvPr/>
        </p:nvSpPr>
        <p:spPr>
          <a:xfrm>
            <a:off x="4851150" y="3849625"/>
            <a:ext cx="3807900" cy="73140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1E293B"/>
              </a:buClr>
              <a:buSzPts val="1300"/>
              <a:buFont typeface="Calibri"/>
              <a:buNone/>
            </a:pPr>
            <a:r>
              <a:rPr b="0" i="0" lang="en-US" sz="1600" u="none" cap="none" strike="noStrike">
                <a:solidFill>
                  <a:srgbClr val="1E293B"/>
                </a:solidFill>
                <a:latin typeface="Calibri"/>
                <a:ea typeface="Calibri"/>
                <a:cs typeface="Calibri"/>
                <a:sym typeface="Calibri"/>
              </a:rPr>
              <a:t>20 min writing clear instructions. AI writes the report in 5 min. 20 min reviewing and fixing. Same quality. One-tenth the time.</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312" name="Shape 312"/>
        <p:cNvGrpSpPr/>
        <p:nvPr/>
      </p:nvGrpSpPr>
      <p:grpSpPr>
        <a:xfrm>
          <a:off x="0" y="0"/>
          <a:ext cx="0" cy="0"/>
          <a:chOff x="0" y="0"/>
          <a:chExt cx="0" cy="0"/>
        </a:xfrm>
      </p:grpSpPr>
      <p:sp>
        <p:nvSpPr>
          <p:cNvPr id="313" name="Google Shape;313;p25"/>
          <p:cNvSpPr/>
          <p:nvPr/>
        </p:nvSpPr>
        <p:spPr>
          <a:xfrm>
            <a:off x="6858000" y="-1371600"/>
            <a:ext cx="4572000" cy="4572000"/>
          </a:xfrm>
          <a:prstGeom prst="ellipse">
            <a:avLst/>
          </a:prstGeom>
          <a:solidFill>
            <a:srgbClr val="3341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5"/>
          <p:cNvSpPr/>
          <p:nvPr/>
        </p:nvSpPr>
        <p:spPr>
          <a:xfrm>
            <a:off x="7315200" y="3200400"/>
            <a:ext cx="3657600" cy="3657600"/>
          </a:xfrm>
          <a:prstGeom prst="ellipse">
            <a:avLst/>
          </a:prstGeom>
          <a:solidFill>
            <a:srgbClr val="475569">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5"/>
          <p:cNvSpPr/>
          <p:nvPr/>
        </p:nvSpPr>
        <p:spPr>
          <a:xfrm>
            <a:off x="731520" y="1371600"/>
            <a:ext cx="7315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9488"/>
              </a:buClr>
              <a:buSzPts val="1300"/>
              <a:buFont typeface="Consolas"/>
              <a:buNone/>
            </a:pPr>
            <a:r>
              <a:rPr b="1" i="0" lang="en-US" sz="1300" u="none" cap="none" strike="noStrike">
                <a:solidFill>
                  <a:srgbClr val="0D9488"/>
                </a:solidFill>
                <a:latin typeface="Consolas"/>
                <a:ea typeface="Consolas"/>
                <a:cs typeface="Consolas"/>
                <a:sym typeface="Consolas"/>
              </a:rPr>
              <a:t>PART 06</a:t>
            </a:r>
            <a:endParaRPr b="0" i="0" sz="1300" u="none" cap="none" strike="noStrike">
              <a:solidFill>
                <a:schemeClr val="dk1"/>
              </a:solidFill>
              <a:latin typeface="Calibri"/>
              <a:ea typeface="Calibri"/>
              <a:cs typeface="Calibri"/>
              <a:sym typeface="Calibri"/>
            </a:endParaRPr>
          </a:p>
        </p:txBody>
      </p:sp>
      <p:sp>
        <p:nvSpPr>
          <p:cNvPr id="316" name="Google Shape;316;p25"/>
          <p:cNvSpPr/>
          <p:nvPr/>
        </p:nvSpPr>
        <p:spPr>
          <a:xfrm>
            <a:off x="731520" y="1920240"/>
            <a:ext cx="6858000" cy="1463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4000"/>
              <a:buFont typeface="Georgia"/>
              <a:buNone/>
            </a:pPr>
            <a:r>
              <a:rPr b="0" i="0" lang="en-US" sz="4000" u="none" cap="none" strike="noStrike">
                <a:solidFill>
                  <a:srgbClr val="FFFFFF"/>
                </a:solidFill>
                <a:latin typeface="Georgia"/>
                <a:ea typeface="Georgia"/>
                <a:cs typeface="Georgia"/>
                <a:sym typeface="Georgia"/>
              </a:rPr>
              <a:t>Your Personal AI Delegate</a:t>
            </a:r>
            <a:endParaRPr b="0" i="0" sz="4000" u="none" cap="none" strike="noStrike">
              <a:solidFill>
                <a:schemeClr val="dk1"/>
              </a:solidFill>
              <a:latin typeface="Calibri"/>
              <a:ea typeface="Calibri"/>
              <a:cs typeface="Calibri"/>
              <a:sym typeface="Calibri"/>
            </a:endParaRPr>
          </a:p>
        </p:txBody>
      </p:sp>
      <p:sp>
        <p:nvSpPr>
          <p:cNvPr id="317" name="Google Shape;317;p25"/>
          <p:cNvSpPr/>
          <p:nvPr/>
        </p:nvSpPr>
        <p:spPr>
          <a:xfrm>
            <a:off x="731520" y="3840480"/>
            <a:ext cx="1097280" cy="54864"/>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8" name="Google Shape;318;p25"/>
          <p:cNvPicPr preferRelativeResize="0"/>
          <p:nvPr/>
        </p:nvPicPr>
        <p:blipFill rotWithShape="1">
          <a:blip r:embed="rId3">
            <a:alphaModFix/>
          </a:blip>
          <a:srcRect b="0" l="0" r="0" t="0"/>
          <a:stretch/>
        </p:blipFill>
        <p:spPr>
          <a:xfrm>
            <a:off x="7772400" y="3931920"/>
            <a:ext cx="640080" cy="64008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pic>
        <p:nvPicPr>
          <p:cNvPr id="324" name="Google Shape;324;p26" title="ChatGPT Image May 21, 2026, 11_18_46 PM.png"/>
          <p:cNvPicPr preferRelativeResize="0"/>
          <p:nvPr/>
        </p:nvPicPr>
        <p:blipFill>
          <a:blip r:embed="rId3">
            <a:alphaModFix/>
          </a:blip>
          <a:stretch>
            <a:fillRect/>
          </a:stretch>
        </p:blipFill>
        <p:spPr>
          <a:xfrm>
            <a:off x="0" y="0"/>
            <a:ext cx="9139152" cy="521012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329" name="Shape 329"/>
        <p:cNvGrpSpPr/>
        <p:nvPr/>
      </p:nvGrpSpPr>
      <p:grpSpPr>
        <a:xfrm>
          <a:off x="0" y="0"/>
          <a:ext cx="0" cy="0"/>
          <a:chOff x="0" y="0"/>
          <a:chExt cx="0" cy="0"/>
        </a:xfrm>
      </p:grpSpPr>
      <p:sp>
        <p:nvSpPr>
          <p:cNvPr id="330" name="Google Shape;330;p27"/>
          <p:cNvSpPr/>
          <p:nvPr/>
        </p:nvSpPr>
        <p:spPr>
          <a:xfrm>
            <a:off x="731520" y="274320"/>
            <a:ext cx="76809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2800"/>
              <a:buFont typeface="Georgia"/>
              <a:buNone/>
            </a:pPr>
            <a:r>
              <a:rPr b="0" i="0" lang="en-US" sz="2800" u="none" cap="none" strike="noStrike">
                <a:solidFill>
                  <a:srgbClr val="1E293B"/>
                </a:solidFill>
                <a:latin typeface="Georgia"/>
                <a:ea typeface="Georgia"/>
                <a:cs typeface="Georgia"/>
                <a:sym typeface="Georgia"/>
              </a:rPr>
              <a:t>The Two-Layer Model</a:t>
            </a:r>
            <a:endParaRPr b="0" i="0" sz="2800" u="none" cap="none" strike="noStrike">
              <a:solidFill>
                <a:schemeClr val="dk1"/>
              </a:solidFill>
              <a:latin typeface="Calibri"/>
              <a:ea typeface="Calibri"/>
              <a:cs typeface="Calibri"/>
              <a:sym typeface="Calibri"/>
            </a:endParaRPr>
          </a:p>
        </p:txBody>
      </p:sp>
      <p:sp>
        <p:nvSpPr>
          <p:cNvPr id="331" name="Google Shape;331;p27"/>
          <p:cNvSpPr/>
          <p:nvPr/>
        </p:nvSpPr>
        <p:spPr>
          <a:xfrm>
            <a:off x="731520" y="1005840"/>
            <a:ext cx="7680960" cy="1463040"/>
          </a:xfrm>
          <a:prstGeom prst="rect">
            <a:avLst/>
          </a:prstGeom>
          <a:solidFill>
            <a:srgbClr val="FFFFFF"/>
          </a:solidFill>
          <a:ln>
            <a:noFill/>
          </a:ln>
          <a:effectLst>
            <a:outerShdw blurRad="76200" rotWithShape="0" algn="bl" dir="162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7"/>
          <p:cNvSpPr/>
          <p:nvPr/>
        </p:nvSpPr>
        <p:spPr>
          <a:xfrm>
            <a:off x="731520" y="1005840"/>
            <a:ext cx="7680960" cy="45720"/>
          </a:xfrm>
          <a:prstGeom prst="rect">
            <a:avLst/>
          </a:prstGeom>
          <a:solidFill>
            <a:srgbClr val="4F46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7"/>
          <p:cNvSpPr/>
          <p:nvPr/>
        </p:nvSpPr>
        <p:spPr>
          <a:xfrm>
            <a:off x="914400" y="1143000"/>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F46E5"/>
              </a:buClr>
              <a:buSzPts val="1000"/>
              <a:buFont typeface="Consolas"/>
              <a:buNone/>
            </a:pPr>
            <a:r>
              <a:rPr b="0" i="0" lang="en-US" sz="1000" u="none" cap="none" strike="noStrike">
                <a:solidFill>
                  <a:srgbClr val="4F46E5"/>
                </a:solidFill>
                <a:latin typeface="Consolas"/>
                <a:ea typeface="Consolas"/>
                <a:cs typeface="Consolas"/>
                <a:sym typeface="Consolas"/>
              </a:rPr>
              <a:t>EDGE LAYER</a:t>
            </a:r>
            <a:endParaRPr b="0" i="0" sz="1000" u="none" cap="none" strike="noStrike">
              <a:solidFill>
                <a:schemeClr val="dk1"/>
              </a:solidFill>
              <a:latin typeface="Calibri"/>
              <a:ea typeface="Calibri"/>
              <a:cs typeface="Calibri"/>
              <a:sym typeface="Calibri"/>
            </a:endParaRPr>
          </a:p>
        </p:txBody>
      </p:sp>
      <p:pic>
        <p:nvPicPr>
          <p:cNvPr descr="preencoded.png" id="334" name="Google Shape;334;p27"/>
          <p:cNvPicPr preferRelativeResize="0"/>
          <p:nvPr/>
        </p:nvPicPr>
        <p:blipFill rotWithShape="1">
          <a:blip r:embed="rId3">
            <a:alphaModFix/>
          </a:blip>
          <a:srcRect b="0" l="0" r="0" t="0"/>
          <a:stretch/>
        </p:blipFill>
        <p:spPr>
          <a:xfrm>
            <a:off x="1371600" y="1554480"/>
            <a:ext cx="457200" cy="457200"/>
          </a:xfrm>
          <a:prstGeom prst="rect">
            <a:avLst/>
          </a:prstGeom>
          <a:noFill/>
          <a:ln>
            <a:noFill/>
          </a:ln>
        </p:spPr>
      </p:pic>
      <p:sp>
        <p:nvSpPr>
          <p:cNvPr id="335" name="Google Shape;335;p27"/>
          <p:cNvSpPr/>
          <p:nvPr/>
        </p:nvSpPr>
        <p:spPr>
          <a:xfrm>
            <a:off x="1188720" y="2011680"/>
            <a:ext cx="8229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You</a:t>
            </a:r>
            <a:endParaRPr b="0" i="0" sz="1200" u="none" cap="none" strike="noStrike">
              <a:solidFill>
                <a:schemeClr val="dk1"/>
              </a:solidFill>
              <a:latin typeface="Calibri"/>
              <a:ea typeface="Calibri"/>
              <a:cs typeface="Calibri"/>
              <a:sym typeface="Calibri"/>
            </a:endParaRPr>
          </a:p>
        </p:txBody>
      </p:sp>
      <p:sp>
        <p:nvSpPr>
          <p:cNvPr id="336" name="Google Shape;336;p27"/>
          <p:cNvSpPr/>
          <p:nvPr/>
        </p:nvSpPr>
        <p:spPr>
          <a:xfrm>
            <a:off x="2286000" y="1600200"/>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4A3B8"/>
              </a:buClr>
              <a:buSzPts val="2400"/>
              <a:buFont typeface="Calibri"/>
              <a:buNone/>
            </a:pPr>
            <a:r>
              <a:rPr b="0" i="0" lang="en-US" sz="2400" u="none" cap="none" strike="noStrike">
                <a:solidFill>
                  <a:srgbClr val="94A3B8"/>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p:txBody>
      </p:sp>
      <p:pic>
        <p:nvPicPr>
          <p:cNvPr descr="preencoded.png" id="337" name="Google Shape;337;p27"/>
          <p:cNvPicPr preferRelativeResize="0"/>
          <p:nvPr/>
        </p:nvPicPr>
        <p:blipFill rotWithShape="1">
          <a:blip r:embed="rId4">
            <a:alphaModFix/>
          </a:blip>
          <a:srcRect b="0" l="0" r="0" t="0"/>
          <a:stretch/>
        </p:blipFill>
        <p:spPr>
          <a:xfrm>
            <a:off x="3200400" y="1554480"/>
            <a:ext cx="457200" cy="457200"/>
          </a:xfrm>
          <a:prstGeom prst="rect">
            <a:avLst/>
          </a:prstGeom>
          <a:noFill/>
          <a:ln>
            <a:noFill/>
          </a:ln>
        </p:spPr>
      </p:pic>
      <p:sp>
        <p:nvSpPr>
          <p:cNvPr id="338" name="Google Shape;338;p27"/>
          <p:cNvSpPr/>
          <p:nvPr/>
        </p:nvSpPr>
        <p:spPr>
          <a:xfrm>
            <a:off x="2743200" y="2011680"/>
            <a:ext cx="1371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F46E5"/>
              </a:buClr>
              <a:buSzPts val="1200"/>
              <a:buFont typeface="Calibri"/>
              <a:buNone/>
            </a:pPr>
            <a:r>
              <a:rPr b="1" i="0" lang="en-US" sz="1200" u="none" cap="none" strike="noStrike">
                <a:solidFill>
                  <a:srgbClr val="4F46E5"/>
                </a:solidFill>
                <a:latin typeface="Calibri"/>
                <a:ea typeface="Calibri"/>
                <a:cs typeface="Calibri"/>
                <a:sym typeface="Calibri"/>
              </a:rPr>
              <a:t>Your Delegate</a:t>
            </a:r>
            <a:endParaRPr b="0" i="0" sz="1200" u="none" cap="none" strike="noStrike">
              <a:solidFill>
                <a:schemeClr val="dk1"/>
              </a:solidFill>
              <a:latin typeface="Calibri"/>
              <a:ea typeface="Calibri"/>
              <a:cs typeface="Calibri"/>
              <a:sym typeface="Calibri"/>
            </a:endParaRPr>
          </a:p>
        </p:txBody>
      </p:sp>
      <p:sp>
        <p:nvSpPr>
          <p:cNvPr id="339" name="Google Shape;339;p27"/>
          <p:cNvSpPr/>
          <p:nvPr/>
        </p:nvSpPr>
        <p:spPr>
          <a:xfrm>
            <a:off x="4754875" y="1508748"/>
            <a:ext cx="3528900" cy="82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75569"/>
              </a:buClr>
              <a:buSzPts val="1200"/>
              <a:buFont typeface="Calibri"/>
              <a:buNone/>
            </a:pPr>
            <a:r>
              <a:rPr b="0" i="0" lang="en-US" u="none" cap="none" strike="noStrike">
                <a:solidFill>
                  <a:srgbClr val="475569"/>
                </a:solidFill>
                <a:latin typeface="Calibri"/>
                <a:ea typeface="Calibri"/>
                <a:cs typeface="Calibri"/>
                <a:sym typeface="Calibri"/>
              </a:rPr>
              <a:t>Your personal AI that knows your preferences,</a:t>
            </a:r>
            <a:endParaRPr b="0" i="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75569"/>
              </a:buClr>
              <a:buSzPts val="1200"/>
              <a:buFont typeface="Calibri"/>
              <a:buNone/>
            </a:pPr>
            <a:r>
              <a:rPr b="0" i="0" lang="en-US" u="none" cap="none" strike="noStrike">
                <a:solidFill>
                  <a:srgbClr val="475569"/>
                </a:solidFill>
                <a:latin typeface="Calibri"/>
                <a:ea typeface="Calibri"/>
                <a:cs typeface="Calibri"/>
                <a:sym typeface="Calibri"/>
              </a:rPr>
              <a:t>carries your authority, and manages workers.</a:t>
            </a:r>
            <a:endParaRPr b="0" i="0" u="none" cap="none" strike="noStrike">
              <a:solidFill>
                <a:schemeClr val="dk1"/>
              </a:solidFill>
              <a:latin typeface="Calibri"/>
              <a:ea typeface="Calibri"/>
              <a:cs typeface="Calibri"/>
              <a:sym typeface="Calibri"/>
            </a:endParaRPr>
          </a:p>
        </p:txBody>
      </p:sp>
      <p:sp>
        <p:nvSpPr>
          <p:cNvPr id="340" name="Google Shape;340;p27"/>
          <p:cNvSpPr/>
          <p:nvPr/>
        </p:nvSpPr>
        <p:spPr>
          <a:xfrm>
            <a:off x="731520" y="2743200"/>
            <a:ext cx="7680960" cy="1828800"/>
          </a:xfrm>
          <a:prstGeom prst="rect">
            <a:avLst/>
          </a:prstGeom>
          <a:solidFill>
            <a:srgbClr val="F0F2F5"/>
          </a:solidFill>
          <a:ln>
            <a:noFill/>
          </a:ln>
          <a:effectLst>
            <a:outerShdw blurRad="76200" rotWithShape="0" algn="bl" dir="162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7"/>
          <p:cNvSpPr/>
          <p:nvPr/>
        </p:nvSpPr>
        <p:spPr>
          <a:xfrm>
            <a:off x="731520" y="2743200"/>
            <a:ext cx="7680960" cy="4572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7"/>
          <p:cNvSpPr/>
          <p:nvPr/>
        </p:nvSpPr>
        <p:spPr>
          <a:xfrm>
            <a:off x="914400" y="2880360"/>
            <a:ext cx="2743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9488"/>
              </a:buClr>
              <a:buSzPts val="1000"/>
              <a:buFont typeface="Consolas"/>
              <a:buNone/>
            </a:pPr>
            <a:r>
              <a:rPr b="0" i="0" lang="en-US" sz="1000" u="none" cap="none" strike="noStrike">
                <a:solidFill>
                  <a:srgbClr val="0D9488"/>
                </a:solidFill>
                <a:latin typeface="Consolas"/>
                <a:ea typeface="Consolas"/>
                <a:cs typeface="Consolas"/>
                <a:sym typeface="Consolas"/>
              </a:rPr>
              <a:t>AI WORKFORCE LAYER</a:t>
            </a:r>
            <a:endParaRPr b="0" i="0" sz="1000" u="none" cap="none" strike="noStrike">
              <a:solidFill>
                <a:schemeClr val="dk1"/>
              </a:solidFill>
              <a:latin typeface="Calibri"/>
              <a:ea typeface="Calibri"/>
              <a:cs typeface="Calibri"/>
              <a:sym typeface="Calibri"/>
            </a:endParaRPr>
          </a:p>
        </p:txBody>
      </p:sp>
      <p:sp>
        <p:nvSpPr>
          <p:cNvPr id="343" name="Google Shape;343;p27"/>
          <p:cNvSpPr/>
          <p:nvPr/>
        </p:nvSpPr>
        <p:spPr>
          <a:xfrm>
            <a:off x="1097280" y="3337560"/>
            <a:ext cx="1554480" cy="914400"/>
          </a:xfrm>
          <a:prstGeom prst="rect">
            <a:avLst/>
          </a:prstGeom>
          <a:solidFill>
            <a:srgbClr val="FFFFFF"/>
          </a:solidFill>
          <a:ln>
            <a:noFill/>
          </a:ln>
          <a:effectLst>
            <a:outerShdw blurRad="76200" rotWithShape="0" algn="bl" dir="162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7"/>
          <p:cNvSpPr/>
          <p:nvPr/>
        </p:nvSpPr>
        <p:spPr>
          <a:xfrm>
            <a:off x="1097280" y="3337560"/>
            <a:ext cx="1554480" cy="36576"/>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7"/>
          <p:cNvSpPr/>
          <p:nvPr/>
        </p:nvSpPr>
        <p:spPr>
          <a:xfrm>
            <a:off x="1097280" y="3383280"/>
            <a:ext cx="155448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766E"/>
              </a:buClr>
              <a:buSzPts val="1200"/>
              <a:buFont typeface="Calibri"/>
              <a:buNone/>
            </a:pPr>
            <a:r>
              <a:rPr b="1" i="0" lang="en-US" sz="1200" u="none" cap="none" strike="noStrike">
                <a:solidFill>
                  <a:srgbClr val="0F766E"/>
                </a:solidFill>
                <a:latin typeface="Calibri"/>
                <a:ea typeface="Calibri"/>
                <a:cs typeface="Calibri"/>
                <a:sym typeface="Calibri"/>
              </a:rPr>
              <a:t>Support</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766E"/>
              </a:buClr>
              <a:buSzPts val="1200"/>
              <a:buFont typeface="Calibri"/>
              <a:buNone/>
            </a:pPr>
            <a:r>
              <a:rPr b="1" i="0" lang="en-US" sz="1200" u="none" cap="none" strike="noStrike">
                <a:solidFill>
                  <a:srgbClr val="0F766E"/>
                </a:solidFill>
                <a:latin typeface="Calibri"/>
                <a:ea typeface="Calibri"/>
                <a:cs typeface="Calibri"/>
                <a:sym typeface="Calibri"/>
              </a:rPr>
              <a:t>Worker</a:t>
            </a:r>
            <a:endParaRPr b="0" i="0" sz="1200" u="none" cap="none" strike="noStrike">
              <a:solidFill>
                <a:schemeClr val="dk1"/>
              </a:solidFill>
              <a:latin typeface="Calibri"/>
              <a:ea typeface="Calibri"/>
              <a:cs typeface="Calibri"/>
              <a:sym typeface="Calibri"/>
            </a:endParaRPr>
          </a:p>
        </p:txBody>
      </p:sp>
      <p:sp>
        <p:nvSpPr>
          <p:cNvPr id="346" name="Google Shape;346;p27"/>
          <p:cNvSpPr/>
          <p:nvPr/>
        </p:nvSpPr>
        <p:spPr>
          <a:xfrm>
            <a:off x="3017520" y="3337560"/>
            <a:ext cx="1554480" cy="914400"/>
          </a:xfrm>
          <a:prstGeom prst="rect">
            <a:avLst/>
          </a:prstGeom>
          <a:solidFill>
            <a:srgbClr val="FFFFFF"/>
          </a:solidFill>
          <a:ln>
            <a:noFill/>
          </a:ln>
          <a:effectLst>
            <a:outerShdw blurRad="76200" rotWithShape="0" algn="bl" dir="162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7"/>
          <p:cNvSpPr/>
          <p:nvPr/>
        </p:nvSpPr>
        <p:spPr>
          <a:xfrm>
            <a:off x="3017520" y="3337560"/>
            <a:ext cx="1554480" cy="36576"/>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7"/>
          <p:cNvSpPr/>
          <p:nvPr/>
        </p:nvSpPr>
        <p:spPr>
          <a:xfrm>
            <a:off x="3017520" y="3383280"/>
            <a:ext cx="155448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766E"/>
              </a:buClr>
              <a:buSzPts val="1200"/>
              <a:buFont typeface="Calibri"/>
              <a:buNone/>
            </a:pPr>
            <a:r>
              <a:rPr b="1" i="0" lang="en-US" sz="1200" u="none" cap="none" strike="noStrike">
                <a:solidFill>
                  <a:srgbClr val="0F766E"/>
                </a:solidFill>
                <a:latin typeface="Calibri"/>
                <a:ea typeface="Calibri"/>
                <a:cs typeface="Calibri"/>
                <a:sym typeface="Calibri"/>
              </a:rPr>
              <a:t>Finance</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766E"/>
              </a:buClr>
              <a:buSzPts val="1200"/>
              <a:buFont typeface="Calibri"/>
              <a:buNone/>
            </a:pPr>
            <a:r>
              <a:rPr b="1" i="0" lang="en-US" sz="1200" u="none" cap="none" strike="noStrike">
                <a:solidFill>
                  <a:srgbClr val="0F766E"/>
                </a:solidFill>
                <a:latin typeface="Calibri"/>
                <a:ea typeface="Calibri"/>
                <a:cs typeface="Calibri"/>
                <a:sym typeface="Calibri"/>
              </a:rPr>
              <a:t>Worker</a:t>
            </a:r>
            <a:endParaRPr b="0" i="0" sz="1200" u="none" cap="none" strike="noStrike">
              <a:solidFill>
                <a:schemeClr val="dk1"/>
              </a:solidFill>
              <a:latin typeface="Calibri"/>
              <a:ea typeface="Calibri"/>
              <a:cs typeface="Calibri"/>
              <a:sym typeface="Calibri"/>
            </a:endParaRPr>
          </a:p>
        </p:txBody>
      </p:sp>
      <p:sp>
        <p:nvSpPr>
          <p:cNvPr id="349" name="Google Shape;349;p27"/>
          <p:cNvSpPr/>
          <p:nvPr/>
        </p:nvSpPr>
        <p:spPr>
          <a:xfrm>
            <a:off x="4937760" y="3337560"/>
            <a:ext cx="1554480" cy="914400"/>
          </a:xfrm>
          <a:prstGeom prst="rect">
            <a:avLst/>
          </a:prstGeom>
          <a:solidFill>
            <a:srgbClr val="FFFFFF"/>
          </a:solidFill>
          <a:ln>
            <a:noFill/>
          </a:ln>
          <a:effectLst>
            <a:outerShdw blurRad="76200" rotWithShape="0" algn="bl" dir="162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7"/>
          <p:cNvSpPr/>
          <p:nvPr/>
        </p:nvSpPr>
        <p:spPr>
          <a:xfrm>
            <a:off x="4937760" y="3337560"/>
            <a:ext cx="1554480" cy="36576"/>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7"/>
          <p:cNvSpPr/>
          <p:nvPr/>
        </p:nvSpPr>
        <p:spPr>
          <a:xfrm>
            <a:off x="4937760" y="3383280"/>
            <a:ext cx="155448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766E"/>
              </a:buClr>
              <a:buSzPts val="1200"/>
              <a:buFont typeface="Calibri"/>
              <a:buNone/>
            </a:pPr>
            <a:r>
              <a:rPr b="1" i="0" lang="en-US" sz="1200" u="none" cap="none" strike="noStrike">
                <a:solidFill>
                  <a:srgbClr val="0F766E"/>
                </a:solidFill>
                <a:latin typeface="Calibri"/>
                <a:ea typeface="Calibri"/>
                <a:cs typeface="Calibri"/>
                <a:sym typeface="Calibri"/>
              </a:rPr>
              <a:t>Sales</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766E"/>
              </a:buClr>
              <a:buSzPts val="1200"/>
              <a:buFont typeface="Calibri"/>
              <a:buNone/>
            </a:pPr>
            <a:r>
              <a:rPr b="1" i="0" lang="en-US" sz="1200" u="none" cap="none" strike="noStrike">
                <a:solidFill>
                  <a:srgbClr val="0F766E"/>
                </a:solidFill>
                <a:latin typeface="Calibri"/>
                <a:ea typeface="Calibri"/>
                <a:cs typeface="Calibri"/>
                <a:sym typeface="Calibri"/>
              </a:rPr>
              <a:t>Worker</a:t>
            </a:r>
            <a:endParaRPr b="0" i="0" sz="1200" u="none" cap="none" strike="noStrike">
              <a:solidFill>
                <a:schemeClr val="dk1"/>
              </a:solidFill>
              <a:latin typeface="Calibri"/>
              <a:ea typeface="Calibri"/>
              <a:cs typeface="Calibri"/>
              <a:sym typeface="Calibri"/>
            </a:endParaRPr>
          </a:p>
        </p:txBody>
      </p:sp>
      <p:sp>
        <p:nvSpPr>
          <p:cNvPr id="352" name="Google Shape;352;p27"/>
          <p:cNvSpPr/>
          <p:nvPr/>
        </p:nvSpPr>
        <p:spPr>
          <a:xfrm>
            <a:off x="6858000" y="3337560"/>
            <a:ext cx="1554480" cy="914400"/>
          </a:xfrm>
          <a:prstGeom prst="rect">
            <a:avLst/>
          </a:prstGeom>
          <a:solidFill>
            <a:srgbClr val="FFFFFF"/>
          </a:solidFill>
          <a:ln>
            <a:noFill/>
          </a:ln>
          <a:effectLst>
            <a:outerShdw blurRad="76200" rotWithShape="0" algn="bl" dir="162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7"/>
          <p:cNvSpPr/>
          <p:nvPr/>
        </p:nvSpPr>
        <p:spPr>
          <a:xfrm>
            <a:off x="6858000" y="3337560"/>
            <a:ext cx="1554480" cy="36576"/>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7"/>
          <p:cNvSpPr/>
          <p:nvPr/>
        </p:nvSpPr>
        <p:spPr>
          <a:xfrm>
            <a:off x="6858000" y="3383280"/>
            <a:ext cx="155448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766E"/>
              </a:buClr>
              <a:buSzPts val="1200"/>
              <a:buFont typeface="Calibri"/>
              <a:buNone/>
            </a:pPr>
            <a:r>
              <a:rPr b="1" i="0" lang="en-US" sz="1200" u="none" cap="none" strike="noStrike">
                <a:solidFill>
                  <a:srgbClr val="0F766E"/>
                </a:solidFill>
                <a:latin typeface="Calibri"/>
                <a:ea typeface="Calibri"/>
                <a:cs typeface="Calibri"/>
                <a:sym typeface="Calibri"/>
              </a:rPr>
              <a:t>Legal</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766E"/>
              </a:buClr>
              <a:buSzPts val="1200"/>
              <a:buFont typeface="Calibri"/>
              <a:buNone/>
            </a:pPr>
            <a:r>
              <a:rPr b="1" i="0" lang="en-US" sz="1200" u="none" cap="none" strike="noStrike">
                <a:solidFill>
                  <a:srgbClr val="0F766E"/>
                </a:solidFill>
                <a:latin typeface="Calibri"/>
                <a:ea typeface="Calibri"/>
                <a:cs typeface="Calibri"/>
                <a:sym typeface="Calibri"/>
              </a:rPr>
              <a:t>Worker</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359" name="Shape 359"/>
        <p:cNvGrpSpPr/>
        <p:nvPr/>
      </p:nvGrpSpPr>
      <p:grpSpPr>
        <a:xfrm>
          <a:off x="0" y="0"/>
          <a:ext cx="0" cy="0"/>
          <a:chOff x="0" y="0"/>
          <a:chExt cx="0" cy="0"/>
        </a:xfrm>
      </p:grpSpPr>
      <p:sp>
        <p:nvSpPr>
          <p:cNvPr id="360" name="Google Shape;360;p28"/>
          <p:cNvSpPr/>
          <p:nvPr/>
        </p:nvSpPr>
        <p:spPr>
          <a:xfrm>
            <a:off x="6858000" y="-1371600"/>
            <a:ext cx="4572000" cy="4572000"/>
          </a:xfrm>
          <a:prstGeom prst="ellipse">
            <a:avLst/>
          </a:prstGeom>
          <a:solidFill>
            <a:srgbClr val="3341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8"/>
          <p:cNvSpPr/>
          <p:nvPr/>
        </p:nvSpPr>
        <p:spPr>
          <a:xfrm>
            <a:off x="7315200" y="3200400"/>
            <a:ext cx="3657600" cy="3657600"/>
          </a:xfrm>
          <a:prstGeom prst="ellipse">
            <a:avLst/>
          </a:prstGeom>
          <a:solidFill>
            <a:srgbClr val="475569">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28"/>
          <p:cNvSpPr/>
          <p:nvPr/>
        </p:nvSpPr>
        <p:spPr>
          <a:xfrm>
            <a:off x="731520" y="1371600"/>
            <a:ext cx="7315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9488"/>
              </a:buClr>
              <a:buSzPts val="1300"/>
              <a:buFont typeface="Consolas"/>
              <a:buNone/>
            </a:pPr>
            <a:r>
              <a:rPr b="1" i="0" lang="en-US" sz="1300" u="none" cap="none" strike="noStrike">
                <a:solidFill>
                  <a:srgbClr val="0D9488"/>
                </a:solidFill>
                <a:latin typeface="Consolas"/>
                <a:ea typeface="Consolas"/>
                <a:cs typeface="Consolas"/>
                <a:sym typeface="Consolas"/>
              </a:rPr>
              <a:t>PART 07</a:t>
            </a:r>
            <a:endParaRPr b="0" i="0" sz="1300" u="none" cap="none" strike="noStrike">
              <a:solidFill>
                <a:schemeClr val="dk1"/>
              </a:solidFill>
              <a:latin typeface="Calibri"/>
              <a:ea typeface="Calibri"/>
              <a:cs typeface="Calibri"/>
              <a:sym typeface="Calibri"/>
            </a:endParaRPr>
          </a:p>
        </p:txBody>
      </p:sp>
      <p:sp>
        <p:nvSpPr>
          <p:cNvPr id="363" name="Google Shape;363;p28"/>
          <p:cNvSpPr/>
          <p:nvPr/>
        </p:nvSpPr>
        <p:spPr>
          <a:xfrm>
            <a:off x="731520" y="1920240"/>
            <a:ext cx="6858000" cy="1463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4000"/>
              <a:buFont typeface="Georgia"/>
              <a:buNone/>
            </a:pPr>
            <a:r>
              <a:rPr b="0" i="0" lang="en-US" sz="4000" u="none" cap="none" strike="noStrike">
                <a:solidFill>
                  <a:srgbClr val="FFFFFF"/>
                </a:solidFill>
                <a:latin typeface="Georgia"/>
                <a:ea typeface="Georgia"/>
                <a:cs typeface="Georgia"/>
                <a:sym typeface="Georgia"/>
              </a:rPr>
              <a:t>Two Ways to Use AI</a:t>
            </a:r>
            <a:endParaRPr b="0" i="0" sz="4000" u="none" cap="none" strike="noStrike">
              <a:solidFill>
                <a:schemeClr val="dk1"/>
              </a:solidFill>
              <a:latin typeface="Calibri"/>
              <a:ea typeface="Calibri"/>
              <a:cs typeface="Calibri"/>
              <a:sym typeface="Calibri"/>
            </a:endParaRPr>
          </a:p>
        </p:txBody>
      </p:sp>
      <p:sp>
        <p:nvSpPr>
          <p:cNvPr id="364" name="Google Shape;364;p28"/>
          <p:cNvSpPr/>
          <p:nvPr/>
        </p:nvSpPr>
        <p:spPr>
          <a:xfrm>
            <a:off x="731520" y="3840480"/>
            <a:ext cx="1097280" cy="54864"/>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65" name="Google Shape;365;p28"/>
          <p:cNvPicPr preferRelativeResize="0"/>
          <p:nvPr/>
        </p:nvPicPr>
        <p:blipFill rotWithShape="1">
          <a:blip r:embed="rId3">
            <a:alphaModFix/>
          </a:blip>
          <a:srcRect b="0" l="0" r="0" t="0"/>
          <a:stretch/>
        </p:blipFill>
        <p:spPr>
          <a:xfrm>
            <a:off x="7772400" y="3931920"/>
            <a:ext cx="640080" cy="64008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pic>
        <p:nvPicPr>
          <p:cNvPr id="371" name="Google Shape;371;p29" title="ChatGPT Image May 21, 2026, 11_46_51 PM.png"/>
          <p:cNvPicPr preferRelativeResize="0"/>
          <p:nvPr/>
        </p:nvPicPr>
        <p:blipFill>
          <a:blip r:embed="rId3">
            <a:alphaModFix/>
          </a:blip>
          <a:stretch>
            <a:fillRect/>
          </a:stretch>
        </p:blipFill>
        <p:spPr>
          <a:xfrm>
            <a:off x="0" y="-2736"/>
            <a:ext cx="9144001" cy="514623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6" name="Shape 376"/>
        <p:cNvGrpSpPr/>
        <p:nvPr/>
      </p:nvGrpSpPr>
      <p:grpSpPr>
        <a:xfrm>
          <a:off x="0" y="0"/>
          <a:ext cx="0" cy="0"/>
          <a:chOff x="0" y="0"/>
          <a:chExt cx="0" cy="0"/>
        </a:xfrm>
      </p:grpSpPr>
      <p:sp>
        <p:nvSpPr>
          <p:cNvPr id="377" name="Google Shape;377;p30"/>
          <p:cNvSpPr/>
          <p:nvPr/>
        </p:nvSpPr>
        <p:spPr>
          <a:xfrm>
            <a:off x="731520" y="320040"/>
            <a:ext cx="76809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2600"/>
              <a:buFont typeface="Georgia"/>
              <a:buNone/>
            </a:pPr>
            <a:r>
              <a:rPr b="0" i="0" lang="en-US" sz="2600" u="none" cap="none" strike="noStrike">
                <a:solidFill>
                  <a:srgbClr val="1E293B"/>
                </a:solidFill>
                <a:latin typeface="Georgia"/>
                <a:ea typeface="Georgia"/>
                <a:cs typeface="Georgia"/>
                <a:sym typeface="Georgia"/>
              </a:rPr>
              <a:t>Two Modes Side by Side</a:t>
            </a:r>
            <a:endParaRPr b="0" i="0" sz="2600" u="none" cap="none" strike="noStrike">
              <a:solidFill>
                <a:schemeClr val="dk1"/>
              </a:solidFill>
              <a:latin typeface="Calibri"/>
              <a:ea typeface="Calibri"/>
              <a:cs typeface="Calibri"/>
              <a:sym typeface="Calibri"/>
            </a:endParaRPr>
          </a:p>
        </p:txBody>
      </p:sp>
      <p:sp>
        <p:nvSpPr>
          <p:cNvPr id="378" name="Google Shape;378;p30"/>
          <p:cNvSpPr/>
          <p:nvPr/>
        </p:nvSpPr>
        <p:spPr>
          <a:xfrm>
            <a:off x="731520" y="1005840"/>
            <a:ext cx="3657600" cy="3474720"/>
          </a:xfrm>
          <a:prstGeom prst="rect">
            <a:avLst/>
          </a:prstGeom>
          <a:solidFill>
            <a:srgbClr val="EEF2FF"/>
          </a:solidFill>
          <a:ln>
            <a:noFill/>
          </a:ln>
          <a:effectLst>
            <a:outerShdw blurRad="76200" rotWithShape="0" algn="bl" dir="162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0"/>
          <p:cNvSpPr/>
          <p:nvPr/>
        </p:nvSpPr>
        <p:spPr>
          <a:xfrm>
            <a:off x="731520" y="1005840"/>
            <a:ext cx="3657600" cy="45720"/>
          </a:xfrm>
          <a:prstGeom prst="rect">
            <a:avLst/>
          </a:prstGeom>
          <a:solidFill>
            <a:srgbClr val="4F46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0"/>
          <p:cNvSpPr/>
          <p:nvPr/>
        </p:nvSpPr>
        <p:spPr>
          <a:xfrm>
            <a:off x="960120" y="1143000"/>
            <a:ext cx="3200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F46E5"/>
              </a:buClr>
              <a:buSzPts val="1300"/>
              <a:buFont typeface="Consolas"/>
              <a:buNone/>
            </a:pPr>
            <a:r>
              <a:rPr b="1" i="0" lang="en-US" sz="1300" u="none" cap="none" strike="noStrike">
                <a:solidFill>
                  <a:srgbClr val="4F46E5"/>
                </a:solidFill>
                <a:latin typeface="Consolas"/>
                <a:ea typeface="Consolas"/>
                <a:cs typeface="Consolas"/>
                <a:sym typeface="Consolas"/>
              </a:rPr>
              <a:t>Mode 1 — Problem-Solving</a:t>
            </a:r>
            <a:endParaRPr b="0" i="0" sz="1300" u="none" cap="none" strike="noStrike">
              <a:solidFill>
                <a:schemeClr val="dk1"/>
              </a:solidFill>
              <a:latin typeface="Calibri"/>
              <a:ea typeface="Calibri"/>
              <a:cs typeface="Calibri"/>
              <a:sym typeface="Calibri"/>
            </a:endParaRPr>
          </a:p>
        </p:txBody>
      </p:sp>
      <p:sp>
        <p:nvSpPr>
          <p:cNvPr id="381" name="Google Shape;381;p30"/>
          <p:cNvSpPr/>
          <p:nvPr/>
        </p:nvSpPr>
        <p:spPr>
          <a:xfrm>
            <a:off x="960120" y="1600200"/>
            <a:ext cx="3200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600"/>
              <a:buFont typeface="Georgia"/>
              <a:buNone/>
            </a:pPr>
            <a:r>
              <a:rPr b="0" i="1" lang="en-US" sz="1600" u="none" cap="none" strike="noStrike">
                <a:solidFill>
                  <a:srgbClr val="1E293B"/>
                </a:solidFill>
                <a:latin typeface="Georgia"/>
                <a:ea typeface="Georgia"/>
                <a:cs typeface="Georgia"/>
                <a:sym typeface="Georgia"/>
              </a:rPr>
              <a:t>"Help me do this thing right now."</a:t>
            </a:r>
            <a:endParaRPr b="0" i="0" sz="1600" u="none" cap="none" strike="noStrike">
              <a:solidFill>
                <a:schemeClr val="dk1"/>
              </a:solidFill>
              <a:latin typeface="Calibri"/>
              <a:ea typeface="Calibri"/>
              <a:cs typeface="Calibri"/>
              <a:sym typeface="Calibri"/>
            </a:endParaRPr>
          </a:p>
        </p:txBody>
      </p:sp>
      <p:sp>
        <p:nvSpPr>
          <p:cNvPr id="382" name="Google Shape;382;p30"/>
          <p:cNvSpPr/>
          <p:nvPr/>
        </p:nvSpPr>
        <p:spPr>
          <a:xfrm>
            <a:off x="960120" y="2103120"/>
            <a:ext cx="3200400" cy="201168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475569"/>
              </a:buClr>
              <a:buSzPts val="1300"/>
              <a:buFont typeface="Calibri"/>
              <a:buNone/>
            </a:pPr>
            <a:r>
              <a:rPr b="0" i="0" lang="en-US" u="none" cap="none" strike="noStrike">
                <a:solidFill>
                  <a:srgbClr val="475569"/>
                </a:solidFill>
                <a:latin typeface="Calibri"/>
                <a:ea typeface="Calibri"/>
                <a:cs typeface="Calibri"/>
                <a:sym typeface="Calibri"/>
              </a:rPr>
              <a:t>You have a problem. You use AI to solve it. The session ends. Nothing permanent is built.</a:t>
            </a:r>
            <a:endParaRPr b="0" i="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chemeClr val="dk1"/>
              </a:buClr>
              <a:buSzPts val="1300"/>
              <a:buFont typeface="Calibri"/>
              <a:buNone/>
            </a:pPr>
            <a:r>
              <a:t/>
            </a:r>
            <a:endParaRPr b="0" i="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475569"/>
              </a:buClr>
              <a:buSzPts val="1300"/>
              <a:buFont typeface="Calibri"/>
              <a:buNone/>
            </a:pPr>
            <a:r>
              <a:rPr b="0" i="0" lang="en-US" u="none" cap="none" strike="noStrike">
                <a:solidFill>
                  <a:srgbClr val="475569"/>
                </a:solidFill>
                <a:latin typeface="Calibri"/>
                <a:ea typeface="Calibri"/>
                <a:cs typeface="Calibri"/>
                <a:sym typeface="Calibri"/>
              </a:rPr>
              <a:t>Example: "Help me analyze this spreadsheet" or "Write me an email to my client."</a:t>
            </a:r>
            <a:endParaRPr b="0" i="0" u="none" cap="none" strike="noStrike">
              <a:solidFill>
                <a:schemeClr val="dk1"/>
              </a:solidFill>
              <a:latin typeface="Calibri"/>
              <a:ea typeface="Calibri"/>
              <a:cs typeface="Calibri"/>
              <a:sym typeface="Calibri"/>
            </a:endParaRPr>
          </a:p>
        </p:txBody>
      </p:sp>
      <p:sp>
        <p:nvSpPr>
          <p:cNvPr id="383" name="Google Shape;383;p30"/>
          <p:cNvSpPr/>
          <p:nvPr/>
        </p:nvSpPr>
        <p:spPr>
          <a:xfrm>
            <a:off x="4754880" y="1005840"/>
            <a:ext cx="3657600" cy="3474720"/>
          </a:xfrm>
          <a:prstGeom prst="rect">
            <a:avLst/>
          </a:prstGeom>
          <a:solidFill>
            <a:srgbClr val="FFF7ED"/>
          </a:solidFill>
          <a:ln>
            <a:noFill/>
          </a:ln>
          <a:effectLst>
            <a:outerShdw blurRad="76200" rotWithShape="0" algn="bl" dir="162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30"/>
          <p:cNvSpPr/>
          <p:nvPr/>
        </p:nvSpPr>
        <p:spPr>
          <a:xfrm>
            <a:off x="4754880" y="1005840"/>
            <a:ext cx="3657600" cy="45720"/>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30"/>
          <p:cNvSpPr/>
          <p:nvPr/>
        </p:nvSpPr>
        <p:spPr>
          <a:xfrm>
            <a:off x="4983480" y="1143000"/>
            <a:ext cx="3200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7316"/>
              </a:buClr>
              <a:buSzPts val="1300"/>
              <a:buFont typeface="Consolas"/>
              <a:buNone/>
            </a:pPr>
            <a:r>
              <a:rPr b="1" i="0" lang="en-US" sz="1300" u="none" cap="none" strike="noStrike">
                <a:solidFill>
                  <a:srgbClr val="F97316"/>
                </a:solidFill>
                <a:latin typeface="Consolas"/>
                <a:ea typeface="Consolas"/>
                <a:cs typeface="Consolas"/>
                <a:sym typeface="Consolas"/>
              </a:rPr>
              <a:t>Mode 2 — Manufacturing</a:t>
            </a:r>
            <a:endParaRPr b="0" i="0" sz="1300" u="none" cap="none" strike="noStrike">
              <a:solidFill>
                <a:schemeClr val="dk1"/>
              </a:solidFill>
              <a:latin typeface="Calibri"/>
              <a:ea typeface="Calibri"/>
              <a:cs typeface="Calibri"/>
              <a:sym typeface="Calibri"/>
            </a:endParaRPr>
          </a:p>
        </p:txBody>
      </p:sp>
      <p:sp>
        <p:nvSpPr>
          <p:cNvPr id="386" name="Google Shape;386;p30"/>
          <p:cNvSpPr/>
          <p:nvPr/>
        </p:nvSpPr>
        <p:spPr>
          <a:xfrm>
            <a:off x="4983480" y="1600200"/>
            <a:ext cx="3200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500"/>
              <a:buFont typeface="Georgia"/>
              <a:buNone/>
            </a:pPr>
            <a:r>
              <a:rPr b="0" i="1" lang="en-US" sz="1500" u="none" cap="none" strike="noStrike">
                <a:solidFill>
                  <a:srgbClr val="1E293B"/>
                </a:solidFill>
                <a:latin typeface="Georgia"/>
                <a:ea typeface="Georgia"/>
                <a:cs typeface="Georgia"/>
                <a:sym typeface="Georgia"/>
              </a:rPr>
              <a:t>"Help me build a worker that does this job forever."</a:t>
            </a:r>
            <a:endParaRPr b="0" i="0" sz="1500" u="none" cap="none" strike="noStrike">
              <a:solidFill>
                <a:schemeClr val="dk1"/>
              </a:solidFill>
              <a:latin typeface="Calibri"/>
              <a:ea typeface="Calibri"/>
              <a:cs typeface="Calibri"/>
              <a:sym typeface="Calibri"/>
            </a:endParaRPr>
          </a:p>
        </p:txBody>
      </p:sp>
      <p:sp>
        <p:nvSpPr>
          <p:cNvPr id="387" name="Google Shape;387;p30"/>
          <p:cNvSpPr/>
          <p:nvPr/>
        </p:nvSpPr>
        <p:spPr>
          <a:xfrm>
            <a:off x="4983480" y="2103120"/>
            <a:ext cx="3200400" cy="201168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475569"/>
              </a:buClr>
              <a:buSzPts val="1300"/>
              <a:buFont typeface="Calibri"/>
              <a:buNone/>
            </a:pPr>
            <a:r>
              <a:rPr b="0" i="0" lang="en-US" u="none" cap="none" strike="noStrike">
                <a:solidFill>
                  <a:srgbClr val="475569"/>
                </a:solidFill>
                <a:latin typeface="Calibri"/>
                <a:ea typeface="Calibri"/>
                <a:cs typeface="Calibri"/>
                <a:sym typeface="Calibri"/>
              </a:rPr>
              <a:t>You use AI to build a new AI worker that will keep running long after you close your laptop.</a:t>
            </a:r>
            <a:endParaRPr b="0" i="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chemeClr val="dk1"/>
              </a:buClr>
              <a:buSzPts val="1300"/>
              <a:buFont typeface="Calibri"/>
              <a:buNone/>
            </a:pPr>
            <a:r>
              <a:t/>
            </a:r>
            <a:endParaRPr b="0" i="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475569"/>
              </a:buClr>
              <a:buSzPts val="1300"/>
              <a:buFont typeface="Calibri"/>
              <a:buNone/>
            </a:pPr>
            <a:r>
              <a:rPr b="0" i="0" lang="en-US" u="none" cap="none" strike="noStrike">
                <a:solidFill>
                  <a:srgbClr val="475569"/>
                </a:solidFill>
                <a:latin typeface="Calibri"/>
                <a:ea typeface="Calibri"/>
                <a:cs typeface="Calibri"/>
                <a:sym typeface="Calibri"/>
              </a:rPr>
              <a:t>Example: "Build me a customer support bot that runs 24/7 and answers common questions."</a:t>
            </a:r>
            <a:endParaRPr b="0" i="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392" name="Shape 392"/>
        <p:cNvGrpSpPr/>
        <p:nvPr/>
      </p:nvGrpSpPr>
      <p:grpSpPr>
        <a:xfrm>
          <a:off x="0" y="0"/>
          <a:ext cx="0" cy="0"/>
          <a:chOff x="0" y="0"/>
          <a:chExt cx="0" cy="0"/>
        </a:xfrm>
      </p:grpSpPr>
      <p:sp>
        <p:nvSpPr>
          <p:cNvPr id="393" name="Google Shape;393;p31"/>
          <p:cNvSpPr/>
          <p:nvPr/>
        </p:nvSpPr>
        <p:spPr>
          <a:xfrm>
            <a:off x="6858000" y="-1371600"/>
            <a:ext cx="4572000" cy="4572000"/>
          </a:xfrm>
          <a:prstGeom prst="ellipse">
            <a:avLst/>
          </a:prstGeom>
          <a:solidFill>
            <a:srgbClr val="3341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31"/>
          <p:cNvSpPr/>
          <p:nvPr/>
        </p:nvSpPr>
        <p:spPr>
          <a:xfrm>
            <a:off x="7315200" y="3200400"/>
            <a:ext cx="3657600" cy="3657600"/>
          </a:xfrm>
          <a:prstGeom prst="ellipse">
            <a:avLst/>
          </a:prstGeom>
          <a:solidFill>
            <a:srgbClr val="475569">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31"/>
          <p:cNvSpPr/>
          <p:nvPr/>
        </p:nvSpPr>
        <p:spPr>
          <a:xfrm>
            <a:off x="731520" y="1371600"/>
            <a:ext cx="7315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9488"/>
              </a:buClr>
              <a:buSzPts val="1300"/>
              <a:buFont typeface="Consolas"/>
              <a:buNone/>
            </a:pPr>
            <a:r>
              <a:rPr b="1" i="0" lang="en-US" sz="1300" u="none" cap="none" strike="noStrike">
                <a:solidFill>
                  <a:srgbClr val="0D9488"/>
                </a:solidFill>
                <a:latin typeface="Consolas"/>
                <a:ea typeface="Consolas"/>
                <a:cs typeface="Consolas"/>
                <a:sym typeface="Consolas"/>
              </a:rPr>
              <a:t>PART 08</a:t>
            </a:r>
            <a:endParaRPr b="0" i="0" sz="1300" u="none" cap="none" strike="noStrike">
              <a:solidFill>
                <a:schemeClr val="dk1"/>
              </a:solidFill>
              <a:latin typeface="Calibri"/>
              <a:ea typeface="Calibri"/>
              <a:cs typeface="Calibri"/>
              <a:sym typeface="Calibri"/>
            </a:endParaRPr>
          </a:p>
        </p:txBody>
      </p:sp>
      <p:sp>
        <p:nvSpPr>
          <p:cNvPr id="396" name="Google Shape;396;p31"/>
          <p:cNvSpPr/>
          <p:nvPr/>
        </p:nvSpPr>
        <p:spPr>
          <a:xfrm>
            <a:off x="731520" y="1920240"/>
            <a:ext cx="6858000" cy="1463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4000"/>
              <a:buFont typeface="Georgia"/>
              <a:buNone/>
            </a:pPr>
            <a:r>
              <a:rPr b="0" i="0" lang="en-US" sz="4000" u="none" cap="none" strike="noStrike">
                <a:solidFill>
                  <a:srgbClr val="FFFFFF"/>
                </a:solidFill>
                <a:latin typeface="Georgia"/>
                <a:ea typeface="Georgia"/>
                <a:cs typeface="Georgia"/>
                <a:sym typeface="Georgia"/>
              </a:rPr>
              <a:t>The 7 Golden Rules of</a:t>
            </a:r>
            <a:endParaRPr b="0" i="0" sz="4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4000"/>
              <a:buFont typeface="Georgia"/>
              <a:buNone/>
            </a:pPr>
            <a:r>
              <a:rPr b="0" i="0" lang="en-US" sz="4000" u="none" cap="none" strike="noStrike">
                <a:solidFill>
                  <a:srgbClr val="FFFFFF"/>
                </a:solidFill>
                <a:latin typeface="Georgia"/>
                <a:ea typeface="Georgia"/>
                <a:cs typeface="Georgia"/>
                <a:sym typeface="Georgia"/>
              </a:rPr>
              <a:t>an AI Company</a:t>
            </a:r>
            <a:endParaRPr b="0" i="0" sz="4000" u="none" cap="none" strike="noStrike">
              <a:solidFill>
                <a:schemeClr val="dk1"/>
              </a:solidFill>
              <a:latin typeface="Calibri"/>
              <a:ea typeface="Calibri"/>
              <a:cs typeface="Calibri"/>
              <a:sym typeface="Calibri"/>
            </a:endParaRPr>
          </a:p>
        </p:txBody>
      </p:sp>
      <p:sp>
        <p:nvSpPr>
          <p:cNvPr id="397" name="Google Shape;397;p31"/>
          <p:cNvSpPr/>
          <p:nvPr/>
        </p:nvSpPr>
        <p:spPr>
          <a:xfrm>
            <a:off x="731520" y="3840480"/>
            <a:ext cx="1097280" cy="54864"/>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98" name="Google Shape;398;p31"/>
          <p:cNvPicPr preferRelativeResize="0"/>
          <p:nvPr/>
        </p:nvPicPr>
        <p:blipFill rotWithShape="1">
          <a:blip r:embed="rId3">
            <a:alphaModFix/>
          </a:blip>
          <a:srcRect b="0" l="0" r="0" t="0"/>
          <a:stretch/>
        </p:blipFill>
        <p:spPr>
          <a:xfrm>
            <a:off x="7772400" y="3931920"/>
            <a:ext cx="640080" cy="64008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pic>
        <p:nvPicPr>
          <p:cNvPr id="404" name="Google Shape;404;p32" title="ChatGPT Image May 22, 2026, 12_03_23 AM.png"/>
          <p:cNvPicPr preferRelativeResize="0"/>
          <p:nvPr/>
        </p:nvPicPr>
        <p:blipFill>
          <a:blip r:embed="rId3">
            <a:alphaModFix/>
          </a:blip>
          <a:stretch>
            <a:fillRect/>
          </a:stretch>
        </p:blipFill>
        <p:spPr>
          <a:xfrm>
            <a:off x="0" y="0"/>
            <a:ext cx="9144001" cy="514623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9" name="Shape 409"/>
        <p:cNvGrpSpPr/>
        <p:nvPr/>
      </p:nvGrpSpPr>
      <p:grpSpPr>
        <a:xfrm>
          <a:off x="0" y="0"/>
          <a:ext cx="0" cy="0"/>
          <a:chOff x="0" y="0"/>
          <a:chExt cx="0" cy="0"/>
        </a:xfrm>
      </p:grpSpPr>
      <p:sp>
        <p:nvSpPr>
          <p:cNvPr id="410" name="Google Shape;410;p33"/>
          <p:cNvSpPr/>
          <p:nvPr/>
        </p:nvSpPr>
        <p:spPr>
          <a:xfrm>
            <a:off x="731520" y="274320"/>
            <a:ext cx="76809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2400"/>
              <a:buFont typeface="Georgia"/>
              <a:buNone/>
            </a:pPr>
            <a:r>
              <a:rPr b="0" i="0" lang="en-US" sz="2400" u="none" cap="none" strike="noStrike">
                <a:solidFill>
                  <a:srgbClr val="1E293B"/>
                </a:solidFill>
                <a:latin typeface="Georgia"/>
                <a:ea typeface="Georgia"/>
                <a:cs typeface="Georgia"/>
                <a:sym typeface="Georgia"/>
              </a:rPr>
              <a:t>The 7 Golden Rules (1–4)</a:t>
            </a:r>
            <a:endParaRPr b="0" i="0" sz="2400" u="none" cap="none" strike="noStrike">
              <a:solidFill>
                <a:schemeClr val="dk1"/>
              </a:solidFill>
              <a:latin typeface="Calibri"/>
              <a:ea typeface="Calibri"/>
              <a:cs typeface="Calibri"/>
              <a:sym typeface="Calibri"/>
            </a:endParaRPr>
          </a:p>
        </p:txBody>
      </p:sp>
      <p:sp>
        <p:nvSpPr>
          <p:cNvPr id="411" name="Google Shape;411;p33"/>
          <p:cNvSpPr/>
          <p:nvPr/>
        </p:nvSpPr>
        <p:spPr>
          <a:xfrm>
            <a:off x="731520" y="960120"/>
            <a:ext cx="7680960" cy="822960"/>
          </a:xfrm>
          <a:prstGeom prst="rect">
            <a:avLst/>
          </a:prstGeom>
          <a:solidFill>
            <a:srgbClr val="FFF7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33"/>
          <p:cNvSpPr/>
          <p:nvPr/>
        </p:nvSpPr>
        <p:spPr>
          <a:xfrm>
            <a:off x="731520" y="960120"/>
            <a:ext cx="54864" cy="822960"/>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33"/>
          <p:cNvSpPr/>
          <p:nvPr/>
        </p:nvSpPr>
        <p:spPr>
          <a:xfrm>
            <a:off x="1005840" y="1005840"/>
            <a:ext cx="457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7316"/>
              </a:buClr>
              <a:buSzPts val="2400"/>
              <a:buFont typeface="Georgia"/>
              <a:buNone/>
            </a:pPr>
            <a:r>
              <a:rPr b="0" i="0" lang="en-US" sz="2400" u="none" cap="none" strike="noStrike">
                <a:solidFill>
                  <a:srgbClr val="F97316"/>
                </a:solidFill>
                <a:latin typeface="Georgia"/>
                <a:ea typeface="Georgia"/>
                <a:cs typeface="Georgia"/>
                <a:sym typeface="Georgia"/>
              </a:rPr>
              <a:t>1</a:t>
            </a:r>
            <a:endParaRPr b="0" i="0" sz="2400" u="none" cap="none" strike="noStrike">
              <a:solidFill>
                <a:schemeClr val="dk1"/>
              </a:solidFill>
              <a:latin typeface="Calibri"/>
              <a:ea typeface="Calibri"/>
              <a:cs typeface="Calibri"/>
              <a:sym typeface="Calibri"/>
            </a:endParaRPr>
          </a:p>
        </p:txBody>
      </p:sp>
      <p:sp>
        <p:nvSpPr>
          <p:cNvPr id="414" name="Google Shape;414;p33"/>
          <p:cNvSpPr/>
          <p:nvPr/>
        </p:nvSpPr>
        <p:spPr>
          <a:xfrm>
            <a:off x="1463040" y="1033272"/>
            <a:ext cx="4572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500"/>
              <a:buFont typeface="Calibri"/>
              <a:buNone/>
            </a:pPr>
            <a:r>
              <a:rPr b="1" i="0" lang="en-US" sz="1500" u="none" cap="none" strike="noStrike">
                <a:solidFill>
                  <a:srgbClr val="1E293B"/>
                </a:solidFill>
                <a:latin typeface="Calibri"/>
                <a:ea typeface="Calibri"/>
                <a:cs typeface="Calibri"/>
                <a:sym typeface="Calibri"/>
              </a:rPr>
              <a:t>Human is always in charge</a:t>
            </a:r>
            <a:endParaRPr b="0" i="0" sz="1500" u="none" cap="none" strike="noStrike">
              <a:solidFill>
                <a:schemeClr val="dk1"/>
              </a:solidFill>
              <a:latin typeface="Calibri"/>
              <a:ea typeface="Calibri"/>
              <a:cs typeface="Calibri"/>
              <a:sym typeface="Calibri"/>
            </a:endParaRPr>
          </a:p>
        </p:txBody>
      </p:sp>
      <p:sp>
        <p:nvSpPr>
          <p:cNvPr id="415" name="Google Shape;415;p33"/>
          <p:cNvSpPr/>
          <p:nvPr/>
        </p:nvSpPr>
        <p:spPr>
          <a:xfrm>
            <a:off x="1463040" y="1389888"/>
            <a:ext cx="66751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Every action traces back to a human. AI never sets its own goals.</a:t>
            </a:r>
            <a:endParaRPr b="0" i="0" sz="1200" u="none" cap="none" strike="noStrike">
              <a:solidFill>
                <a:schemeClr val="dk1"/>
              </a:solidFill>
              <a:latin typeface="Calibri"/>
              <a:ea typeface="Calibri"/>
              <a:cs typeface="Calibri"/>
              <a:sym typeface="Calibri"/>
            </a:endParaRPr>
          </a:p>
        </p:txBody>
      </p:sp>
      <p:sp>
        <p:nvSpPr>
          <p:cNvPr id="416" name="Google Shape;416;p33"/>
          <p:cNvSpPr/>
          <p:nvPr/>
        </p:nvSpPr>
        <p:spPr>
          <a:xfrm>
            <a:off x="731520" y="1965960"/>
            <a:ext cx="7680960" cy="822960"/>
          </a:xfrm>
          <a:prstGeom prst="rect">
            <a:avLst/>
          </a:prstGeom>
          <a:solidFill>
            <a:srgbClr val="EEF2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3"/>
          <p:cNvSpPr/>
          <p:nvPr/>
        </p:nvSpPr>
        <p:spPr>
          <a:xfrm>
            <a:off x="731520" y="1965960"/>
            <a:ext cx="54864" cy="822960"/>
          </a:xfrm>
          <a:prstGeom prst="rect">
            <a:avLst/>
          </a:prstGeom>
          <a:solidFill>
            <a:srgbClr val="4F46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3"/>
          <p:cNvSpPr/>
          <p:nvPr/>
        </p:nvSpPr>
        <p:spPr>
          <a:xfrm>
            <a:off x="1005840" y="2011680"/>
            <a:ext cx="457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F46E5"/>
              </a:buClr>
              <a:buSzPts val="2400"/>
              <a:buFont typeface="Georgia"/>
              <a:buNone/>
            </a:pPr>
            <a:r>
              <a:rPr b="0" i="0" lang="en-US" sz="2400" u="none" cap="none" strike="noStrike">
                <a:solidFill>
                  <a:srgbClr val="4F46E5"/>
                </a:solidFill>
                <a:latin typeface="Georgia"/>
                <a:ea typeface="Georgia"/>
                <a:cs typeface="Georgia"/>
                <a:sym typeface="Georgia"/>
              </a:rPr>
              <a:t>2</a:t>
            </a:r>
            <a:endParaRPr b="0" i="0" sz="2400" u="none" cap="none" strike="noStrike">
              <a:solidFill>
                <a:schemeClr val="dk1"/>
              </a:solidFill>
              <a:latin typeface="Calibri"/>
              <a:ea typeface="Calibri"/>
              <a:cs typeface="Calibri"/>
              <a:sym typeface="Calibri"/>
            </a:endParaRPr>
          </a:p>
        </p:txBody>
      </p:sp>
      <p:sp>
        <p:nvSpPr>
          <p:cNvPr id="419" name="Google Shape;419;p33"/>
          <p:cNvSpPr/>
          <p:nvPr/>
        </p:nvSpPr>
        <p:spPr>
          <a:xfrm>
            <a:off x="1463040" y="2039112"/>
            <a:ext cx="4572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500"/>
              <a:buFont typeface="Calibri"/>
              <a:buNone/>
            </a:pPr>
            <a:r>
              <a:rPr b="1" i="0" lang="en-US" sz="1500" u="none" cap="none" strike="noStrike">
                <a:solidFill>
                  <a:srgbClr val="1E293B"/>
                </a:solidFill>
                <a:latin typeface="Calibri"/>
                <a:ea typeface="Calibri"/>
                <a:cs typeface="Calibri"/>
                <a:sym typeface="Calibri"/>
              </a:rPr>
              <a:t>Every human gets a delegate (identi</a:t>
            </a:r>
            <a:r>
              <a:rPr b="1" lang="en-US" sz="1500">
                <a:solidFill>
                  <a:srgbClr val="1E293B"/>
                </a:solidFill>
                <a:latin typeface="Calibri"/>
                <a:ea typeface="Calibri"/>
                <a:cs typeface="Calibri"/>
                <a:sym typeface="Calibri"/>
              </a:rPr>
              <a:t>c AI)</a:t>
            </a:r>
            <a:endParaRPr b="0" i="0" sz="1500" u="none" cap="none" strike="noStrike">
              <a:solidFill>
                <a:schemeClr val="dk1"/>
              </a:solidFill>
              <a:latin typeface="Calibri"/>
              <a:ea typeface="Calibri"/>
              <a:cs typeface="Calibri"/>
              <a:sym typeface="Calibri"/>
            </a:endParaRPr>
          </a:p>
        </p:txBody>
      </p:sp>
      <p:sp>
        <p:nvSpPr>
          <p:cNvPr id="420" name="Google Shape;420;p33"/>
          <p:cNvSpPr/>
          <p:nvPr/>
        </p:nvSpPr>
        <p:spPr>
          <a:xfrm>
            <a:off x="1463040" y="2395728"/>
            <a:ext cx="66751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You can't manage 20 workers by hand. Your delegate coordinates.</a:t>
            </a:r>
            <a:endParaRPr b="0" i="0" sz="1200" u="none" cap="none" strike="noStrike">
              <a:solidFill>
                <a:schemeClr val="dk1"/>
              </a:solidFill>
              <a:latin typeface="Calibri"/>
              <a:ea typeface="Calibri"/>
              <a:cs typeface="Calibri"/>
              <a:sym typeface="Calibri"/>
            </a:endParaRPr>
          </a:p>
        </p:txBody>
      </p:sp>
      <p:sp>
        <p:nvSpPr>
          <p:cNvPr id="421" name="Google Shape;421;p33"/>
          <p:cNvSpPr/>
          <p:nvPr/>
        </p:nvSpPr>
        <p:spPr>
          <a:xfrm>
            <a:off x="731520" y="2971800"/>
            <a:ext cx="7680960" cy="822960"/>
          </a:xfrm>
          <a:prstGeom prst="rect">
            <a:avLst/>
          </a:prstGeom>
          <a:solidFill>
            <a:srgbClr val="CCFB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33"/>
          <p:cNvSpPr/>
          <p:nvPr/>
        </p:nvSpPr>
        <p:spPr>
          <a:xfrm>
            <a:off x="731520" y="2971800"/>
            <a:ext cx="54864" cy="82296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33"/>
          <p:cNvSpPr/>
          <p:nvPr/>
        </p:nvSpPr>
        <p:spPr>
          <a:xfrm>
            <a:off x="1005840" y="3017520"/>
            <a:ext cx="457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9488"/>
              </a:buClr>
              <a:buSzPts val="2400"/>
              <a:buFont typeface="Georgia"/>
              <a:buNone/>
            </a:pPr>
            <a:r>
              <a:rPr b="0" i="0" lang="en-US" sz="2400" u="none" cap="none" strike="noStrike">
                <a:solidFill>
                  <a:srgbClr val="0D9488"/>
                </a:solidFill>
                <a:latin typeface="Georgia"/>
                <a:ea typeface="Georgia"/>
                <a:cs typeface="Georgia"/>
                <a:sym typeface="Georgia"/>
              </a:rPr>
              <a:t>3</a:t>
            </a:r>
            <a:endParaRPr b="0" i="0" sz="2400" u="none" cap="none" strike="noStrike">
              <a:solidFill>
                <a:schemeClr val="dk1"/>
              </a:solidFill>
              <a:latin typeface="Calibri"/>
              <a:ea typeface="Calibri"/>
              <a:cs typeface="Calibri"/>
              <a:sym typeface="Calibri"/>
            </a:endParaRPr>
          </a:p>
        </p:txBody>
      </p:sp>
      <p:sp>
        <p:nvSpPr>
          <p:cNvPr id="424" name="Google Shape;424;p33"/>
          <p:cNvSpPr/>
          <p:nvPr/>
        </p:nvSpPr>
        <p:spPr>
          <a:xfrm>
            <a:off x="1463040" y="3044952"/>
            <a:ext cx="4572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500"/>
              <a:buFont typeface="Calibri"/>
              <a:buNone/>
            </a:pPr>
            <a:r>
              <a:rPr b="1" i="0" lang="en-US" sz="1500" u="none" cap="none" strike="noStrike">
                <a:solidFill>
                  <a:srgbClr val="1E293B"/>
                </a:solidFill>
                <a:latin typeface="Calibri"/>
                <a:ea typeface="Calibri"/>
                <a:cs typeface="Calibri"/>
                <a:sym typeface="Calibri"/>
              </a:rPr>
              <a:t>Workforce needs a management layer</a:t>
            </a:r>
            <a:endParaRPr b="0" i="0" sz="1500" u="none" cap="none" strike="noStrike">
              <a:solidFill>
                <a:schemeClr val="dk1"/>
              </a:solidFill>
              <a:latin typeface="Calibri"/>
              <a:ea typeface="Calibri"/>
              <a:cs typeface="Calibri"/>
              <a:sym typeface="Calibri"/>
            </a:endParaRPr>
          </a:p>
        </p:txBody>
      </p:sp>
      <p:sp>
        <p:nvSpPr>
          <p:cNvPr id="425" name="Google Shape;425;p33"/>
          <p:cNvSpPr/>
          <p:nvPr/>
        </p:nvSpPr>
        <p:spPr>
          <a:xfrm>
            <a:off x="1463040" y="3401568"/>
            <a:ext cx="66751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Someone hires, assigns tasks, controls budgets, fires underperformers.</a:t>
            </a:r>
            <a:endParaRPr b="0" i="0" sz="1200" u="none" cap="none" strike="noStrike">
              <a:solidFill>
                <a:schemeClr val="dk1"/>
              </a:solidFill>
              <a:latin typeface="Calibri"/>
              <a:ea typeface="Calibri"/>
              <a:cs typeface="Calibri"/>
              <a:sym typeface="Calibri"/>
            </a:endParaRPr>
          </a:p>
        </p:txBody>
      </p:sp>
      <p:sp>
        <p:nvSpPr>
          <p:cNvPr id="426" name="Google Shape;426;p33"/>
          <p:cNvSpPr/>
          <p:nvPr/>
        </p:nvSpPr>
        <p:spPr>
          <a:xfrm>
            <a:off x="731520" y="3977640"/>
            <a:ext cx="7680960" cy="822960"/>
          </a:xfrm>
          <a:prstGeom prst="rect">
            <a:avLst/>
          </a:prstGeom>
          <a:solidFill>
            <a:srgbClr val="FF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33"/>
          <p:cNvSpPr/>
          <p:nvPr/>
        </p:nvSpPr>
        <p:spPr>
          <a:xfrm>
            <a:off x="731520" y="3977640"/>
            <a:ext cx="54864" cy="822960"/>
          </a:xfrm>
          <a:prstGeom prst="rect">
            <a:avLst/>
          </a:prstGeom>
          <a:solidFill>
            <a:srgbClr val="E11D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33"/>
          <p:cNvSpPr/>
          <p:nvPr/>
        </p:nvSpPr>
        <p:spPr>
          <a:xfrm>
            <a:off x="1005840" y="4023360"/>
            <a:ext cx="457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11D48"/>
              </a:buClr>
              <a:buSzPts val="2400"/>
              <a:buFont typeface="Georgia"/>
              <a:buNone/>
            </a:pPr>
            <a:r>
              <a:rPr b="0" i="0" lang="en-US" sz="2400" u="none" cap="none" strike="noStrike">
                <a:solidFill>
                  <a:srgbClr val="E11D48"/>
                </a:solidFill>
                <a:latin typeface="Georgia"/>
                <a:ea typeface="Georgia"/>
                <a:cs typeface="Georgia"/>
                <a:sym typeface="Georgia"/>
              </a:rPr>
              <a:t>4</a:t>
            </a:r>
            <a:endParaRPr b="0" i="0" sz="2400" u="none" cap="none" strike="noStrike">
              <a:solidFill>
                <a:schemeClr val="dk1"/>
              </a:solidFill>
              <a:latin typeface="Calibri"/>
              <a:ea typeface="Calibri"/>
              <a:cs typeface="Calibri"/>
              <a:sym typeface="Calibri"/>
            </a:endParaRPr>
          </a:p>
        </p:txBody>
      </p:sp>
      <p:sp>
        <p:nvSpPr>
          <p:cNvPr id="429" name="Google Shape;429;p33"/>
          <p:cNvSpPr/>
          <p:nvPr/>
        </p:nvSpPr>
        <p:spPr>
          <a:xfrm>
            <a:off x="1463040" y="4050792"/>
            <a:ext cx="4572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500"/>
              <a:buFont typeface="Calibri"/>
              <a:buNone/>
            </a:pPr>
            <a:r>
              <a:rPr b="1" i="0" lang="en-US" sz="1500" u="none" cap="none" strike="noStrike">
                <a:solidFill>
                  <a:srgbClr val="1E293B"/>
                </a:solidFill>
                <a:latin typeface="Calibri"/>
                <a:ea typeface="Calibri"/>
                <a:cs typeface="Calibri"/>
                <a:sym typeface="Calibri"/>
              </a:rPr>
              <a:t>Each worker uses the right engine</a:t>
            </a:r>
            <a:endParaRPr b="0" i="0" sz="1500" u="none" cap="none" strike="noStrike">
              <a:solidFill>
                <a:schemeClr val="dk1"/>
              </a:solidFill>
              <a:latin typeface="Calibri"/>
              <a:ea typeface="Calibri"/>
              <a:cs typeface="Calibri"/>
              <a:sym typeface="Calibri"/>
            </a:endParaRPr>
          </a:p>
        </p:txBody>
      </p:sp>
      <p:sp>
        <p:nvSpPr>
          <p:cNvPr id="430" name="Google Shape;430;p33"/>
          <p:cNvSpPr/>
          <p:nvPr/>
        </p:nvSpPr>
        <p:spPr>
          <a:xfrm>
            <a:off x="1463040" y="4407408"/>
            <a:ext cx="66751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Important work = reliable engine. Simple work = cheap engine.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5" name="Shape 435"/>
        <p:cNvGrpSpPr/>
        <p:nvPr/>
      </p:nvGrpSpPr>
      <p:grpSpPr>
        <a:xfrm>
          <a:off x="0" y="0"/>
          <a:ext cx="0" cy="0"/>
          <a:chOff x="0" y="0"/>
          <a:chExt cx="0" cy="0"/>
        </a:xfrm>
      </p:grpSpPr>
      <p:sp>
        <p:nvSpPr>
          <p:cNvPr id="436" name="Google Shape;436;p34"/>
          <p:cNvSpPr/>
          <p:nvPr/>
        </p:nvSpPr>
        <p:spPr>
          <a:xfrm>
            <a:off x="731520" y="274320"/>
            <a:ext cx="76809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2400"/>
              <a:buFont typeface="Georgia"/>
              <a:buNone/>
            </a:pPr>
            <a:r>
              <a:rPr b="0" i="0" lang="en-US" sz="2400" u="none" cap="none" strike="noStrike">
                <a:solidFill>
                  <a:srgbClr val="1E293B"/>
                </a:solidFill>
                <a:latin typeface="Georgia"/>
                <a:ea typeface="Georgia"/>
                <a:cs typeface="Georgia"/>
                <a:sym typeface="Georgia"/>
              </a:rPr>
              <a:t>The 7 Golden Rules (5–7)</a:t>
            </a:r>
            <a:endParaRPr b="0" i="0" sz="2400" u="none" cap="none" strike="noStrike">
              <a:solidFill>
                <a:schemeClr val="dk1"/>
              </a:solidFill>
              <a:latin typeface="Calibri"/>
              <a:ea typeface="Calibri"/>
              <a:cs typeface="Calibri"/>
              <a:sym typeface="Calibri"/>
            </a:endParaRPr>
          </a:p>
        </p:txBody>
      </p:sp>
      <p:sp>
        <p:nvSpPr>
          <p:cNvPr id="437" name="Google Shape;437;p34"/>
          <p:cNvSpPr/>
          <p:nvPr/>
        </p:nvSpPr>
        <p:spPr>
          <a:xfrm>
            <a:off x="731520" y="960120"/>
            <a:ext cx="7680960" cy="1005840"/>
          </a:xfrm>
          <a:prstGeom prst="rect">
            <a:avLst/>
          </a:prstGeom>
          <a:solidFill>
            <a:srgbClr val="F0FD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34"/>
          <p:cNvSpPr/>
          <p:nvPr/>
        </p:nvSpPr>
        <p:spPr>
          <a:xfrm>
            <a:off x="731520" y="960120"/>
            <a:ext cx="54864" cy="1005840"/>
          </a:xfrm>
          <a:prstGeom prst="rect">
            <a:avLst/>
          </a:prstGeom>
          <a:solidFill>
            <a:srgbClr val="16A3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34"/>
          <p:cNvSpPr/>
          <p:nvPr/>
        </p:nvSpPr>
        <p:spPr>
          <a:xfrm>
            <a:off x="1005840" y="1051560"/>
            <a:ext cx="457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A34A"/>
              </a:buClr>
              <a:buSzPts val="2400"/>
              <a:buFont typeface="Georgia"/>
              <a:buNone/>
            </a:pPr>
            <a:r>
              <a:rPr b="0" i="0" lang="en-US" sz="2400" u="none" cap="none" strike="noStrike">
                <a:solidFill>
                  <a:srgbClr val="16A34A"/>
                </a:solidFill>
                <a:latin typeface="Georgia"/>
                <a:ea typeface="Georgia"/>
                <a:cs typeface="Georgia"/>
                <a:sym typeface="Georgia"/>
              </a:rPr>
              <a:t>5</a:t>
            </a:r>
            <a:endParaRPr b="0" i="0" sz="2400" u="none" cap="none" strike="noStrike">
              <a:solidFill>
                <a:schemeClr val="dk1"/>
              </a:solidFill>
              <a:latin typeface="Calibri"/>
              <a:ea typeface="Calibri"/>
              <a:cs typeface="Calibri"/>
              <a:sym typeface="Calibri"/>
            </a:endParaRPr>
          </a:p>
        </p:txBody>
      </p:sp>
      <p:sp>
        <p:nvSpPr>
          <p:cNvPr id="440" name="Google Shape;440;p34"/>
          <p:cNvSpPr/>
          <p:nvPr/>
        </p:nvSpPr>
        <p:spPr>
          <a:xfrm>
            <a:off x="1463040" y="1051560"/>
            <a:ext cx="45720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500"/>
              <a:buFont typeface="Calibri"/>
              <a:buNone/>
            </a:pPr>
            <a:r>
              <a:rPr b="1" i="0" lang="en-US" sz="1500" u="none" cap="none" strike="noStrike">
                <a:solidFill>
                  <a:srgbClr val="1E293B"/>
                </a:solidFill>
                <a:latin typeface="Calibri"/>
                <a:ea typeface="Calibri"/>
                <a:cs typeface="Calibri"/>
                <a:sym typeface="Calibri"/>
              </a:rPr>
              <a:t>Every worker uses a system of record</a:t>
            </a:r>
            <a:endParaRPr b="0" i="0" sz="1500" u="none" cap="none" strike="noStrike">
              <a:solidFill>
                <a:schemeClr val="dk1"/>
              </a:solidFill>
              <a:latin typeface="Calibri"/>
              <a:ea typeface="Calibri"/>
              <a:cs typeface="Calibri"/>
              <a:sym typeface="Calibri"/>
            </a:endParaRPr>
          </a:p>
        </p:txBody>
      </p:sp>
      <p:sp>
        <p:nvSpPr>
          <p:cNvPr id="441" name="Google Shape;441;p34"/>
          <p:cNvSpPr/>
          <p:nvPr/>
        </p:nvSpPr>
        <p:spPr>
          <a:xfrm>
            <a:off x="1463040" y="1463040"/>
            <a:ext cx="667512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AI workers read/write the company's official memory. Without it, AI makes things up.</a:t>
            </a:r>
            <a:endParaRPr b="0" i="0" sz="1200" u="none" cap="none" strike="noStrike">
              <a:solidFill>
                <a:schemeClr val="dk1"/>
              </a:solidFill>
              <a:latin typeface="Calibri"/>
              <a:ea typeface="Calibri"/>
              <a:cs typeface="Calibri"/>
              <a:sym typeface="Calibri"/>
            </a:endParaRPr>
          </a:p>
        </p:txBody>
      </p:sp>
      <p:sp>
        <p:nvSpPr>
          <p:cNvPr id="442" name="Google Shape;442;p34"/>
          <p:cNvSpPr/>
          <p:nvPr/>
        </p:nvSpPr>
        <p:spPr>
          <a:xfrm>
            <a:off x="731520" y="2148840"/>
            <a:ext cx="7680960" cy="1005840"/>
          </a:xfrm>
          <a:prstGeom prst="rect">
            <a:avLst/>
          </a:prstGeom>
          <a:solidFill>
            <a:srgbClr val="FFF7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34"/>
          <p:cNvSpPr/>
          <p:nvPr/>
        </p:nvSpPr>
        <p:spPr>
          <a:xfrm>
            <a:off x="731520" y="2148840"/>
            <a:ext cx="54864" cy="1005840"/>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34"/>
          <p:cNvSpPr/>
          <p:nvPr/>
        </p:nvSpPr>
        <p:spPr>
          <a:xfrm>
            <a:off x="1005840" y="2240280"/>
            <a:ext cx="457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7316"/>
              </a:buClr>
              <a:buSzPts val="2400"/>
              <a:buFont typeface="Georgia"/>
              <a:buNone/>
            </a:pPr>
            <a:r>
              <a:rPr b="0" i="0" lang="en-US" sz="2400" u="none" cap="none" strike="noStrike">
                <a:solidFill>
                  <a:srgbClr val="F97316"/>
                </a:solidFill>
                <a:latin typeface="Georgia"/>
                <a:ea typeface="Georgia"/>
                <a:cs typeface="Georgia"/>
                <a:sym typeface="Georgia"/>
              </a:rPr>
              <a:t>6</a:t>
            </a:r>
            <a:endParaRPr b="0" i="0" sz="2400" u="none" cap="none" strike="noStrike">
              <a:solidFill>
                <a:schemeClr val="dk1"/>
              </a:solidFill>
              <a:latin typeface="Calibri"/>
              <a:ea typeface="Calibri"/>
              <a:cs typeface="Calibri"/>
              <a:sym typeface="Calibri"/>
            </a:endParaRPr>
          </a:p>
        </p:txBody>
      </p:sp>
      <p:sp>
        <p:nvSpPr>
          <p:cNvPr id="445" name="Google Shape;445;p34"/>
          <p:cNvSpPr/>
          <p:nvPr/>
        </p:nvSpPr>
        <p:spPr>
          <a:xfrm>
            <a:off x="1463040" y="2240280"/>
            <a:ext cx="45720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500"/>
              <a:buFont typeface="Calibri"/>
              <a:buNone/>
            </a:pPr>
            <a:r>
              <a:rPr b="1" i="0" lang="en-US" sz="1500" u="none" cap="none" strike="noStrike">
                <a:solidFill>
                  <a:srgbClr val="1E293B"/>
                </a:solidFill>
                <a:latin typeface="Calibri"/>
                <a:ea typeface="Calibri"/>
                <a:cs typeface="Calibri"/>
                <a:sym typeface="Calibri"/>
              </a:rPr>
              <a:t>Workforce can grow under rules</a:t>
            </a:r>
            <a:endParaRPr b="0" i="0" sz="1500" u="none" cap="none" strike="noStrike">
              <a:solidFill>
                <a:schemeClr val="dk1"/>
              </a:solidFill>
              <a:latin typeface="Calibri"/>
              <a:ea typeface="Calibri"/>
              <a:cs typeface="Calibri"/>
              <a:sym typeface="Calibri"/>
            </a:endParaRPr>
          </a:p>
        </p:txBody>
      </p:sp>
      <p:sp>
        <p:nvSpPr>
          <p:cNvPr id="446" name="Google Shape;446;p34"/>
          <p:cNvSpPr/>
          <p:nvPr/>
        </p:nvSpPr>
        <p:spPr>
          <a:xfrm>
            <a:off x="1463040" y="2651760"/>
            <a:ext cx="667512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When a gap appears, the system hires a new worker automatically — within human-set limits.</a:t>
            </a:r>
            <a:endParaRPr b="0" i="0" sz="1200" u="none" cap="none" strike="noStrike">
              <a:solidFill>
                <a:schemeClr val="dk1"/>
              </a:solidFill>
              <a:latin typeface="Calibri"/>
              <a:ea typeface="Calibri"/>
              <a:cs typeface="Calibri"/>
              <a:sym typeface="Calibri"/>
            </a:endParaRPr>
          </a:p>
        </p:txBody>
      </p:sp>
      <p:sp>
        <p:nvSpPr>
          <p:cNvPr id="447" name="Google Shape;447;p34"/>
          <p:cNvSpPr/>
          <p:nvPr/>
        </p:nvSpPr>
        <p:spPr>
          <a:xfrm>
            <a:off x="731520" y="3337560"/>
            <a:ext cx="7680960" cy="1005840"/>
          </a:xfrm>
          <a:prstGeom prst="rect">
            <a:avLst/>
          </a:prstGeom>
          <a:solidFill>
            <a:srgbClr val="EEF2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34"/>
          <p:cNvSpPr/>
          <p:nvPr/>
        </p:nvSpPr>
        <p:spPr>
          <a:xfrm>
            <a:off x="731520" y="3337560"/>
            <a:ext cx="54864" cy="1005840"/>
          </a:xfrm>
          <a:prstGeom prst="rect">
            <a:avLst/>
          </a:prstGeom>
          <a:solidFill>
            <a:srgbClr val="4F46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34"/>
          <p:cNvSpPr/>
          <p:nvPr/>
        </p:nvSpPr>
        <p:spPr>
          <a:xfrm>
            <a:off x="1005840" y="3429000"/>
            <a:ext cx="457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F46E5"/>
              </a:buClr>
              <a:buSzPts val="2400"/>
              <a:buFont typeface="Georgia"/>
              <a:buNone/>
            </a:pPr>
            <a:r>
              <a:rPr b="0" i="0" lang="en-US" sz="2400" u="none" cap="none" strike="noStrike">
                <a:solidFill>
                  <a:srgbClr val="4F46E5"/>
                </a:solidFill>
                <a:latin typeface="Georgia"/>
                <a:ea typeface="Georgia"/>
                <a:cs typeface="Georgia"/>
                <a:sym typeface="Georgia"/>
              </a:rPr>
              <a:t>7</a:t>
            </a:r>
            <a:endParaRPr b="0" i="0" sz="2400" u="none" cap="none" strike="noStrike">
              <a:solidFill>
                <a:schemeClr val="dk1"/>
              </a:solidFill>
              <a:latin typeface="Calibri"/>
              <a:ea typeface="Calibri"/>
              <a:cs typeface="Calibri"/>
              <a:sym typeface="Calibri"/>
            </a:endParaRPr>
          </a:p>
        </p:txBody>
      </p:sp>
      <p:sp>
        <p:nvSpPr>
          <p:cNvPr id="450" name="Google Shape;450;p34"/>
          <p:cNvSpPr/>
          <p:nvPr/>
        </p:nvSpPr>
        <p:spPr>
          <a:xfrm>
            <a:off x="1463040" y="3429000"/>
            <a:ext cx="45720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500"/>
              <a:buFont typeface="Calibri"/>
              <a:buNone/>
            </a:pPr>
            <a:r>
              <a:rPr b="1" i="0" lang="en-US" sz="1500" u="none" cap="none" strike="noStrike">
                <a:solidFill>
                  <a:srgbClr val="1E293B"/>
                </a:solidFill>
                <a:latin typeface="Calibri"/>
                <a:ea typeface="Calibri"/>
                <a:cs typeface="Calibri"/>
                <a:sym typeface="Calibri"/>
              </a:rPr>
              <a:t>Company runs on a nervous system</a:t>
            </a:r>
            <a:endParaRPr b="0" i="0" sz="1500" u="none" cap="none" strike="noStrike">
              <a:solidFill>
                <a:schemeClr val="dk1"/>
              </a:solidFill>
              <a:latin typeface="Calibri"/>
              <a:ea typeface="Calibri"/>
              <a:cs typeface="Calibri"/>
              <a:sym typeface="Calibri"/>
            </a:endParaRPr>
          </a:p>
        </p:txBody>
      </p:sp>
      <p:sp>
        <p:nvSpPr>
          <p:cNvPr id="451" name="Google Shape;451;p34"/>
          <p:cNvSpPr/>
          <p:nvPr/>
        </p:nvSpPr>
        <p:spPr>
          <a:xfrm>
            <a:off x="1463040" y="3840480"/>
            <a:ext cx="667512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75569"/>
              </a:buClr>
              <a:buSzPts val="1200"/>
              <a:buFont typeface="Calibri"/>
              <a:buNone/>
            </a:pPr>
            <a:r>
              <a:rPr lang="en-US" sz="1200">
                <a:solidFill>
                  <a:srgbClr val="475569"/>
                </a:solidFill>
                <a:latin typeface="Calibri"/>
                <a:ea typeface="Calibri"/>
                <a:cs typeface="Calibri"/>
                <a:sym typeface="Calibri"/>
              </a:rPr>
              <a:t>Just like your body sends signals automatically,"hand touched something hot, pull back!" the AI company sends work between workers automatically. No human needed to pass tasks along. And if something breaks, the system recovers on its own. </a:t>
            </a:r>
            <a:endParaRPr b="0" i="0" sz="1200" u="none" cap="none" strike="noStrike">
              <a:solidFill>
                <a:schemeClr val="dk1"/>
              </a:solidFill>
              <a:latin typeface="Calibri"/>
              <a:ea typeface="Calibri"/>
              <a:cs typeface="Calibri"/>
              <a:sym typeface="Calibri"/>
            </a:endParaRPr>
          </a:p>
        </p:txBody>
      </p:sp>
      <p:sp>
        <p:nvSpPr>
          <p:cNvPr id="452" name="Google Shape;452;p34"/>
          <p:cNvSpPr/>
          <p:nvPr/>
        </p:nvSpPr>
        <p:spPr>
          <a:xfrm>
            <a:off x="2286000" y="4343390"/>
            <a:ext cx="4572000" cy="457200"/>
          </a:xfrm>
          <a:prstGeom prst="rect">
            <a:avLst/>
          </a:prstGeom>
          <a:solidFill>
            <a:srgbClr val="CCFB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34"/>
          <p:cNvSpPr/>
          <p:nvPr/>
        </p:nvSpPr>
        <p:spPr>
          <a:xfrm>
            <a:off x="2286000" y="4343390"/>
            <a:ext cx="4572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766E"/>
              </a:buClr>
              <a:buSzPts val="2000"/>
              <a:buFont typeface="Georgia"/>
              <a:buNone/>
            </a:pPr>
            <a:r>
              <a:rPr b="0" i="1" lang="en-US" sz="2000" u="none" cap="none" strike="noStrike">
                <a:solidFill>
                  <a:srgbClr val="0F766E"/>
                </a:solidFill>
                <a:latin typeface="Georgia"/>
                <a:ea typeface="Georgia"/>
                <a:cs typeface="Georgia"/>
                <a:sym typeface="Georgia"/>
              </a:rPr>
              <a:t>Tools change. Rules stay.</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458" name="Shape 458"/>
        <p:cNvGrpSpPr/>
        <p:nvPr/>
      </p:nvGrpSpPr>
      <p:grpSpPr>
        <a:xfrm>
          <a:off x="0" y="0"/>
          <a:ext cx="0" cy="0"/>
          <a:chOff x="0" y="0"/>
          <a:chExt cx="0" cy="0"/>
        </a:xfrm>
      </p:grpSpPr>
      <p:sp>
        <p:nvSpPr>
          <p:cNvPr id="459" name="Google Shape;459;p35"/>
          <p:cNvSpPr/>
          <p:nvPr/>
        </p:nvSpPr>
        <p:spPr>
          <a:xfrm>
            <a:off x="6858000" y="-1371600"/>
            <a:ext cx="4572000" cy="4572000"/>
          </a:xfrm>
          <a:prstGeom prst="ellipse">
            <a:avLst/>
          </a:prstGeom>
          <a:solidFill>
            <a:srgbClr val="3341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35"/>
          <p:cNvSpPr/>
          <p:nvPr/>
        </p:nvSpPr>
        <p:spPr>
          <a:xfrm>
            <a:off x="7315200" y="3200400"/>
            <a:ext cx="3657600" cy="3657600"/>
          </a:xfrm>
          <a:prstGeom prst="ellipse">
            <a:avLst/>
          </a:prstGeom>
          <a:solidFill>
            <a:srgbClr val="475569">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35"/>
          <p:cNvSpPr/>
          <p:nvPr/>
        </p:nvSpPr>
        <p:spPr>
          <a:xfrm>
            <a:off x="731520" y="1371600"/>
            <a:ext cx="7315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9488"/>
              </a:buClr>
              <a:buSzPts val="1300"/>
              <a:buFont typeface="Consolas"/>
              <a:buNone/>
            </a:pPr>
            <a:r>
              <a:rPr b="1" i="0" lang="en-US" sz="1300" u="none" cap="none" strike="noStrike">
                <a:solidFill>
                  <a:srgbClr val="0D9488"/>
                </a:solidFill>
                <a:latin typeface="Consolas"/>
                <a:ea typeface="Consolas"/>
                <a:cs typeface="Consolas"/>
                <a:sym typeface="Consolas"/>
              </a:rPr>
              <a:t>PART 09</a:t>
            </a:r>
            <a:endParaRPr b="0" i="0" sz="1300" u="none" cap="none" strike="noStrike">
              <a:solidFill>
                <a:schemeClr val="dk1"/>
              </a:solidFill>
              <a:latin typeface="Calibri"/>
              <a:ea typeface="Calibri"/>
              <a:cs typeface="Calibri"/>
              <a:sym typeface="Calibri"/>
            </a:endParaRPr>
          </a:p>
        </p:txBody>
      </p:sp>
      <p:sp>
        <p:nvSpPr>
          <p:cNvPr id="462" name="Google Shape;462;p35"/>
          <p:cNvSpPr/>
          <p:nvPr/>
        </p:nvSpPr>
        <p:spPr>
          <a:xfrm>
            <a:off x="731520" y="1920240"/>
            <a:ext cx="6858000" cy="1463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4000"/>
              <a:buFont typeface="Georgia"/>
              <a:buNone/>
            </a:pPr>
            <a:r>
              <a:rPr b="0" i="0" lang="en-US" sz="4000" u="none" cap="none" strike="noStrike">
                <a:solidFill>
                  <a:srgbClr val="FFFFFF"/>
                </a:solidFill>
                <a:latin typeface="Georgia"/>
                <a:ea typeface="Georgia"/>
                <a:cs typeface="Georgia"/>
                <a:sym typeface="Georgia"/>
              </a:rPr>
              <a:t>A Real Example:</a:t>
            </a:r>
            <a:endParaRPr b="0" i="0" sz="4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4000"/>
              <a:buFont typeface="Georgia"/>
              <a:buNone/>
            </a:pPr>
            <a:r>
              <a:rPr lang="en-US" sz="4000">
                <a:solidFill>
                  <a:srgbClr val="FFFFFF"/>
                </a:solidFill>
                <a:latin typeface="Georgia"/>
                <a:ea typeface="Georgia"/>
                <a:cs typeface="Georgia"/>
                <a:sym typeface="Georgia"/>
              </a:rPr>
              <a:t>Ecomm</a:t>
            </a:r>
            <a:r>
              <a:rPr b="0" i="0" lang="en-US" sz="4000" u="none" cap="none" strike="noStrike">
                <a:solidFill>
                  <a:srgbClr val="FFFFFF"/>
                </a:solidFill>
                <a:latin typeface="Georgia"/>
                <a:ea typeface="Georgia"/>
                <a:cs typeface="Georgia"/>
                <a:sym typeface="Georgia"/>
              </a:rPr>
              <a:t> Mart</a:t>
            </a:r>
            <a:endParaRPr b="0" i="0" sz="4000" u="none" cap="none" strike="noStrike">
              <a:solidFill>
                <a:schemeClr val="dk1"/>
              </a:solidFill>
              <a:latin typeface="Calibri"/>
              <a:ea typeface="Calibri"/>
              <a:cs typeface="Calibri"/>
              <a:sym typeface="Calibri"/>
            </a:endParaRPr>
          </a:p>
        </p:txBody>
      </p:sp>
      <p:sp>
        <p:nvSpPr>
          <p:cNvPr id="463" name="Google Shape;463;p35"/>
          <p:cNvSpPr/>
          <p:nvPr/>
        </p:nvSpPr>
        <p:spPr>
          <a:xfrm>
            <a:off x="731520" y="3840480"/>
            <a:ext cx="1097280" cy="54864"/>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64" name="Google Shape;464;p35"/>
          <p:cNvPicPr preferRelativeResize="0"/>
          <p:nvPr/>
        </p:nvPicPr>
        <p:blipFill rotWithShape="1">
          <a:blip r:embed="rId3">
            <a:alphaModFix/>
          </a:blip>
          <a:srcRect b="0" l="0" r="0" t="0"/>
          <a:stretch/>
        </p:blipFill>
        <p:spPr>
          <a:xfrm>
            <a:off x="7772400" y="3931920"/>
            <a:ext cx="640080" cy="64008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9" name="Shape 469"/>
        <p:cNvGrpSpPr/>
        <p:nvPr/>
      </p:nvGrpSpPr>
      <p:grpSpPr>
        <a:xfrm>
          <a:off x="0" y="0"/>
          <a:ext cx="0" cy="0"/>
          <a:chOff x="0" y="0"/>
          <a:chExt cx="0" cy="0"/>
        </a:xfrm>
      </p:grpSpPr>
      <p:sp>
        <p:nvSpPr>
          <p:cNvPr id="470" name="Google Shape;470;p36"/>
          <p:cNvSpPr/>
          <p:nvPr/>
        </p:nvSpPr>
        <p:spPr>
          <a:xfrm>
            <a:off x="731520" y="274320"/>
            <a:ext cx="76809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2200"/>
              <a:buFont typeface="Georgia"/>
              <a:buNone/>
            </a:pPr>
            <a:r>
              <a:rPr b="0" i="0" lang="en-US" sz="2200" u="none" cap="none" strike="noStrike">
                <a:solidFill>
                  <a:srgbClr val="1E293B"/>
                </a:solidFill>
                <a:latin typeface="Georgia"/>
                <a:ea typeface="Georgia"/>
                <a:cs typeface="Georgia"/>
                <a:sym typeface="Georgia"/>
              </a:rPr>
              <a:t>Building the Support Worker (Steps 1–3)</a:t>
            </a:r>
            <a:endParaRPr b="0" i="0" sz="2200" u="none" cap="none" strike="noStrike">
              <a:solidFill>
                <a:schemeClr val="dk1"/>
              </a:solidFill>
              <a:latin typeface="Calibri"/>
              <a:ea typeface="Calibri"/>
              <a:cs typeface="Calibri"/>
              <a:sym typeface="Calibri"/>
            </a:endParaRPr>
          </a:p>
        </p:txBody>
      </p:sp>
      <p:sp>
        <p:nvSpPr>
          <p:cNvPr id="471" name="Google Shape;471;p36"/>
          <p:cNvSpPr/>
          <p:nvPr/>
        </p:nvSpPr>
        <p:spPr>
          <a:xfrm>
            <a:off x="731520" y="1005840"/>
            <a:ext cx="7680960" cy="1097280"/>
          </a:xfrm>
          <a:prstGeom prst="rect">
            <a:avLst/>
          </a:prstGeom>
          <a:solidFill>
            <a:srgbClr val="FFF7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36"/>
          <p:cNvSpPr/>
          <p:nvPr/>
        </p:nvSpPr>
        <p:spPr>
          <a:xfrm>
            <a:off x="731520" y="1005840"/>
            <a:ext cx="54864" cy="1097280"/>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36"/>
          <p:cNvSpPr/>
          <p:nvPr/>
        </p:nvSpPr>
        <p:spPr>
          <a:xfrm>
            <a:off x="1005840" y="1097280"/>
            <a:ext cx="1097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7316"/>
              </a:buClr>
              <a:buSzPts val="1100"/>
              <a:buFont typeface="Consolas"/>
              <a:buNone/>
            </a:pPr>
            <a:r>
              <a:rPr b="1" i="0" lang="en-US" sz="1100" u="none" cap="none" strike="noStrike">
                <a:solidFill>
                  <a:srgbClr val="F97316"/>
                </a:solidFill>
                <a:latin typeface="Consolas"/>
                <a:ea typeface="Consolas"/>
                <a:cs typeface="Consolas"/>
                <a:sym typeface="Consolas"/>
              </a:rPr>
              <a:t>Step 1</a:t>
            </a:r>
            <a:endParaRPr b="0" i="0" sz="1100" u="none" cap="none" strike="noStrike">
              <a:solidFill>
                <a:schemeClr val="dk1"/>
              </a:solidFill>
              <a:latin typeface="Calibri"/>
              <a:ea typeface="Calibri"/>
              <a:cs typeface="Calibri"/>
              <a:sym typeface="Calibri"/>
            </a:endParaRPr>
          </a:p>
        </p:txBody>
      </p:sp>
      <p:sp>
        <p:nvSpPr>
          <p:cNvPr id="474" name="Google Shape;474;p36"/>
          <p:cNvSpPr/>
          <p:nvPr/>
        </p:nvSpPr>
        <p:spPr>
          <a:xfrm>
            <a:off x="2103120" y="1097280"/>
            <a:ext cx="5943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500"/>
              <a:buFont typeface="Calibri"/>
              <a:buNone/>
            </a:pPr>
            <a:r>
              <a:rPr b="1" i="0" lang="en-US" sz="1500" u="none" cap="none" strike="noStrike">
                <a:solidFill>
                  <a:srgbClr val="1E293B"/>
                </a:solidFill>
                <a:latin typeface="Calibri"/>
                <a:ea typeface="Calibri"/>
                <a:cs typeface="Calibri"/>
                <a:sym typeface="Calibri"/>
              </a:rPr>
              <a:t>Write Clear Instructions</a:t>
            </a:r>
            <a:endParaRPr b="0" i="0" sz="1500" u="none" cap="none" strike="noStrike">
              <a:solidFill>
                <a:schemeClr val="dk1"/>
              </a:solidFill>
              <a:latin typeface="Calibri"/>
              <a:ea typeface="Calibri"/>
              <a:cs typeface="Calibri"/>
              <a:sym typeface="Calibri"/>
            </a:endParaRPr>
          </a:p>
        </p:txBody>
      </p:sp>
      <p:sp>
        <p:nvSpPr>
          <p:cNvPr id="475" name="Google Shape;475;p36"/>
          <p:cNvSpPr/>
          <p:nvPr/>
        </p:nvSpPr>
        <p:spPr>
          <a:xfrm>
            <a:off x="2103120" y="1463040"/>
            <a:ext cx="5943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Define the goal: read tickets, classify them, write replies, escalate hard cases. Set budget: $200/month max.</a:t>
            </a:r>
            <a:endParaRPr b="0" i="0" sz="1200" u="none" cap="none" strike="noStrike">
              <a:solidFill>
                <a:schemeClr val="dk1"/>
              </a:solidFill>
              <a:latin typeface="Calibri"/>
              <a:ea typeface="Calibri"/>
              <a:cs typeface="Calibri"/>
              <a:sym typeface="Calibri"/>
            </a:endParaRPr>
          </a:p>
        </p:txBody>
      </p:sp>
      <p:sp>
        <p:nvSpPr>
          <p:cNvPr id="476" name="Google Shape;476;p36"/>
          <p:cNvSpPr/>
          <p:nvPr/>
        </p:nvSpPr>
        <p:spPr>
          <a:xfrm>
            <a:off x="731520" y="2286000"/>
            <a:ext cx="7680960" cy="1097280"/>
          </a:xfrm>
          <a:prstGeom prst="rect">
            <a:avLst/>
          </a:prstGeom>
          <a:solidFill>
            <a:srgbClr val="EEF2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36"/>
          <p:cNvSpPr/>
          <p:nvPr/>
        </p:nvSpPr>
        <p:spPr>
          <a:xfrm>
            <a:off x="731520" y="2286000"/>
            <a:ext cx="54864" cy="1097280"/>
          </a:xfrm>
          <a:prstGeom prst="rect">
            <a:avLst/>
          </a:prstGeom>
          <a:solidFill>
            <a:srgbClr val="4F46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6"/>
          <p:cNvSpPr/>
          <p:nvPr/>
        </p:nvSpPr>
        <p:spPr>
          <a:xfrm>
            <a:off x="1005840" y="2377440"/>
            <a:ext cx="1097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F46E5"/>
              </a:buClr>
              <a:buSzPts val="1100"/>
              <a:buFont typeface="Consolas"/>
              <a:buNone/>
            </a:pPr>
            <a:r>
              <a:rPr b="1" i="0" lang="en-US" sz="1100" u="none" cap="none" strike="noStrike">
                <a:solidFill>
                  <a:srgbClr val="4F46E5"/>
                </a:solidFill>
                <a:latin typeface="Consolas"/>
                <a:ea typeface="Consolas"/>
                <a:cs typeface="Consolas"/>
                <a:sym typeface="Consolas"/>
              </a:rPr>
              <a:t>Step 2</a:t>
            </a:r>
            <a:endParaRPr b="0" i="0" sz="1100" u="none" cap="none" strike="noStrike">
              <a:solidFill>
                <a:schemeClr val="dk1"/>
              </a:solidFill>
              <a:latin typeface="Calibri"/>
              <a:ea typeface="Calibri"/>
              <a:cs typeface="Calibri"/>
              <a:sym typeface="Calibri"/>
            </a:endParaRPr>
          </a:p>
        </p:txBody>
      </p:sp>
      <p:sp>
        <p:nvSpPr>
          <p:cNvPr id="479" name="Google Shape;479;p36"/>
          <p:cNvSpPr/>
          <p:nvPr/>
        </p:nvSpPr>
        <p:spPr>
          <a:xfrm>
            <a:off x="2103120" y="2377440"/>
            <a:ext cx="5943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500"/>
              <a:buFont typeface="Calibri"/>
              <a:buNone/>
            </a:pPr>
            <a:r>
              <a:rPr b="1" i="0" lang="en-US" sz="1500" u="none" cap="none" strike="noStrike">
                <a:solidFill>
                  <a:srgbClr val="1E293B"/>
                </a:solidFill>
                <a:latin typeface="Calibri"/>
                <a:ea typeface="Calibri"/>
                <a:cs typeface="Calibri"/>
                <a:sym typeface="Calibri"/>
              </a:rPr>
              <a:t>Connect to Company Records</a:t>
            </a:r>
            <a:endParaRPr b="0" i="0" sz="1500" u="none" cap="none" strike="noStrike">
              <a:solidFill>
                <a:schemeClr val="dk1"/>
              </a:solidFill>
              <a:latin typeface="Calibri"/>
              <a:ea typeface="Calibri"/>
              <a:cs typeface="Calibri"/>
              <a:sym typeface="Calibri"/>
            </a:endParaRPr>
          </a:p>
        </p:txBody>
      </p:sp>
      <p:sp>
        <p:nvSpPr>
          <p:cNvPr id="480" name="Google Shape;480;p36"/>
          <p:cNvSpPr/>
          <p:nvPr/>
        </p:nvSpPr>
        <p:spPr>
          <a:xfrm>
            <a:off x="2103120" y="2743200"/>
            <a:ext cx="5943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Link to Shopify orders, customer database, and ticket system so the AI can look up real data.</a:t>
            </a:r>
            <a:endParaRPr b="0" i="0" sz="1200" u="none" cap="none" strike="noStrike">
              <a:solidFill>
                <a:schemeClr val="dk1"/>
              </a:solidFill>
              <a:latin typeface="Calibri"/>
              <a:ea typeface="Calibri"/>
              <a:cs typeface="Calibri"/>
              <a:sym typeface="Calibri"/>
            </a:endParaRPr>
          </a:p>
        </p:txBody>
      </p:sp>
      <p:sp>
        <p:nvSpPr>
          <p:cNvPr id="481" name="Google Shape;481;p36"/>
          <p:cNvSpPr/>
          <p:nvPr/>
        </p:nvSpPr>
        <p:spPr>
          <a:xfrm>
            <a:off x="731520" y="3566160"/>
            <a:ext cx="7680960" cy="1097280"/>
          </a:xfrm>
          <a:prstGeom prst="rect">
            <a:avLst/>
          </a:prstGeom>
          <a:solidFill>
            <a:srgbClr val="CCFB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6"/>
          <p:cNvSpPr/>
          <p:nvPr/>
        </p:nvSpPr>
        <p:spPr>
          <a:xfrm>
            <a:off x="731520" y="3566160"/>
            <a:ext cx="54864" cy="109728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36"/>
          <p:cNvSpPr/>
          <p:nvPr/>
        </p:nvSpPr>
        <p:spPr>
          <a:xfrm>
            <a:off x="1005840" y="3657600"/>
            <a:ext cx="1097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9488"/>
              </a:buClr>
              <a:buSzPts val="1100"/>
              <a:buFont typeface="Consolas"/>
              <a:buNone/>
            </a:pPr>
            <a:r>
              <a:rPr b="1" i="0" lang="en-US" sz="1100" u="none" cap="none" strike="noStrike">
                <a:solidFill>
                  <a:srgbClr val="0D9488"/>
                </a:solidFill>
                <a:latin typeface="Consolas"/>
                <a:ea typeface="Consolas"/>
                <a:cs typeface="Consolas"/>
                <a:sym typeface="Consolas"/>
              </a:rPr>
              <a:t>Step 3</a:t>
            </a:r>
            <a:endParaRPr b="0" i="0" sz="1100" u="none" cap="none" strike="noStrike">
              <a:solidFill>
                <a:schemeClr val="dk1"/>
              </a:solidFill>
              <a:latin typeface="Calibri"/>
              <a:ea typeface="Calibri"/>
              <a:cs typeface="Calibri"/>
              <a:sym typeface="Calibri"/>
            </a:endParaRPr>
          </a:p>
        </p:txBody>
      </p:sp>
      <p:sp>
        <p:nvSpPr>
          <p:cNvPr id="484" name="Google Shape;484;p36"/>
          <p:cNvSpPr/>
          <p:nvPr/>
        </p:nvSpPr>
        <p:spPr>
          <a:xfrm>
            <a:off x="2103120" y="3657600"/>
            <a:ext cx="5943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500"/>
              <a:buFont typeface="Calibri"/>
              <a:buNone/>
            </a:pPr>
            <a:r>
              <a:rPr b="1" i="0" lang="en-US" sz="1500" u="none" cap="none" strike="noStrike">
                <a:solidFill>
                  <a:srgbClr val="1E293B"/>
                </a:solidFill>
                <a:latin typeface="Calibri"/>
                <a:ea typeface="Calibri"/>
                <a:cs typeface="Calibri"/>
                <a:sym typeface="Calibri"/>
              </a:rPr>
              <a:t>Give It Skills</a:t>
            </a:r>
            <a:endParaRPr b="0" i="0" sz="1500" u="none" cap="none" strike="noStrike">
              <a:solidFill>
                <a:schemeClr val="dk1"/>
              </a:solidFill>
              <a:latin typeface="Calibri"/>
              <a:ea typeface="Calibri"/>
              <a:cs typeface="Calibri"/>
              <a:sym typeface="Calibri"/>
            </a:endParaRPr>
          </a:p>
        </p:txBody>
      </p:sp>
      <p:sp>
        <p:nvSpPr>
          <p:cNvPr id="485" name="Google Shape;485;p36"/>
          <p:cNvSpPr/>
          <p:nvPr/>
        </p:nvSpPr>
        <p:spPr>
          <a:xfrm>
            <a:off x="2103120" y="4023360"/>
            <a:ext cx="5943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Teach it: how to write professional replies, how to classify tickets, when to escalate. Like a training manual.</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0" name="Shape 490"/>
        <p:cNvGrpSpPr/>
        <p:nvPr/>
      </p:nvGrpSpPr>
      <p:grpSpPr>
        <a:xfrm>
          <a:off x="0" y="0"/>
          <a:ext cx="0" cy="0"/>
          <a:chOff x="0" y="0"/>
          <a:chExt cx="0" cy="0"/>
        </a:xfrm>
      </p:grpSpPr>
      <p:sp>
        <p:nvSpPr>
          <p:cNvPr id="491" name="Google Shape;491;p37"/>
          <p:cNvSpPr/>
          <p:nvPr/>
        </p:nvSpPr>
        <p:spPr>
          <a:xfrm>
            <a:off x="731520" y="274320"/>
            <a:ext cx="76809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2200"/>
              <a:buFont typeface="Georgia"/>
              <a:buNone/>
            </a:pPr>
            <a:r>
              <a:rPr b="0" i="0" lang="en-US" sz="2200" u="none" cap="none" strike="noStrike">
                <a:solidFill>
                  <a:srgbClr val="1E293B"/>
                </a:solidFill>
                <a:latin typeface="Georgia"/>
                <a:ea typeface="Georgia"/>
                <a:cs typeface="Georgia"/>
                <a:sym typeface="Georgia"/>
              </a:rPr>
              <a:t>Building the Support Worker (Steps 4–5)</a:t>
            </a:r>
            <a:endParaRPr b="0" i="0" sz="2200" u="none" cap="none" strike="noStrike">
              <a:solidFill>
                <a:schemeClr val="dk1"/>
              </a:solidFill>
              <a:latin typeface="Calibri"/>
              <a:ea typeface="Calibri"/>
              <a:cs typeface="Calibri"/>
              <a:sym typeface="Calibri"/>
            </a:endParaRPr>
          </a:p>
        </p:txBody>
      </p:sp>
      <p:sp>
        <p:nvSpPr>
          <p:cNvPr id="492" name="Google Shape;492;p37"/>
          <p:cNvSpPr/>
          <p:nvPr/>
        </p:nvSpPr>
        <p:spPr>
          <a:xfrm>
            <a:off x="731520" y="1005840"/>
            <a:ext cx="7680960" cy="1097280"/>
          </a:xfrm>
          <a:prstGeom prst="rect">
            <a:avLst/>
          </a:prstGeom>
          <a:solidFill>
            <a:srgbClr val="FF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37"/>
          <p:cNvSpPr/>
          <p:nvPr/>
        </p:nvSpPr>
        <p:spPr>
          <a:xfrm>
            <a:off x="731520" y="1005840"/>
            <a:ext cx="54864" cy="1097280"/>
          </a:xfrm>
          <a:prstGeom prst="rect">
            <a:avLst/>
          </a:prstGeom>
          <a:solidFill>
            <a:srgbClr val="E11D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37"/>
          <p:cNvSpPr/>
          <p:nvPr/>
        </p:nvSpPr>
        <p:spPr>
          <a:xfrm>
            <a:off x="1005840" y="1097280"/>
            <a:ext cx="1097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11D48"/>
              </a:buClr>
              <a:buSzPts val="1100"/>
              <a:buFont typeface="Consolas"/>
              <a:buNone/>
            </a:pPr>
            <a:r>
              <a:rPr b="1" i="0" lang="en-US" sz="1100" u="none" cap="none" strike="noStrike">
                <a:solidFill>
                  <a:srgbClr val="E11D48"/>
                </a:solidFill>
                <a:latin typeface="Consolas"/>
                <a:ea typeface="Consolas"/>
                <a:cs typeface="Consolas"/>
                <a:sym typeface="Consolas"/>
              </a:rPr>
              <a:t>Step 4</a:t>
            </a:r>
            <a:endParaRPr b="0" i="0" sz="1100" u="none" cap="none" strike="noStrike">
              <a:solidFill>
                <a:schemeClr val="dk1"/>
              </a:solidFill>
              <a:latin typeface="Calibri"/>
              <a:ea typeface="Calibri"/>
              <a:cs typeface="Calibri"/>
              <a:sym typeface="Calibri"/>
            </a:endParaRPr>
          </a:p>
        </p:txBody>
      </p:sp>
      <p:sp>
        <p:nvSpPr>
          <p:cNvPr id="495" name="Google Shape;495;p37"/>
          <p:cNvSpPr/>
          <p:nvPr/>
        </p:nvSpPr>
        <p:spPr>
          <a:xfrm>
            <a:off x="2103120" y="1097280"/>
            <a:ext cx="5943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500"/>
              <a:buFont typeface="Calibri"/>
              <a:buNone/>
            </a:pPr>
            <a:r>
              <a:rPr b="1" i="0" lang="en-US" sz="1500" u="none" cap="none" strike="noStrike">
                <a:solidFill>
                  <a:srgbClr val="1E293B"/>
                </a:solidFill>
                <a:latin typeface="Calibri"/>
                <a:ea typeface="Calibri"/>
                <a:cs typeface="Calibri"/>
                <a:sym typeface="Calibri"/>
              </a:rPr>
              <a:t>Set the Guardrails</a:t>
            </a:r>
            <a:endParaRPr b="0" i="0" sz="1500" u="none" cap="none" strike="noStrike">
              <a:solidFill>
                <a:schemeClr val="dk1"/>
              </a:solidFill>
              <a:latin typeface="Calibri"/>
              <a:ea typeface="Calibri"/>
              <a:cs typeface="Calibri"/>
              <a:sym typeface="Calibri"/>
            </a:endParaRPr>
          </a:p>
        </p:txBody>
      </p:sp>
      <p:sp>
        <p:nvSpPr>
          <p:cNvPr id="496" name="Google Shape;496;p37"/>
          <p:cNvSpPr/>
          <p:nvPr/>
        </p:nvSpPr>
        <p:spPr>
          <a:xfrm>
            <a:off x="2103120" y="1463040"/>
            <a:ext cx="5943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Budget cap, approval for big refunds, audit trail of every action. The AI can never go outside these limits</a:t>
            </a:r>
            <a:r>
              <a:rPr lang="en-US" sz="1200">
                <a:solidFill>
                  <a:srgbClr val="475569"/>
                </a:solidFill>
                <a:latin typeface="Calibri"/>
                <a:ea typeface="Calibri"/>
                <a:cs typeface="Calibri"/>
                <a:sym typeface="Calibri"/>
              </a:rPr>
              <a:t>, all will be define in specs</a:t>
            </a:r>
            <a:endParaRPr b="0" i="0" sz="1200" u="none" cap="none" strike="noStrike">
              <a:solidFill>
                <a:schemeClr val="dk1"/>
              </a:solidFill>
              <a:latin typeface="Calibri"/>
              <a:ea typeface="Calibri"/>
              <a:cs typeface="Calibri"/>
              <a:sym typeface="Calibri"/>
            </a:endParaRPr>
          </a:p>
        </p:txBody>
      </p:sp>
      <p:sp>
        <p:nvSpPr>
          <p:cNvPr id="497" name="Google Shape;497;p37"/>
          <p:cNvSpPr/>
          <p:nvPr/>
        </p:nvSpPr>
        <p:spPr>
          <a:xfrm>
            <a:off x="731520" y="2286000"/>
            <a:ext cx="7680960" cy="1097280"/>
          </a:xfrm>
          <a:prstGeom prst="rect">
            <a:avLst/>
          </a:prstGeom>
          <a:solidFill>
            <a:srgbClr val="F0FD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37"/>
          <p:cNvSpPr/>
          <p:nvPr/>
        </p:nvSpPr>
        <p:spPr>
          <a:xfrm>
            <a:off x="731520" y="2286000"/>
            <a:ext cx="54864" cy="1097280"/>
          </a:xfrm>
          <a:prstGeom prst="rect">
            <a:avLst/>
          </a:prstGeom>
          <a:solidFill>
            <a:srgbClr val="16A3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37"/>
          <p:cNvSpPr/>
          <p:nvPr/>
        </p:nvSpPr>
        <p:spPr>
          <a:xfrm>
            <a:off x="1005840" y="2377440"/>
            <a:ext cx="1097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A34A"/>
              </a:buClr>
              <a:buSzPts val="1100"/>
              <a:buFont typeface="Consolas"/>
              <a:buNone/>
            </a:pPr>
            <a:r>
              <a:rPr b="1" i="0" lang="en-US" sz="1100" u="none" cap="none" strike="noStrike">
                <a:solidFill>
                  <a:srgbClr val="16A34A"/>
                </a:solidFill>
                <a:latin typeface="Consolas"/>
                <a:ea typeface="Consolas"/>
                <a:cs typeface="Consolas"/>
                <a:sym typeface="Consolas"/>
              </a:rPr>
              <a:t>Step 5</a:t>
            </a:r>
            <a:endParaRPr b="0" i="0" sz="1100" u="none" cap="none" strike="noStrike">
              <a:solidFill>
                <a:schemeClr val="dk1"/>
              </a:solidFill>
              <a:latin typeface="Calibri"/>
              <a:ea typeface="Calibri"/>
              <a:cs typeface="Calibri"/>
              <a:sym typeface="Calibri"/>
            </a:endParaRPr>
          </a:p>
        </p:txBody>
      </p:sp>
      <p:sp>
        <p:nvSpPr>
          <p:cNvPr id="500" name="Google Shape;500;p37"/>
          <p:cNvSpPr/>
          <p:nvPr/>
        </p:nvSpPr>
        <p:spPr>
          <a:xfrm>
            <a:off x="2103120" y="2377440"/>
            <a:ext cx="5943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500"/>
              <a:buFont typeface="Calibri"/>
              <a:buNone/>
            </a:pPr>
            <a:r>
              <a:rPr b="1" i="0" lang="en-US" sz="1500" u="none" cap="none" strike="noStrike">
                <a:solidFill>
                  <a:srgbClr val="1E293B"/>
                </a:solidFill>
                <a:latin typeface="Calibri"/>
                <a:ea typeface="Calibri"/>
                <a:cs typeface="Calibri"/>
                <a:sym typeface="Calibri"/>
              </a:rPr>
              <a:t>Test, Then Deploy</a:t>
            </a:r>
            <a:endParaRPr b="0" i="0" sz="1500" u="none" cap="none" strike="noStrike">
              <a:solidFill>
                <a:schemeClr val="dk1"/>
              </a:solidFill>
              <a:latin typeface="Calibri"/>
              <a:ea typeface="Calibri"/>
              <a:cs typeface="Calibri"/>
              <a:sym typeface="Calibri"/>
            </a:endParaRPr>
          </a:p>
        </p:txBody>
      </p:sp>
      <p:sp>
        <p:nvSpPr>
          <p:cNvPr id="501" name="Google Shape;501;p37"/>
          <p:cNvSpPr/>
          <p:nvPr/>
        </p:nvSpPr>
        <p:spPr>
          <a:xfrm>
            <a:off x="2103120" y="2743200"/>
            <a:ext cx="5943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Run on 100 old tickets first. Check results. Fix problems. Only then let it handle real customers.</a:t>
            </a:r>
            <a:endParaRPr b="0" i="0" sz="1200" u="none" cap="none" strike="noStrike">
              <a:solidFill>
                <a:schemeClr val="dk1"/>
              </a:solidFill>
              <a:latin typeface="Calibri"/>
              <a:ea typeface="Calibri"/>
              <a:cs typeface="Calibri"/>
              <a:sym typeface="Calibri"/>
            </a:endParaRPr>
          </a:p>
        </p:txBody>
      </p:sp>
      <p:sp>
        <p:nvSpPr>
          <p:cNvPr id="502" name="Google Shape;502;p37"/>
          <p:cNvSpPr/>
          <p:nvPr/>
        </p:nvSpPr>
        <p:spPr>
          <a:xfrm>
            <a:off x="731520" y="3566160"/>
            <a:ext cx="7680960" cy="1188720"/>
          </a:xfrm>
          <a:prstGeom prst="rect">
            <a:avLst/>
          </a:prstGeom>
          <a:solidFill>
            <a:srgbClr val="CCFB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37"/>
          <p:cNvSpPr/>
          <p:nvPr/>
        </p:nvSpPr>
        <p:spPr>
          <a:xfrm>
            <a:off x="731520" y="3566160"/>
            <a:ext cx="54864" cy="118872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04" name="Google Shape;504;p37"/>
          <p:cNvPicPr preferRelativeResize="0"/>
          <p:nvPr/>
        </p:nvPicPr>
        <p:blipFill rotWithShape="1">
          <a:blip r:embed="rId3">
            <a:alphaModFix/>
          </a:blip>
          <a:srcRect b="0" l="0" r="0" t="0"/>
          <a:stretch/>
        </p:blipFill>
        <p:spPr>
          <a:xfrm>
            <a:off x="1005840" y="3749040"/>
            <a:ext cx="365760" cy="365760"/>
          </a:xfrm>
          <a:prstGeom prst="rect">
            <a:avLst/>
          </a:prstGeom>
          <a:noFill/>
          <a:ln>
            <a:noFill/>
          </a:ln>
        </p:spPr>
      </p:pic>
      <p:sp>
        <p:nvSpPr>
          <p:cNvPr id="505" name="Google Shape;505;p37"/>
          <p:cNvSpPr/>
          <p:nvPr/>
        </p:nvSpPr>
        <p:spPr>
          <a:xfrm>
            <a:off x="1554480" y="3657600"/>
            <a:ext cx="6583680"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0F766E"/>
              </a:buClr>
              <a:buSzPts val="1400"/>
              <a:buFont typeface="Calibri"/>
              <a:buNone/>
            </a:pPr>
            <a:r>
              <a:rPr b="0" i="0" lang="en-US" sz="1400" u="none" cap="none" strike="noStrike">
                <a:solidFill>
                  <a:srgbClr val="0F766E"/>
                </a:solidFill>
                <a:latin typeface="Calibri"/>
                <a:ea typeface="Calibri"/>
                <a:cs typeface="Calibri"/>
                <a:sym typeface="Calibri"/>
              </a:rPr>
              <a:t>Result: You just built a Digital FTE — a Full-Time Employee made of software. It works 24/7, stays within rules, and handles 80% of support tickets automatically.</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510" name="Shape 510"/>
        <p:cNvGrpSpPr/>
        <p:nvPr/>
      </p:nvGrpSpPr>
      <p:grpSpPr>
        <a:xfrm>
          <a:off x="0" y="0"/>
          <a:ext cx="0" cy="0"/>
          <a:chOff x="0" y="0"/>
          <a:chExt cx="0" cy="0"/>
        </a:xfrm>
      </p:grpSpPr>
      <p:sp>
        <p:nvSpPr>
          <p:cNvPr id="511" name="Google Shape;511;p38"/>
          <p:cNvSpPr/>
          <p:nvPr/>
        </p:nvSpPr>
        <p:spPr>
          <a:xfrm>
            <a:off x="6858000" y="-1371600"/>
            <a:ext cx="4572000" cy="4572000"/>
          </a:xfrm>
          <a:prstGeom prst="ellipse">
            <a:avLst/>
          </a:prstGeom>
          <a:solidFill>
            <a:srgbClr val="3341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38"/>
          <p:cNvSpPr/>
          <p:nvPr/>
        </p:nvSpPr>
        <p:spPr>
          <a:xfrm>
            <a:off x="7315200" y="3200400"/>
            <a:ext cx="3657600" cy="3657600"/>
          </a:xfrm>
          <a:prstGeom prst="ellipse">
            <a:avLst/>
          </a:prstGeom>
          <a:solidFill>
            <a:srgbClr val="475569">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38"/>
          <p:cNvSpPr/>
          <p:nvPr/>
        </p:nvSpPr>
        <p:spPr>
          <a:xfrm>
            <a:off x="731520" y="1371600"/>
            <a:ext cx="7315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9488"/>
              </a:buClr>
              <a:buSzPts val="1300"/>
              <a:buFont typeface="Consolas"/>
              <a:buNone/>
            </a:pPr>
            <a:r>
              <a:rPr b="1" i="0" lang="en-US" sz="1300" u="none" cap="none" strike="noStrike">
                <a:solidFill>
                  <a:srgbClr val="0D9488"/>
                </a:solidFill>
                <a:latin typeface="Consolas"/>
                <a:ea typeface="Consolas"/>
                <a:cs typeface="Consolas"/>
                <a:sym typeface="Consolas"/>
              </a:rPr>
              <a:t>PART 10</a:t>
            </a:r>
            <a:endParaRPr b="0" i="0" sz="1300" u="none" cap="none" strike="noStrike">
              <a:solidFill>
                <a:schemeClr val="dk1"/>
              </a:solidFill>
              <a:latin typeface="Calibri"/>
              <a:ea typeface="Calibri"/>
              <a:cs typeface="Calibri"/>
              <a:sym typeface="Calibri"/>
            </a:endParaRPr>
          </a:p>
        </p:txBody>
      </p:sp>
      <p:sp>
        <p:nvSpPr>
          <p:cNvPr id="514" name="Google Shape;514;p38"/>
          <p:cNvSpPr/>
          <p:nvPr/>
        </p:nvSpPr>
        <p:spPr>
          <a:xfrm>
            <a:off x="731520" y="1920240"/>
            <a:ext cx="6858000" cy="1463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4000"/>
              <a:buFont typeface="Georgia"/>
              <a:buNone/>
            </a:pPr>
            <a:r>
              <a:rPr b="0" i="0" lang="en-US" sz="4000" u="none" cap="none" strike="noStrike">
                <a:solidFill>
                  <a:srgbClr val="FFFFFF"/>
                </a:solidFill>
                <a:latin typeface="Georgia"/>
                <a:ea typeface="Georgia"/>
                <a:cs typeface="Georgia"/>
                <a:sym typeface="Georgia"/>
              </a:rPr>
              <a:t>Key Vocabulary &amp;</a:t>
            </a:r>
            <a:endParaRPr b="0" i="0" sz="4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4000"/>
              <a:buFont typeface="Georgia"/>
              <a:buNone/>
            </a:pPr>
            <a:r>
              <a:rPr b="0" i="0" lang="en-US" sz="4000" u="none" cap="none" strike="noStrike">
                <a:solidFill>
                  <a:srgbClr val="FFFFFF"/>
                </a:solidFill>
                <a:latin typeface="Georgia"/>
                <a:ea typeface="Georgia"/>
                <a:cs typeface="Georgia"/>
                <a:sym typeface="Georgia"/>
              </a:rPr>
              <a:t>What's Next</a:t>
            </a:r>
            <a:endParaRPr b="0" i="0" sz="4000" u="none" cap="none" strike="noStrike">
              <a:solidFill>
                <a:schemeClr val="dk1"/>
              </a:solidFill>
              <a:latin typeface="Calibri"/>
              <a:ea typeface="Calibri"/>
              <a:cs typeface="Calibri"/>
              <a:sym typeface="Calibri"/>
            </a:endParaRPr>
          </a:p>
        </p:txBody>
      </p:sp>
      <p:sp>
        <p:nvSpPr>
          <p:cNvPr id="515" name="Google Shape;515;p38"/>
          <p:cNvSpPr/>
          <p:nvPr/>
        </p:nvSpPr>
        <p:spPr>
          <a:xfrm>
            <a:off x="731520" y="3840480"/>
            <a:ext cx="1097280" cy="54864"/>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16" name="Google Shape;516;p38"/>
          <p:cNvPicPr preferRelativeResize="0"/>
          <p:nvPr/>
        </p:nvPicPr>
        <p:blipFill rotWithShape="1">
          <a:blip r:embed="rId3">
            <a:alphaModFix/>
          </a:blip>
          <a:srcRect b="0" l="0" r="0" t="0"/>
          <a:stretch/>
        </p:blipFill>
        <p:spPr>
          <a:xfrm>
            <a:off x="7772400" y="3931920"/>
            <a:ext cx="640080" cy="64008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1" name="Shape 521"/>
        <p:cNvGrpSpPr/>
        <p:nvPr/>
      </p:nvGrpSpPr>
      <p:grpSpPr>
        <a:xfrm>
          <a:off x="0" y="0"/>
          <a:ext cx="0" cy="0"/>
          <a:chOff x="0" y="0"/>
          <a:chExt cx="0" cy="0"/>
        </a:xfrm>
      </p:grpSpPr>
      <p:sp>
        <p:nvSpPr>
          <p:cNvPr id="522" name="Google Shape;522;p39"/>
          <p:cNvSpPr/>
          <p:nvPr/>
        </p:nvSpPr>
        <p:spPr>
          <a:xfrm>
            <a:off x="731520" y="274320"/>
            <a:ext cx="76809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2200"/>
              <a:buFont typeface="Georgia"/>
              <a:buNone/>
            </a:pPr>
            <a:r>
              <a:rPr b="0" i="0" lang="en-US" sz="2200" u="none" cap="none" strike="noStrike">
                <a:solidFill>
                  <a:srgbClr val="1E293B"/>
                </a:solidFill>
                <a:latin typeface="Georgia"/>
                <a:ea typeface="Georgia"/>
                <a:cs typeface="Georgia"/>
                <a:sym typeface="Georgia"/>
              </a:rPr>
              <a:t>Essential Vocabulary (1/2)</a:t>
            </a:r>
            <a:endParaRPr b="0" i="0" sz="2200" u="none" cap="none" strike="noStrike">
              <a:solidFill>
                <a:schemeClr val="dk1"/>
              </a:solidFill>
              <a:latin typeface="Calibri"/>
              <a:ea typeface="Calibri"/>
              <a:cs typeface="Calibri"/>
              <a:sym typeface="Calibri"/>
            </a:endParaRPr>
          </a:p>
        </p:txBody>
      </p:sp>
      <p:sp>
        <p:nvSpPr>
          <p:cNvPr id="523" name="Google Shape;523;p39"/>
          <p:cNvSpPr/>
          <p:nvPr/>
        </p:nvSpPr>
        <p:spPr>
          <a:xfrm>
            <a:off x="731520" y="914400"/>
            <a:ext cx="7680960" cy="64008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39"/>
          <p:cNvSpPr/>
          <p:nvPr/>
        </p:nvSpPr>
        <p:spPr>
          <a:xfrm>
            <a:off x="914400" y="914400"/>
            <a:ext cx="27432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F46E5"/>
              </a:buClr>
              <a:buSzPts val="1200"/>
              <a:buFont typeface="Consolas"/>
              <a:buNone/>
            </a:pPr>
            <a:r>
              <a:rPr b="0" i="0" lang="en-US" sz="1200" u="none" cap="none" strike="noStrike">
                <a:solidFill>
                  <a:srgbClr val="4F46E5"/>
                </a:solidFill>
                <a:latin typeface="Consolas"/>
                <a:ea typeface="Consolas"/>
                <a:cs typeface="Consolas"/>
                <a:sym typeface="Consolas"/>
              </a:rPr>
              <a:t>AI</a:t>
            </a:r>
            <a:endParaRPr b="0" i="0" sz="1200" u="none" cap="none" strike="noStrike">
              <a:solidFill>
                <a:schemeClr val="dk1"/>
              </a:solidFill>
              <a:latin typeface="Calibri"/>
              <a:ea typeface="Calibri"/>
              <a:cs typeface="Calibri"/>
              <a:sym typeface="Calibri"/>
            </a:endParaRPr>
          </a:p>
        </p:txBody>
      </p:sp>
      <p:sp>
        <p:nvSpPr>
          <p:cNvPr id="525" name="Google Shape;525;p39"/>
          <p:cNvSpPr/>
          <p:nvPr/>
        </p:nvSpPr>
        <p:spPr>
          <a:xfrm>
            <a:off x="3657600" y="914400"/>
            <a:ext cx="45720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Software that learns from data and makes decisions</a:t>
            </a:r>
            <a:endParaRPr b="0" i="0" sz="1300" u="none" cap="none" strike="noStrike">
              <a:solidFill>
                <a:schemeClr val="dk1"/>
              </a:solidFill>
              <a:latin typeface="Calibri"/>
              <a:ea typeface="Calibri"/>
              <a:cs typeface="Calibri"/>
              <a:sym typeface="Calibri"/>
            </a:endParaRPr>
          </a:p>
        </p:txBody>
      </p:sp>
      <p:sp>
        <p:nvSpPr>
          <p:cNvPr id="526" name="Google Shape;526;p39"/>
          <p:cNvSpPr/>
          <p:nvPr/>
        </p:nvSpPr>
        <p:spPr>
          <a:xfrm>
            <a:off x="731520" y="1691640"/>
            <a:ext cx="7680960" cy="6400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39"/>
          <p:cNvSpPr/>
          <p:nvPr/>
        </p:nvSpPr>
        <p:spPr>
          <a:xfrm>
            <a:off x="914400" y="1691640"/>
            <a:ext cx="27432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F46E5"/>
              </a:buClr>
              <a:buSzPts val="1200"/>
              <a:buFont typeface="Consolas"/>
              <a:buNone/>
            </a:pPr>
            <a:r>
              <a:rPr b="0" i="0" lang="en-US" sz="1200" u="none" cap="none" strike="noStrike">
                <a:solidFill>
                  <a:srgbClr val="4F46E5"/>
                </a:solidFill>
                <a:latin typeface="Consolas"/>
                <a:ea typeface="Consolas"/>
                <a:cs typeface="Consolas"/>
                <a:sym typeface="Consolas"/>
              </a:rPr>
              <a:t>Agentic AI</a:t>
            </a:r>
            <a:endParaRPr b="0" i="0" sz="1200" u="none" cap="none" strike="noStrike">
              <a:solidFill>
                <a:schemeClr val="dk1"/>
              </a:solidFill>
              <a:latin typeface="Calibri"/>
              <a:ea typeface="Calibri"/>
              <a:cs typeface="Calibri"/>
              <a:sym typeface="Calibri"/>
            </a:endParaRPr>
          </a:p>
        </p:txBody>
      </p:sp>
      <p:sp>
        <p:nvSpPr>
          <p:cNvPr id="528" name="Google Shape;528;p39"/>
          <p:cNvSpPr/>
          <p:nvPr/>
        </p:nvSpPr>
        <p:spPr>
          <a:xfrm>
            <a:off x="3657600" y="1691640"/>
            <a:ext cx="45720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AI that plans, uses tools, fixes mistakes, completes jobs</a:t>
            </a:r>
            <a:endParaRPr b="0" i="0" sz="1300" u="none" cap="none" strike="noStrike">
              <a:solidFill>
                <a:schemeClr val="dk1"/>
              </a:solidFill>
              <a:latin typeface="Calibri"/>
              <a:ea typeface="Calibri"/>
              <a:cs typeface="Calibri"/>
              <a:sym typeface="Calibri"/>
            </a:endParaRPr>
          </a:p>
        </p:txBody>
      </p:sp>
      <p:sp>
        <p:nvSpPr>
          <p:cNvPr id="529" name="Google Shape;529;p39"/>
          <p:cNvSpPr/>
          <p:nvPr/>
        </p:nvSpPr>
        <p:spPr>
          <a:xfrm>
            <a:off x="731520" y="2468880"/>
            <a:ext cx="7680960" cy="64008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39"/>
          <p:cNvSpPr/>
          <p:nvPr/>
        </p:nvSpPr>
        <p:spPr>
          <a:xfrm>
            <a:off x="914400" y="2468880"/>
            <a:ext cx="27432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F46E5"/>
              </a:buClr>
              <a:buSzPts val="1200"/>
              <a:buFont typeface="Consolas"/>
              <a:buNone/>
            </a:pPr>
            <a:r>
              <a:rPr b="0" i="0" lang="en-US" sz="1200" u="none" cap="none" strike="noStrike">
                <a:solidFill>
                  <a:srgbClr val="4F46E5"/>
                </a:solidFill>
                <a:latin typeface="Consolas"/>
                <a:ea typeface="Consolas"/>
                <a:cs typeface="Consolas"/>
                <a:sym typeface="Consolas"/>
              </a:rPr>
              <a:t>AI Worker / Digital FTE</a:t>
            </a:r>
            <a:endParaRPr b="0" i="0" sz="1200" u="none" cap="none" strike="noStrike">
              <a:solidFill>
                <a:schemeClr val="dk1"/>
              </a:solidFill>
              <a:latin typeface="Calibri"/>
              <a:ea typeface="Calibri"/>
              <a:cs typeface="Calibri"/>
              <a:sym typeface="Calibri"/>
            </a:endParaRPr>
          </a:p>
        </p:txBody>
      </p:sp>
      <p:sp>
        <p:nvSpPr>
          <p:cNvPr id="531" name="Google Shape;531;p39"/>
          <p:cNvSpPr/>
          <p:nvPr/>
        </p:nvSpPr>
        <p:spPr>
          <a:xfrm>
            <a:off x="3657600" y="2468880"/>
            <a:ext cx="45720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AI built to do one specific job, like a human employee</a:t>
            </a:r>
            <a:endParaRPr b="0" i="0" sz="1300" u="none" cap="none" strike="noStrike">
              <a:solidFill>
                <a:schemeClr val="dk1"/>
              </a:solidFill>
              <a:latin typeface="Calibri"/>
              <a:ea typeface="Calibri"/>
              <a:cs typeface="Calibri"/>
              <a:sym typeface="Calibri"/>
            </a:endParaRPr>
          </a:p>
        </p:txBody>
      </p:sp>
      <p:sp>
        <p:nvSpPr>
          <p:cNvPr id="532" name="Google Shape;532;p39"/>
          <p:cNvSpPr/>
          <p:nvPr/>
        </p:nvSpPr>
        <p:spPr>
          <a:xfrm>
            <a:off x="731520" y="3246120"/>
            <a:ext cx="7680960" cy="6400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39"/>
          <p:cNvSpPr/>
          <p:nvPr/>
        </p:nvSpPr>
        <p:spPr>
          <a:xfrm>
            <a:off x="914400" y="3246120"/>
            <a:ext cx="27432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F46E5"/>
              </a:buClr>
              <a:buSzPts val="1200"/>
              <a:buFont typeface="Consolas"/>
              <a:buNone/>
            </a:pPr>
            <a:r>
              <a:rPr b="0" i="0" lang="en-US" sz="1200" u="none" cap="none" strike="noStrike">
                <a:solidFill>
                  <a:srgbClr val="4F46E5"/>
                </a:solidFill>
                <a:latin typeface="Consolas"/>
                <a:ea typeface="Consolas"/>
                <a:cs typeface="Consolas"/>
                <a:sym typeface="Consolas"/>
              </a:rPr>
              <a:t>Agent Factory</a:t>
            </a:r>
            <a:endParaRPr b="0" i="0" sz="1200" u="none" cap="none" strike="noStrike">
              <a:solidFill>
                <a:schemeClr val="dk1"/>
              </a:solidFill>
              <a:latin typeface="Calibri"/>
              <a:ea typeface="Calibri"/>
              <a:cs typeface="Calibri"/>
              <a:sym typeface="Calibri"/>
            </a:endParaRPr>
          </a:p>
        </p:txBody>
      </p:sp>
      <p:sp>
        <p:nvSpPr>
          <p:cNvPr id="534" name="Google Shape;534;p39"/>
          <p:cNvSpPr/>
          <p:nvPr/>
        </p:nvSpPr>
        <p:spPr>
          <a:xfrm>
            <a:off x="3657600" y="3246120"/>
            <a:ext cx="45720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The method for building AI workers (a practice, not a product)</a:t>
            </a:r>
            <a:endParaRPr b="0" i="0" sz="1300" u="none" cap="none" strike="noStrike">
              <a:solidFill>
                <a:schemeClr val="dk1"/>
              </a:solidFill>
              <a:latin typeface="Calibri"/>
              <a:ea typeface="Calibri"/>
              <a:cs typeface="Calibri"/>
              <a:sym typeface="Calibri"/>
            </a:endParaRPr>
          </a:p>
        </p:txBody>
      </p:sp>
      <p:sp>
        <p:nvSpPr>
          <p:cNvPr id="535" name="Google Shape;535;p39"/>
          <p:cNvSpPr/>
          <p:nvPr/>
        </p:nvSpPr>
        <p:spPr>
          <a:xfrm>
            <a:off x="731520" y="4023360"/>
            <a:ext cx="7680960" cy="64008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39"/>
          <p:cNvSpPr/>
          <p:nvPr/>
        </p:nvSpPr>
        <p:spPr>
          <a:xfrm>
            <a:off x="914400" y="4023360"/>
            <a:ext cx="27432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F46E5"/>
              </a:buClr>
              <a:buSzPts val="1200"/>
              <a:buFont typeface="Consolas"/>
              <a:buNone/>
            </a:pPr>
            <a:r>
              <a:rPr b="0" i="0" lang="en-US" sz="1200" u="none" cap="none" strike="noStrike">
                <a:solidFill>
                  <a:srgbClr val="4F46E5"/>
                </a:solidFill>
                <a:latin typeface="Consolas"/>
                <a:ea typeface="Consolas"/>
                <a:cs typeface="Consolas"/>
                <a:sym typeface="Consolas"/>
              </a:rPr>
              <a:t>AI-Native Company</a:t>
            </a:r>
            <a:endParaRPr b="0" i="0" sz="1200" u="none" cap="none" strike="noStrike">
              <a:solidFill>
                <a:schemeClr val="dk1"/>
              </a:solidFill>
              <a:latin typeface="Calibri"/>
              <a:ea typeface="Calibri"/>
              <a:cs typeface="Calibri"/>
              <a:sym typeface="Calibri"/>
            </a:endParaRPr>
          </a:p>
        </p:txBody>
      </p:sp>
      <p:sp>
        <p:nvSpPr>
          <p:cNvPr id="537" name="Google Shape;537;p39"/>
          <p:cNvSpPr/>
          <p:nvPr/>
        </p:nvSpPr>
        <p:spPr>
          <a:xfrm>
            <a:off x="3657600" y="4023360"/>
            <a:ext cx="45720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Company where most workers are AI, selling results not tools</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2" name="Shape 542"/>
        <p:cNvGrpSpPr/>
        <p:nvPr/>
      </p:nvGrpSpPr>
      <p:grpSpPr>
        <a:xfrm>
          <a:off x="0" y="0"/>
          <a:ext cx="0" cy="0"/>
          <a:chOff x="0" y="0"/>
          <a:chExt cx="0" cy="0"/>
        </a:xfrm>
      </p:grpSpPr>
      <p:sp>
        <p:nvSpPr>
          <p:cNvPr id="543" name="Google Shape;543;p40"/>
          <p:cNvSpPr/>
          <p:nvPr/>
        </p:nvSpPr>
        <p:spPr>
          <a:xfrm>
            <a:off x="731520" y="274320"/>
            <a:ext cx="76809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2200"/>
              <a:buFont typeface="Georgia"/>
              <a:buNone/>
            </a:pPr>
            <a:r>
              <a:rPr b="0" i="0" lang="en-US" sz="2200" u="none" cap="none" strike="noStrike">
                <a:solidFill>
                  <a:srgbClr val="1E293B"/>
                </a:solidFill>
                <a:latin typeface="Georgia"/>
                <a:ea typeface="Georgia"/>
                <a:cs typeface="Georgia"/>
                <a:sym typeface="Georgia"/>
              </a:rPr>
              <a:t>Essential Vocabulary (2/2)</a:t>
            </a:r>
            <a:endParaRPr b="0" i="0" sz="2200" u="none" cap="none" strike="noStrike">
              <a:solidFill>
                <a:schemeClr val="dk1"/>
              </a:solidFill>
              <a:latin typeface="Calibri"/>
              <a:ea typeface="Calibri"/>
              <a:cs typeface="Calibri"/>
              <a:sym typeface="Calibri"/>
            </a:endParaRPr>
          </a:p>
        </p:txBody>
      </p:sp>
      <p:sp>
        <p:nvSpPr>
          <p:cNvPr id="544" name="Google Shape;544;p40"/>
          <p:cNvSpPr/>
          <p:nvPr/>
        </p:nvSpPr>
        <p:spPr>
          <a:xfrm>
            <a:off x="731520" y="914400"/>
            <a:ext cx="7680960" cy="64008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40"/>
          <p:cNvSpPr/>
          <p:nvPr/>
        </p:nvSpPr>
        <p:spPr>
          <a:xfrm>
            <a:off x="914400" y="914400"/>
            <a:ext cx="27432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F46E5"/>
              </a:buClr>
              <a:buSzPts val="1200"/>
              <a:buFont typeface="Consolas"/>
              <a:buNone/>
            </a:pPr>
            <a:r>
              <a:rPr b="0" i="0" lang="en-US" sz="1200" u="none" cap="none" strike="noStrike">
                <a:solidFill>
                  <a:srgbClr val="4F46E5"/>
                </a:solidFill>
                <a:latin typeface="Consolas"/>
                <a:ea typeface="Consolas"/>
                <a:cs typeface="Consolas"/>
                <a:sym typeface="Consolas"/>
              </a:rPr>
              <a:t>Delegate</a:t>
            </a:r>
            <a:endParaRPr b="0" i="0" sz="1200" u="none" cap="none" strike="noStrike">
              <a:solidFill>
                <a:schemeClr val="dk1"/>
              </a:solidFill>
              <a:latin typeface="Calibri"/>
              <a:ea typeface="Calibri"/>
              <a:cs typeface="Calibri"/>
              <a:sym typeface="Calibri"/>
            </a:endParaRPr>
          </a:p>
        </p:txBody>
      </p:sp>
      <p:sp>
        <p:nvSpPr>
          <p:cNvPr id="546" name="Google Shape;546;p40"/>
          <p:cNvSpPr/>
          <p:nvPr/>
        </p:nvSpPr>
        <p:spPr>
          <a:xfrm>
            <a:off x="3657600" y="914400"/>
            <a:ext cx="45720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Your personal AI that manages the workforce for you</a:t>
            </a:r>
            <a:endParaRPr b="0" i="0" sz="1300" u="none" cap="none" strike="noStrike">
              <a:solidFill>
                <a:schemeClr val="dk1"/>
              </a:solidFill>
              <a:latin typeface="Calibri"/>
              <a:ea typeface="Calibri"/>
              <a:cs typeface="Calibri"/>
              <a:sym typeface="Calibri"/>
            </a:endParaRPr>
          </a:p>
        </p:txBody>
      </p:sp>
      <p:sp>
        <p:nvSpPr>
          <p:cNvPr id="547" name="Google Shape;547;p40"/>
          <p:cNvSpPr/>
          <p:nvPr/>
        </p:nvSpPr>
        <p:spPr>
          <a:xfrm>
            <a:off x="731520" y="1691640"/>
            <a:ext cx="7680960" cy="6400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40"/>
          <p:cNvSpPr/>
          <p:nvPr/>
        </p:nvSpPr>
        <p:spPr>
          <a:xfrm>
            <a:off x="914400" y="1691640"/>
            <a:ext cx="27432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F46E5"/>
              </a:buClr>
              <a:buSzPts val="1200"/>
              <a:buFont typeface="Consolas"/>
              <a:buNone/>
            </a:pPr>
            <a:r>
              <a:rPr b="0" i="0" lang="en-US" sz="1200" u="none" cap="none" strike="noStrike">
                <a:solidFill>
                  <a:srgbClr val="4F46E5"/>
                </a:solidFill>
                <a:latin typeface="Consolas"/>
                <a:ea typeface="Consolas"/>
                <a:cs typeface="Consolas"/>
                <a:sym typeface="Consolas"/>
              </a:rPr>
              <a:t>System of Record</a:t>
            </a:r>
            <a:endParaRPr b="0" i="0" sz="1200" u="none" cap="none" strike="noStrike">
              <a:solidFill>
                <a:schemeClr val="dk1"/>
              </a:solidFill>
              <a:latin typeface="Calibri"/>
              <a:ea typeface="Calibri"/>
              <a:cs typeface="Calibri"/>
              <a:sym typeface="Calibri"/>
            </a:endParaRPr>
          </a:p>
        </p:txBody>
      </p:sp>
      <p:sp>
        <p:nvSpPr>
          <p:cNvPr id="549" name="Google Shape;549;p40"/>
          <p:cNvSpPr/>
          <p:nvPr/>
        </p:nvSpPr>
        <p:spPr>
          <a:xfrm>
            <a:off x="3657600" y="1691640"/>
            <a:ext cx="45720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Company's official memory — the single source of truth</a:t>
            </a:r>
            <a:endParaRPr b="0" i="0" sz="1300" u="none" cap="none" strike="noStrike">
              <a:solidFill>
                <a:schemeClr val="dk1"/>
              </a:solidFill>
              <a:latin typeface="Calibri"/>
              <a:ea typeface="Calibri"/>
              <a:cs typeface="Calibri"/>
              <a:sym typeface="Calibri"/>
            </a:endParaRPr>
          </a:p>
        </p:txBody>
      </p:sp>
      <p:sp>
        <p:nvSpPr>
          <p:cNvPr id="550" name="Google Shape;550;p40"/>
          <p:cNvSpPr/>
          <p:nvPr/>
        </p:nvSpPr>
        <p:spPr>
          <a:xfrm>
            <a:off x="731520" y="2468880"/>
            <a:ext cx="7680960" cy="640080"/>
          </a:xfrm>
          <a:prstGeom prst="rect">
            <a:avLst/>
          </a:prstGeom>
          <a:solidFill>
            <a:srgbClr val="F0F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40"/>
          <p:cNvSpPr/>
          <p:nvPr/>
        </p:nvSpPr>
        <p:spPr>
          <a:xfrm>
            <a:off x="914400" y="2468880"/>
            <a:ext cx="27432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F46E5"/>
              </a:buClr>
              <a:buSzPts val="1200"/>
              <a:buFont typeface="Consolas"/>
              <a:buNone/>
            </a:pPr>
            <a:r>
              <a:rPr b="0" i="0" lang="en-US" sz="1200" u="none" cap="none" strike="noStrike">
                <a:solidFill>
                  <a:srgbClr val="4F46E5"/>
                </a:solidFill>
                <a:latin typeface="Consolas"/>
                <a:ea typeface="Consolas"/>
                <a:cs typeface="Consolas"/>
                <a:sym typeface="Consolas"/>
              </a:rPr>
              <a:t>Spec</a:t>
            </a:r>
            <a:endParaRPr b="0" i="0" sz="1200" u="none" cap="none" strike="noStrike">
              <a:solidFill>
                <a:schemeClr val="dk1"/>
              </a:solidFill>
              <a:latin typeface="Calibri"/>
              <a:ea typeface="Calibri"/>
              <a:cs typeface="Calibri"/>
              <a:sym typeface="Calibri"/>
            </a:endParaRPr>
          </a:p>
        </p:txBody>
      </p:sp>
      <p:sp>
        <p:nvSpPr>
          <p:cNvPr id="552" name="Google Shape;552;p40"/>
          <p:cNvSpPr/>
          <p:nvPr/>
        </p:nvSpPr>
        <p:spPr>
          <a:xfrm>
            <a:off x="3657600" y="2468880"/>
            <a:ext cx="45720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Clear written instruction: goal, limits, budget, success criteria</a:t>
            </a:r>
            <a:endParaRPr b="0" i="0" sz="1300" u="none" cap="none" strike="noStrike">
              <a:solidFill>
                <a:schemeClr val="dk1"/>
              </a:solidFill>
              <a:latin typeface="Calibri"/>
              <a:ea typeface="Calibri"/>
              <a:cs typeface="Calibri"/>
              <a:sym typeface="Calibri"/>
            </a:endParaRPr>
          </a:p>
        </p:txBody>
      </p:sp>
      <p:sp>
        <p:nvSpPr>
          <p:cNvPr id="553" name="Google Shape;553;p40"/>
          <p:cNvSpPr/>
          <p:nvPr/>
        </p:nvSpPr>
        <p:spPr>
          <a:xfrm>
            <a:off x="731520" y="3246120"/>
            <a:ext cx="7680960" cy="6400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40"/>
          <p:cNvSpPr/>
          <p:nvPr/>
        </p:nvSpPr>
        <p:spPr>
          <a:xfrm>
            <a:off x="914400" y="3246120"/>
            <a:ext cx="2743200" cy="64008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4F46E5"/>
              </a:buClr>
              <a:buSzPts val="1200"/>
              <a:buFont typeface="Consolas"/>
              <a:buNone/>
            </a:pPr>
            <a:r>
              <a:rPr lang="en-US" sz="1200">
                <a:solidFill>
                  <a:srgbClr val="4F46E5"/>
                </a:solidFill>
                <a:latin typeface="Consolas"/>
                <a:ea typeface="Consolas"/>
                <a:cs typeface="Consolas"/>
                <a:sym typeface="Consolas"/>
              </a:rPr>
              <a:t>10-80-10 Rule</a:t>
            </a:r>
            <a:endParaRPr b="0" i="0" sz="1200" u="none" cap="none" strike="noStrike">
              <a:solidFill>
                <a:schemeClr val="dk1"/>
              </a:solidFill>
              <a:latin typeface="Calibri"/>
              <a:ea typeface="Calibri"/>
              <a:cs typeface="Calibri"/>
              <a:sym typeface="Calibri"/>
            </a:endParaRPr>
          </a:p>
        </p:txBody>
      </p:sp>
      <p:sp>
        <p:nvSpPr>
          <p:cNvPr id="555" name="Google Shape;555;p40"/>
          <p:cNvSpPr/>
          <p:nvPr/>
        </p:nvSpPr>
        <p:spPr>
          <a:xfrm>
            <a:off x="3657600" y="3246120"/>
            <a:ext cx="4572000" cy="64008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E293B"/>
              </a:buClr>
              <a:buSzPts val="1300"/>
              <a:buFont typeface="Calibri"/>
              <a:buNone/>
            </a:pPr>
            <a:r>
              <a:rPr lang="en-US" sz="1300">
                <a:solidFill>
                  <a:srgbClr val="1E293B"/>
                </a:solidFill>
                <a:latin typeface="Calibri"/>
                <a:ea typeface="Calibri"/>
                <a:cs typeface="Calibri"/>
                <a:sym typeface="Calibri"/>
              </a:rPr>
              <a:t>Human direction (10%) + AI work (80%) + Human check (10%)</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560" name="Shape 560"/>
        <p:cNvGrpSpPr/>
        <p:nvPr/>
      </p:nvGrpSpPr>
      <p:grpSpPr>
        <a:xfrm>
          <a:off x="0" y="0"/>
          <a:ext cx="0" cy="0"/>
          <a:chOff x="0" y="0"/>
          <a:chExt cx="0" cy="0"/>
        </a:xfrm>
      </p:grpSpPr>
      <p:sp>
        <p:nvSpPr>
          <p:cNvPr id="561" name="Google Shape;561;p41"/>
          <p:cNvSpPr/>
          <p:nvPr/>
        </p:nvSpPr>
        <p:spPr>
          <a:xfrm>
            <a:off x="6858000" y="-1371600"/>
            <a:ext cx="4572000" cy="4572000"/>
          </a:xfrm>
          <a:prstGeom prst="ellipse">
            <a:avLst/>
          </a:prstGeom>
          <a:solidFill>
            <a:srgbClr val="3341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41"/>
          <p:cNvSpPr/>
          <p:nvPr/>
        </p:nvSpPr>
        <p:spPr>
          <a:xfrm>
            <a:off x="731520" y="36576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EEAD4"/>
              </a:buClr>
              <a:buSzPts val="1100"/>
              <a:buFont typeface="Consolas"/>
              <a:buNone/>
            </a:pPr>
            <a:r>
              <a:rPr b="0" i="0" lang="en-US" sz="1100" u="none" cap="none" strike="noStrike">
                <a:solidFill>
                  <a:srgbClr val="5EEAD4"/>
                </a:solidFill>
                <a:latin typeface="Consolas"/>
                <a:ea typeface="Consolas"/>
                <a:cs typeface="Consolas"/>
                <a:sym typeface="Consolas"/>
              </a:rPr>
              <a:t>TODAY'S BIG IDEAS — IN ONE BREATH</a:t>
            </a:r>
            <a:endParaRPr b="0" i="0" sz="1100" u="none" cap="none" strike="noStrike">
              <a:solidFill>
                <a:schemeClr val="dk1"/>
              </a:solidFill>
              <a:latin typeface="Calibri"/>
              <a:ea typeface="Calibri"/>
              <a:cs typeface="Calibri"/>
              <a:sym typeface="Calibri"/>
            </a:endParaRPr>
          </a:p>
        </p:txBody>
      </p:sp>
      <p:sp>
        <p:nvSpPr>
          <p:cNvPr id="563" name="Google Shape;563;p41"/>
          <p:cNvSpPr/>
          <p:nvPr/>
        </p:nvSpPr>
        <p:spPr>
          <a:xfrm>
            <a:off x="914400" y="914400"/>
            <a:ext cx="7315200" cy="2743200"/>
          </a:xfrm>
          <a:prstGeom prst="rect">
            <a:avLst/>
          </a:prstGeom>
          <a:noFill/>
          <a:ln>
            <a:noFill/>
          </a:ln>
        </p:spPr>
        <p:txBody>
          <a:bodyPr anchorCtr="0" anchor="t" bIns="45700" lIns="91425" spcFirstLastPara="1" rIns="91425" wrap="square" tIns="45700">
            <a:noAutofit/>
          </a:bodyPr>
          <a:lstStyle/>
          <a:p>
            <a:pPr indent="0" lvl="0" marL="0" marR="0" rtl="0" algn="l">
              <a:lnSpc>
                <a:spcPct val="135000"/>
              </a:lnSpc>
              <a:spcBef>
                <a:spcPts val="0"/>
              </a:spcBef>
              <a:spcAft>
                <a:spcPts val="0"/>
              </a:spcAft>
              <a:buClr>
                <a:srgbClr val="E2E8F0"/>
              </a:buClr>
              <a:buSzPts val="1400"/>
              <a:buFont typeface="Calibri"/>
              <a:buNone/>
            </a:pPr>
            <a:r>
              <a:rPr b="0" i="0" lang="en-US" sz="1400" u="none" cap="none" strike="noStrike">
                <a:solidFill>
                  <a:srgbClr val="E2E8F0"/>
                </a:solidFill>
                <a:latin typeface="Calibri"/>
                <a:ea typeface="Calibri"/>
                <a:cs typeface="Calibri"/>
                <a:sym typeface="Calibri"/>
              </a:rPr>
              <a:t>AI is software that learns and makes decisions. Agentic AI takes this further — it plans, uses tools, and completes entire jobs.</a:t>
            </a:r>
            <a:endParaRPr b="0" i="0" sz="14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E2E8F0"/>
              </a:buClr>
              <a:buSzPts val="1400"/>
              <a:buFont typeface="Calibri"/>
              <a:buNone/>
            </a:pPr>
            <a:r>
              <a:rPr b="0" i="0" lang="en-US" sz="1400" u="none" cap="none" strike="noStrike">
                <a:solidFill>
                  <a:srgbClr val="E2E8F0"/>
                </a:solidFill>
                <a:latin typeface="Calibri"/>
                <a:ea typeface="Calibri"/>
                <a:cs typeface="Calibri"/>
                <a:sym typeface="Calibri"/>
              </a:rPr>
              <a:t>The Agent Factory is the method for building AI workers and organizing them into AI-Native Companies where AI does the work and humans set direction and check quality.</a:t>
            </a:r>
            <a:endParaRPr b="0" i="0" sz="14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E2E8F0"/>
              </a:buClr>
              <a:buSzPts val="1400"/>
              <a:buFont typeface="Calibri"/>
              <a:buNone/>
            </a:pPr>
            <a:r>
              <a:rPr b="0" i="0" lang="en-US" sz="1400" u="none" cap="none" strike="noStrike">
                <a:solidFill>
                  <a:srgbClr val="E2E8F0"/>
                </a:solidFill>
                <a:latin typeface="Calibri"/>
                <a:ea typeface="Calibri"/>
                <a:cs typeface="Calibri"/>
                <a:sym typeface="Calibri"/>
              </a:rPr>
              <a:t>You're not being replaced — you're being promoted from worker to director.</a:t>
            </a:r>
            <a:endParaRPr b="0" i="0" sz="14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E2E8F0"/>
              </a:buClr>
              <a:buSzPts val="1400"/>
              <a:buFont typeface="Calibri"/>
              <a:buNone/>
            </a:pPr>
            <a:r>
              <a:rPr b="0" i="0" lang="en-US" sz="1400" u="none" cap="none" strike="noStrike">
                <a:solidFill>
                  <a:srgbClr val="E2E8F0"/>
                </a:solidFill>
                <a:latin typeface="Calibri"/>
                <a:ea typeface="Calibri"/>
                <a:cs typeface="Calibri"/>
                <a:sym typeface="Calibri"/>
              </a:rPr>
              <a:t>The future belongs to people who can clearly tell AI what to do, connect it to real data, and verify the results are correct.</a:t>
            </a:r>
            <a:endParaRPr b="0" i="0" sz="1400" u="none" cap="none" strike="noStrike">
              <a:solidFill>
                <a:schemeClr val="dk1"/>
              </a:solidFill>
              <a:latin typeface="Calibri"/>
              <a:ea typeface="Calibri"/>
              <a:cs typeface="Calibri"/>
              <a:sym typeface="Calibri"/>
            </a:endParaRPr>
          </a:p>
        </p:txBody>
      </p:sp>
      <p:sp>
        <p:nvSpPr>
          <p:cNvPr id="564" name="Google Shape;564;p41"/>
          <p:cNvSpPr/>
          <p:nvPr/>
        </p:nvSpPr>
        <p:spPr>
          <a:xfrm>
            <a:off x="914400" y="4114800"/>
            <a:ext cx="6858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EEAD4"/>
              </a:buClr>
              <a:buSzPts val="2000"/>
              <a:buFont typeface="Georgia"/>
              <a:buNone/>
            </a:pPr>
            <a:r>
              <a:rPr b="0" i="1" lang="en-US" sz="2000" u="none" cap="none" strike="noStrike">
                <a:solidFill>
                  <a:srgbClr val="5EEAD4"/>
                </a:solidFill>
                <a:latin typeface="Georgia"/>
                <a:ea typeface="Georgia"/>
                <a:cs typeface="Georgia"/>
                <a:sym typeface="Georgia"/>
              </a:rPr>
              <a:t>That's what this program will teach you. Welcome aboard.</a:t>
            </a:r>
            <a:endParaRPr b="0" i="0" sz="2000" u="none" cap="none" strike="noStrike">
              <a:solidFill>
                <a:schemeClr val="dk1"/>
              </a:solidFill>
              <a:latin typeface="Calibri"/>
              <a:ea typeface="Calibri"/>
              <a:cs typeface="Calibri"/>
              <a:sym typeface="Calibri"/>
            </a:endParaRPr>
          </a:p>
        </p:txBody>
      </p:sp>
      <p:pic>
        <p:nvPicPr>
          <p:cNvPr descr="preencoded.png" id="565" name="Google Shape;565;p41"/>
          <p:cNvPicPr preferRelativeResize="0"/>
          <p:nvPr/>
        </p:nvPicPr>
        <p:blipFill rotWithShape="1">
          <a:blip r:embed="rId3">
            <a:alphaModFix/>
          </a:blip>
          <a:srcRect b="0" l="0" r="0" t="0"/>
          <a:stretch/>
        </p:blipFill>
        <p:spPr>
          <a:xfrm>
            <a:off x="8229600" y="4206240"/>
            <a:ext cx="457200" cy="4572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570" name="Shape 570"/>
        <p:cNvGrpSpPr/>
        <p:nvPr/>
      </p:nvGrpSpPr>
      <p:grpSpPr>
        <a:xfrm>
          <a:off x="0" y="0"/>
          <a:ext cx="0" cy="0"/>
          <a:chOff x="0" y="0"/>
          <a:chExt cx="0" cy="0"/>
        </a:xfrm>
      </p:grpSpPr>
      <p:sp>
        <p:nvSpPr>
          <p:cNvPr id="571" name="Google Shape;571;p42"/>
          <p:cNvSpPr/>
          <p:nvPr/>
        </p:nvSpPr>
        <p:spPr>
          <a:xfrm>
            <a:off x="2743200" y="-1828800"/>
            <a:ext cx="3657600" cy="3657600"/>
          </a:xfrm>
          <a:prstGeom prst="ellipse">
            <a:avLst/>
          </a:prstGeom>
          <a:solidFill>
            <a:srgbClr val="3341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42"/>
          <p:cNvSpPr/>
          <p:nvPr/>
        </p:nvSpPr>
        <p:spPr>
          <a:xfrm>
            <a:off x="0" y="1371600"/>
            <a:ext cx="9144000" cy="10972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5200"/>
              <a:buFont typeface="Georgia"/>
              <a:buNone/>
            </a:pPr>
            <a:r>
              <a:rPr b="0" i="0" lang="en-US" sz="5200" u="none" cap="none" strike="noStrike">
                <a:solidFill>
                  <a:srgbClr val="FFFFFF"/>
                </a:solidFill>
                <a:latin typeface="Georgia"/>
                <a:ea typeface="Georgia"/>
                <a:cs typeface="Georgia"/>
                <a:sym typeface="Georgia"/>
              </a:rPr>
              <a:t>Thank You</a:t>
            </a:r>
            <a:endParaRPr b="0" i="0" sz="5200" u="none" cap="none" strike="noStrike">
              <a:solidFill>
                <a:schemeClr val="dk1"/>
              </a:solidFill>
              <a:latin typeface="Calibri"/>
              <a:ea typeface="Calibri"/>
              <a:cs typeface="Calibri"/>
              <a:sym typeface="Calibri"/>
            </a:endParaRPr>
          </a:p>
        </p:txBody>
      </p:sp>
      <p:sp>
        <p:nvSpPr>
          <p:cNvPr id="573" name="Google Shape;573;p42"/>
          <p:cNvSpPr/>
          <p:nvPr/>
        </p:nvSpPr>
        <p:spPr>
          <a:xfrm>
            <a:off x="0" y="2560320"/>
            <a:ext cx="914400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4A3B8"/>
              </a:buClr>
              <a:buSzPts val="1800"/>
              <a:buFont typeface="Calibri"/>
              <a:buNone/>
            </a:pPr>
            <a:r>
              <a:rPr b="0" i="0" lang="en-US" sz="1800" u="none" cap="none" strike="noStrike">
                <a:solidFill>
                  <a:srgbClr val="94A3B8"/>
                </a:solidFill>
                <a:latin typeface="Calibri"/>
                <a:ea typeface="Calibri"/>
                <a:cs typeface="Calibri"/>
                <a:sym typeface="Calibri"/>
              </a:rPr>
              <a:t>Your journey into Agentic AI starts now.</a:t>
            </a:r>
            <a:endParaRPr b="0" i="0" sz="1800" u="none" cap="none" strike="noStrike">
              <a:solidFill>
                <a:schemeClr val="dk1"/>
              </a:solidFill>
              <a:latin typeface="Calibri"/>
              <a:ea typeface="Calibri"/>
              <a:cs typeface="Calibri"/>
              <a:sym typeface="Calibri"/>
            </a:endParaRPr>
          </a:p>
        </p:txBody>
      </p:sp>
      <p:sp>
        <p:nvSpPr>
          <p:cNvPr id="574" name="Google Shape;574;p42"/>
          <p:cNvSpPr/>
          <p:nvPr/>
        </p:nvSpPr>
        <p:spPr>
          <a:xfrm>
            <a:off x="4114800" y="3291840"/>
            <a:ext cx="914400" cy="45720"/>
          </a:xfrm>
          <a:prstGeom prst="rect">
            <a:avLst/>
          </a:prstGeom>
          <a:solidFill>
            <a:srgbClr val="5EEA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42"/>
          <p:cNvSpPr/>
          <p:nvPr/>
        </p:nvSpPr>
        <p:spPr>
          <a:xfrm>
            <a:off x="0" y="3566160"/>
            <a:ext cx="9144000" cy="7315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Based on the Agent Factory Thesis</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agentfactory.panaversity.org</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